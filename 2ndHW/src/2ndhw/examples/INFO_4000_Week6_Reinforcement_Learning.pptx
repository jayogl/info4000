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7" r:id="rId2"/>
    <p:sldId id="1584" r:id="rId3"/>
    <p:sldId id="1593" r:id="rId4"/>
    <p:sldId id="1602" r:id="rId5"/>
    <p:sldId id="1606" r:id="rId6"/>
    <p:sldId id="1732" r:id="rId7"/>
    <p:sldId id="1774" r:id="rId8"/>
    <p:sldId id="1731" r:id="rId9"/>
    <p:sldId id="1684" r:id="rId10"/>
    <p:sldId id="1609" r:id="rId11"/>
    <p:sldId id="1676" r:id="rId12"/>
    <p:sldId id="1727" r:id="rId13"/>
    <p:sldId id="1616" r:id="rId14"/>
    <p:sldId id="1678" r:id="rId15"/>
    <p:sldId id="1614" r:id="rId16"/>
    <p:sldId id="1675" r:id="rId17"/>
    <p:sldId id="1617" r:id="rId18"/>
    <p:sldId id="1618" r:id="rId19"/>
    <p:sldId id="1722" r:id="rId20"/>
    <p:sldId id="1619" r:id="rId21"/>
    <p:sldId id="1723" r:id="rId22"/>
    <p:sldId id="1680" r:id="rId23"/>
    <p:sldId id="1679" r:id="rId24"/>
    <p:sldId id="1761" r:id="rId25"/>
    <p:sldId id="1725" r:id="rId26"/>
    <p:sldId id="1682" r:id="rId27"/>
    <p:sldId id="1724" r:id="rId28"/>
    <p:sldId id="1760" r:id="rId29"/>
    <p:sldId id="1538" r:id="rId30"/>
    <p:sldId id="1762" r:id="rId31"/>
    <p:sldId id="1763" r:id="rId32"/>
    <p:sldId id="1764" r:id="rId33"/>
    <p:sldId id="1765" r:id="rId34"/>
    <p:sldId id="1766" r:id="rId35"/>
    <p:sldId id="1768" r:id="rId36"/>
    <p:sldId id="1769" r:id="rId37"/>
    <p:sldId id="1736" r:id="rId38"/>
    <p:sldId id="1770" r:id="rId39"/>
    <p:sldId id="1739" r:id="rId40"/>
    <p:sldId id="1737" r:id="rId41"/>
    <p:sldId id="1738" r:id="rId42"/>
    <p:sldId id="258" r:id="rId43"/>
    <p:sldId id="259" r:id="rId44"/>
    <p:sldId id="260" r:id="rId45"/>
    <p:sldId id="264" r:id="rId46"/>
    <p:sldId id="1771" r:id="rId47"/>
    <p:sldId id="1740" r:id="rId48"/>
    <p:sldId id="1772" r:id="rId49"/>
    <p:sldId id="1742" r:id="rId50"/>
    <p:sldId id="1741" r:id="rId51"/>
    <p:sldId id="1743" r:id="rId52"/>
    <p:sldId id="1744" r:id="rId53"/>
    <p:sldId id="1773" r:id="rId54"/>
    <p:sldId id="1729" r:id="rId55"/>
    <p:sldId id="1730" r:id="rId56"/>
    <p:sldId id="1733" r:id="rId57"/>
    <p:sldId id="1734" r:id="rId58"/>
    <p:sldId id="1672" r:id="rId59"/>
    <p:sldId id="1775" r:id="rId60"/>
    <p:sldId id="1776" r:id="rId61"/>
    <p:sldId id="1754" r:id="rId62"/>
    <p:sldId id="1777" r:id="rId63"/>
    <p:sldId id="1700" r:id="rId64"/>
    <p:sldId id="1705" r:id="rId65"/>
    <p:sldId id="1702" r:id="rId66"/>
    <p:sldId id="1716" r:id="rId67"/>
    <p:sldId id="1719" r:id="rId68"/>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1721"/>
    <a:srgbClr val="877B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0AEAF1-82F1-904C-8883-A8237C019082}" v="29" dt="2026-09-24T15:33:44.8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E7F5"/>
          </a:solidFill>
        </a:fill>
      </a:tcStyle>
    </a:wholeTbl>
    <a:band2H>
      <a:tcTxStyle/>
      <a:tcStyle>
        <a:tcBdr/>
        <a:fill>
          <a:solidFill>
            <a:srgbClr val="E9F3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3E7D0"/>
          </a:solidFill>
        </a:fill>
      </a:tcStyle>
    </a:wholeTbl>
    <a:band2H>
      <a:tcTxStyle/>
      <a:tcStyle>
        <a:tcBdr/>
        <a:fill>
          <a:solidFill>
            <a:srgbClr val="F1F4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AED"/>
          </a:solidFill>
        </a:fill>
      </a:tcStyle>
    </a:wholeTbl>
    <a:band2H>
      <a:tcTxStyle/>
      <a:tcStyle>
        <a:tcBdr/>
        <a:fill>
          <a:solidFill>
            <a:srgbClr val="ECEDF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484"/>
    <p:restoredTop sz="94733"/>
  </p:normalViewPr>
  <p:slideViewPr>
    <p:cSldViewPr snapToGrid="0">
      <p:cViewPr varScale="1">
        <p:scale>
          <a:sx n="93" d="100"/>
          <a:sy n="93" d="100"/>
        </p:scale>
        <p:origin x="248"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griva J Rao" userId="0f7fae44-ee1f-4e18-b5fd-a08837ff56b8" providerId="ADAL" clId="{23A681B4-C806-5C8F-9A04-F49544541559}"/>
    <pc:docChg chg="undo custSel addSld delSld modSld sldOrd">
      <pc:chgData name="Haygriva J Rao" userId="0f7fae44-ee1f-4e18-b5fd-a08837ff56b8" providerId="ADAL" clId="{23A681B4-C806-5C8F-9A04-F49544541559}" dt="2026-09-24T15:34:54.157" v="205" actId="2696"/>
      <pc:docMkLst>
        <pc:docMk/>
      </pc:docMkLst>
      <pc:sldChg chg="modSp mod">
        <pc:chgData name="Haygriva J Rao" userId="0f7fae44-ee1f-4e18-b5fd-a08837ff56b8" providerId="ADAL" clId="{23A681B4-C806-5C8F-9A04-F49544541559}" dt="2026-09-24T12:54:14.634" v="148" actId="14100"/>
        <pc:sldMkLst>
          <pc:docMk/>
          <pc:sldMk cId="0" sldId="260"/>
        </pc:sldMkLst>
        <pc:spChg chg="mod">
          <ac:chgData name="Haygriva J Rao" userId="0f7fae44-ee1f-4e18-b5fd-a08837ff56b8" providerId="ADAL" clId="{23A681B4-C806-5C8F-9A04-F49544541559}" dt="2026-09-24T12:54:14.634" v="148" actId="14100"/>
          <ac:spMkLst>
            <pc:docMk/>
            <pc:sldMk cId="0" sldId="260"/>
            <ac:spMk id="5" creationId="{4CFC25AF-0A78-DF10-7C89-DA1A6D412718}"/>
          </ac:spMkLst>
        </pc:spChg>
      </pc:sldChg>
      <pc:sldChg chg="modSp mod">
        <pc:chgData name="Haygriva J Rao" userId="0f7fae44-ee1f-4e18-b5fd-a08837ff56b8" providerId="ADAL" clId="{23A681B4-C806-5C8F-9A04-F49544541559}" dt="2026-09-24T15:15:55.673" v="160" actId="20577"/>
        <pc:sldMkLst>
          <pc:docMk/>
          <pc:sldMk cId="1661176471" sldId="1538"/>
        </pc:sldMkLst>
        <pc:spChg chg="mod">
          <ac:chgData name="Haygriva J Rao" userId="0f7fae44-ee1f-4e18-b5fd-a08837ff56b8" providerId="ADAL" clId="{23A681B4-C806-5C8F-9A04-F49544541559}" dt="2026-09-24T15:15:55.673" v="160" actId="20577"/>
          <ac:spMkLst>
            <pc:docMk/>
            <pc:sldMk cId="1661176471" sldId="1538"/>
            <ac:spMk id="2" creationId="{00000000-0000-0000-0000-000000000000}"/>
          </ac:spMkLst>
        </pc:spChg>
      </pc:sldChg>
      <pc:sldChg chg="add">
        <pc:chgData name="Haygriva J Rao" userId="0f7fae44-ee1f-4e18-b5fd-a08837ff56b8" providerId="ADAL" clId="{23A681B4-C806-5C8F-9A04-F49544541559}" dt="2026-09-24T15:33:44.878" v="204"/>
        <pc:sldMkLst>
          <pc:docMk/>
          <pc:sldMk cId="2197155685" sldId="1672"/>
        </pc:sldMkLst>
      </pc:sldChg>
      <pc:sldChg chg="add del">
        <pc:chgData name="Haygriva J Rao" userId="0f7fae44-ee1f-4e18-b5fd-a08837ff56b8" providerId="ADAL" clId="{23A681B4-C806-5C8F-9A04-F49544541559}" dt="2026-09-21T20:59:12.975" v="3" actId="2696"/>
        <pc:sldMkLst>
          <pc:docMk/>
          <pc:sldMk cId="4219571596" sldId="1678"/>
        </pc:sldMkLst>
      </pc:sldChg>
      <pc:sldChg chg="add">
        <pc:chgData name="Haygriva J Rao" userId="0f7fae44-ee1f-4e18-b5fd-a08837ff56b8" providerId="ADAL" clId="{23A681B4-C806-5C8F-9A04-F49544541559}" dt="2026-09-24T15:33:44.878" v="204"/>
        <pc:sldMkLst>
          <pc:docMk/>
          <pc:sldMk cId="2982793170" sldId="1700"/>
        </pc:sldMkLst>
      </pc:sldChg>
      <pc:sldChg chg="add del">
        <pc:chgData name="Haygriva J Rao" userId="0f7fae44-ee1f-4e18-b5fd-a08837ff56b8" providerId="ADAL" clId="{23A681B4-C806-5C8F-9A04-F49544541559}" dt="2026-09-24T15:34:54.157" v="205" actId="2696"/>
        <pc:sldMkLst>
          <pc:docMk/>
          <pc:sldMk cId="3674294106" sldId="1701"/>
        </pc:sldMkLst>
      </pc:sldChg>
      <pc:sldChg chg="add">
        <pc:chgData name="Haygriva J Rao" userId="0f7fae44-ee1f-4e18-b5fd-a08837ff56b8" providerId="ADAL" clId="{23A681B4-C806-5C8F-9A04-F49544541559}" dt="2026-09-24T15:33:44.878" v="204"/>
        <pc:sldMkLst>
          <pc:docMk/>
          <pc:sldMk cId="4273844574" sldId="1702"/>
        </pc:sldMkLst>
      </pc:sldChg>
      <pc:sldChg chg="add">
        <pc:chgData name="Haygriva J Rao" userId="0f7fae44-ee1f-4e18-b5fd-a08837ff56b8" providerId="ADAL" clId="{23A681B4-C806-5C8F-9A04-F49544541559}" dt="2026-09-24T15:33:44.878" v="204"/>
        <pc:sldMkLst>
          <pc:docMk/>
          <pc:sldMk cId="3540076406" sldId="1705"/>
        </pc:sldMkLst>
      </pc:sldChg>
      <pc:sldChg chg="add">
        <pc:chgData name="Haygriva J Rao" userId="0f7fae44-ee1f-4e18-b5fd-a08837ff56b8" providerId="ADAL" clId="{23A681B4-C806-5C8F-9A04-F49544541559}" dt="2026-09-24T15:33:44.878" v="204"/>
        <pc:sldMkLst>
          <pc:docMk/>
          <pc:sldMk cId="1475151496" sldId="1716"/>
        </pc:sldMkLst>
      </pc:sldChg>
      <pc:sldChg chg="ord">
        <pc:chgData name="Haygriva J Rao" userId="0f7fae44-ee1f-4e18-b5fd-a08837ff56b8" providerId="ADAL" clId="{23A681B4-C806-5C8F-9A04-F49544541559}" dt="2026-09-24T15:29:27.432" v="203" actId="20578"/>
        <pc:sldMkLst>
          <pc:docMk/>
          <pc:sldMk cId="2392246150" sldId="1729"/>
        </pc:sldMkLst>
      </pc:sldChg>
      <pc:sldChg chg="ord">
        <pc:chgData name="Haygriva J Rao" userId="0f7fae44-ee1f-4e18-b5fd-a08837ff56b8" providerId="ADAL" clId="{23A681B4-C806-5C8F-9A04-F49544541559}" dt="2026-09-24T15:29:27.432" v="203" actId="20578"/>
        <pc:sldMkLst>
          <pc:docMk/>
          <pc:sldMk cId="3970264381" sldId="1730"/>
        </pc:sldMkLst>
      </pc:sldChg>
      <pc:sldChg chg="modSp mod">
        <pc:chgData name="Haygriva J Rao" userId="0f7fae44-ee1f-4e18-b5fd-a08837ff56b8" providerId="ADAL" clId="{23A681B4-C806-5C8F-9A04-F49544541559}" dt="2026-09-21T20:59:14.243" v="5" actId="14100"/>
        <pc:sldMkLst>
          <pc:docMk/>
          <pc:sldMk cId="1357499270" sldId="1732"/>
        </pc:sldMkLst>
        <pc:picChg chg="mod">
          <ac:chgData name="Haygriva J Rao" userId="0f7fae44-ee1f-4e18-b5fd-a08837ff56b8" providerId="ADAL" clId="{23A681B4-C806-5C8F-9A04-F49544541559}" dt="2026-09-21T20:59:14.243" v="5" actId="14100"/>
          <ac:picMkLst>
            <pc:docMk/>
            <pc:sldMk cId="1357499270" sldId="1732"/>
            <ac:picMk id="2" creationId="{5307F083-81F3-5176-861C-A5B0FE496F50}"/>
          </ac:picMkLst>
        </pc:picChg>
      </pc:sldChg>
      <pc:sldChg chg="modSp mod ord modAnim">
        <pc:chgData name="Haygriva J Rao" userId="0f7fae44-ee1f-4e18-b5fd-a08837ff56b8" providerId="ADAL" clId="{23A681B4-C806-5C8F-9A04-F49544541559}" dt="2026-09-24T15:29:27.432" v="203" actId="20578"/>
        <pc:sldMkLst>
          <pc:docMk/>
          <pc:sldMk cId="3221490932" sldId="1733"/>
        </pc:sldMkLst>
        <pc:spChg chg="mod">
          <ac:chgData name="Haygriva J Rao" userId="0f7fae44-ee1f-4e18-b5fd-a08837ff56b8" providerId="ADAL" clId="{23A681B4-C806-5C8F-9A04-F49544541559}" dt="2026-09-24T15:22:11.674" v="184" actId="20577"/>
          <ac:spMkLst>
            <pc:docMk/>
            <pc:sldMk cId="3221490932" sldId="1733"/>
            <ac:spMk id="5" creationId="{E2E996EE-879C-7E47-37BC-D739B0F01A34}"/>
          </ac:spMkLst>
        </pc:spChg>
      </pc:sldChg>
      <pc:sldChg chg="modSp mod ord">
        <pc:chgData name="Haygriva J Rao" userId="0f7fae44-ee1f-4e18-b5fd-a08837ff56b8" providerId="ADAL" clId="{23A681B4-C806-5C8F-9A04-F49544541559}" dt="2026-09-24T15:29:27.432" v="203" actId="20578"/>
        <pc:sldMkLst>
          <pc:docMk/>
          <pc:sldMk cId="1908209427" sldId="1734"/>
        </pc:sldMkLst>
        <pc:spChg chg="mod">
          <ac:chgData name="Haygriva J Rao" userId="0f7fae44-ee1f-4e18-b5fd-a08837ff56b8" providerId="ADAL" clId="{23A681B4-C806-5C8F-9A04-F49544541559}" dt="2026-09-24T15:26:34.896" v="202" actId="20577"/>
          <ac:spMkLst>
            <pc:docMk/>
            <pc:sldMk cId="1908209427" sldId="1734"/>
            <ac:spMk id="5" creationId="{38EA9D60-AD45-01D1-12F0-C922A1224FD8}"/>
          </ac:spMkLst>
        </pc:spChg>
      </pc:sldChg>
      <pc:sldChg chg="add">
        <pc:chgData name="Haygriva J Rao" userId="0f7fae44-ee1f-4e18-b5fd-a08837ff56b8" providerId="ADAL" clId="{23A681B4-C806-5C8F-9A04-F49544541559}" dt="2026-09-24T15:33:44.878" v="204"/>
        <pc:sldMkLst>
          <pc:docMk/>
          <pc:sldMk cId="2954087421" sldId="1754"/>
        </pc:sldMkLst>
      </pc:sldChg>
      <pc:sldChg chg="modSp mod">
        <pc:chgData name="Haygriva J Rao" userId="0f7fae44-ee1f-4e18-b5fd-a08837ff56b8" providerId="ADAL" clId="{23A681B4-C806-5C8F-9A04-F49544541559}" dt="2026-09-23T19:18:45.155" v="8" actId="20577"/>
        <pc:sldMkLst>
          <pc:docMk/>
          <pc:sldMk cId="713695435" sldId="1774"/>
        </pc:sldMkLst>
        <pc:spChg chg="mod">
          <ac:chgData name="Haygriva J Rao" userId="0f7fae44-ee1f-4e18-b5fd-a08837ff56b8" providerId="ADAL" clId="{23A681B4-C806-5C8F-9A04-F49544541559}" dt="2026-09-23T19:18:45.155" v="8" actId="20577"/>
          <ac:spMkLst>
            <pc:docMk/>
            <pc:sldMk cId="713695435" sldId="1774"/>
            <ac:spMk id="13" creationId="{044A2B03-9A52-27C2-B0BF-A8A4BAB95995}"/>
          </ac:spMkLst>
        </pc:spChg>
      </pc:sldChg>
      <pc:sldChg chg="add">
        <pc:chgData name="Haygriva J Rao" userId="0f7fae44-ee1f-4e18-b5fd-a08837ff56b8" providerId="ADAL" clId="{23A681B4-C806-5C8F-9A04-F49544541559}" dt="2026-09-24T15:33:44.878" v="204"/>
        <pc:sldMkLst>
          <pc:docMk/>
          <pc:sldMk cId="996198618" sldId="1775"/>
        </pc:sldMkLst>
      </pc:sldChg>
      <pc:sldChg chg="add">
        <pc:chgData name="Haygriva J Rao" userId="0f7fae44-ee1f-4e18-b5fd-a08837ff56b8" providerId="ADAL" clId="{23A681B4-C806-5C8F-9A04-F49544541559}" dt="2026-09-24T15:33:44.878" v="204"/>
        <pc:sldMkLst>
          <pc:docMk/>
          <pc:sldMk cId="3009331487" sldId="1776"/>
        </pc:sldMkLst>
      </pc:sldChg>
      <pc:sldChg chg="add">
        <pc:chgData name="Haygriva J Rao" userId="0f7fae44-ee1f-4e18-b5fd-a08837ff56b8" providerId="ADAL" clId="{23A681B4-C806-5C8F-9A04-F49544541559}" dt="2026-09-24T15:33:44.878" v="204"/>
        <pc:sldMkLst>
          <pc:docMk/>
          <pc:sldMk cId="2817953590" sldId="1777"/>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s>
</file>

<file path=ppt/diagrams/_rels/data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_rels/data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0.sv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image" Target="../media/image20.sv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A3BAE1-6522-41D7-8BF2-2D9FF738D845}"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F4AB3703-34E4-4105-A930-424D0338B972}">
      <dgm:prSet/>
      <dgm:spPr/>
      <dgm:t>
        <a:bodyPr/>
        <a:lstStyle/>
        <a:p>
          <a:pPr>
            <a:lnSpc>
              <a:spcPct val="100000"/>
            </a:lnSpc>
          </a:pPr>
          <a:r>
            <a:rPr lang="en-US" dirty="0"/>
            <a:t>Stable Baselines is a popular Python library that provides implementations of various Reinforcement Learning (RL) algorithms</a:t>
          </a:r>
        </a:p>
      </dgm:t>
    </dgm:pt>
    <dgm:pt modelId="{92C3C4D6-51FB-47BC-96B0-9E3F8F31C89A}" type="parTrans" cxnId="{23E6115F-9998-46F9-A407-0CC11C538840}">
      <dgm:prSet/>
      <dgm:spPr/>
      <dgm:t>
        <a:bodyPr/>
        <a:lstStyle/>
        <a:p>
          <a:endParaRPr lang="en-US"/>
        </a:p>
      </dgm:t>
    </dgm:pt>
    <dgm:pt modelId="{AE15BE32-C6C1-48B1-8926-CF0580A6E3E1}" type="sibTrans" cxnId="{23E6115F-9998-46F9-A407-0CC11C538840}">
      <dgm:prSet/>
      <dgm:spPr/>
      <dgm:t>
        <a:bodyPr/>
        <a:lstStyle/>
        <a:p>
          <a:endParaRPr lang="en-US"/>
        </a:p>
      </dgm:t>
    </dgm:pt>
    <dgm:pt modelId="{49B948B7-DCC5-4386-B07A-CFFD3E7C04A1}">
      <dgm:prSet/>
      <dgm:spPr/>
      <dgm:t>
        <a:bodyPr/>
        <a:lstStyle/>
        <a:p>
          <a:pPr>
            <a:lnSpc>
              <a:spcPct val="100000"/>
            </a:lnSpc>
          </a:pPr>
          <a:r>
            <a:rPr lang="en-US" b="1" u="none" dirty="0"/>
            <a:t>State-of-the-art implementations.</a:t>
          </a:r>
          <a:r>
            <a:rPr lang="en-US" dirty="0"/>
            <a:t> Offers clean, highly optimized versions of major Reinforcement Learning algorithms like PPO, A2C, SAC, and TD3.</a:t>
          </a:r>
        </a:p>
      </dgm:t>
    </dgm:pt>
    <dgm:pt modelId="{B424A28C-1F55-4C07-9348-0E751CC15F7F}" type="parTrans" cxnId="{9B03FB09-9C4F-4A05-832E-55DD9B56D78C}">
      <dgm:prSet/>
      <dgm:spPr/>
      <dgm:t>
        <a:bodyPr/>
        <a:lstStyle/>
        <a:p>
          <a:endParaRPr lang="en-US"/>
        </a:p>
      </dgm:t>
    </dgm:pt>
    <dgm:pt modelId="{51E98780-21BC-4666-9626-8108F65936E0}" type="sibTrans" cxnId="{9B03FB09-9C4F-4A05-832E-55DD9B56D78C}">
      <dgm:prSet/>
      <dgm:spPr/>
      <dgm:t>
        <a:bodyPr/>
        <a:lstStyle/>
        <a:p>
          <a:endParaRPr lang="en-US"/>
        </a:p>
      </dgm:t>
    </dgm:pt>
    <dgm:pt modelId="{D8FEF25C-FA3D-463A-8288-EE43BA843989}">
      <dgm:prSet/>
      <dgm:spPr/>
      <dgm:t>
        <a:bodyPr/>
        <a:lstStyle/>
        <a:p>
          <a:pPr>
            <a:lnSpc>
              <a:spcPct val="100000"/>
            </a:lnSpc>
          </a:pPr>
          <a:r>
            <a:rPr lang="en-US" b="1" u="none" dirty="0"/>
            <a:t>Consistent performance.</a:t>
          </a:r>
          <a:r>
            <a:rPr lang="en-US" b="0" u="none" dirty="0"/>
            <a:t> Built to replace older, fragmented codebases with reliable, benchmarked baselines that researchers and developers can trust.</a:t>
          </a:r>
          <a:endParaRPr lang="en-US" dirty="0"/>
        </a:p>
      </dgm:t>
    </dgm:pt>
    <dgm:pt modelId="{E06B29A8-7125-4EAA-B295-887D24649EA1}" type="parTrans" cxnId="{6642BE8E-2F63-4457-BDD5-BDC46CE26A22}">
      <dgm:prSet/>
      <dgm:spPr/>
      <dgm:t>
        <a:bodyPr/>
        <a:lstStyle/>
        <a:p>
          <a:endParaRPr lang="en-US"/>
        </a:p>
      </dgm:t>
    </dgm:pt>
    <dgm:pt modelId="{EF0FC923-195A-4DCE-8744-85D3CA1FF309}" type="sibTrans" cxnId="{6642BE8E-2F63-4457-BDD5-BDC46CE26A22}">
      <dgm:prSet/>
      <dgm:spPr/>
      <dgm:t>
        <a:bodyPr/>
        <a:lstStyle/>
        <a:p>
          <a:endParaRPr lang="en-US"/>
        </a:p>
      </dgm:t>
    </dgm:pt>
    <dgm:pt modelId="{B9223866-FA6C-408F-BE24-FE3AA33B4B9A}" type="pres">
      <dgm:prSet presAssocID="{21A3BAE1-6522-41D7-8BF2-2D9FF738D845}" presName="root" presStyleCnt="0">
        <dgm:presLayoutVars>
          <dgm:dir/>
          <dgm:resizeHandles val="exact"/>
        </dgm:presLayoutVars>
      </dgm:prSet>
      <dgm:spPr/>
    </dgm:pt>
    <dgm:pt modelId="{2C7B1784-513C-4A61-A8D2-2E9304BBC015}" type="pres">
      <dgm:prSet presAssocID="{F4AB3703-34E4-4105-A930-424D0338B972}" presName="compNode" presStyleCnt="0"/>
      <dgm:spPr/>
    </dgm:pt>
    <dgm:pt modelId="{59852A85-A54D-4685-94FB-C299D01A1063}" type="pres">
      <dgm:prSet presAssocID="{F4AB3703-34E4-4105-A930-424D0338B972}" presName="bgRect" presStyleLbl="bgShp" presStyleIdx="0" presStyleCnt="3"/>
      <dgm:spPr/>
    </dgm:pt>
    <dgm:pt modelId="{04ACB6DC-4C1E-435C-8945-8624D85A17C9}" type="pres">
      <dgm:prSet presAssocID="{F4AB3703-34E4-4105-A930-424D0338B97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grammer"/>
        </a:ext>
      </dgm:extLst>
    </dgm:pt>
    <dgm:pt modelId="{4F5E6FBB-2F48-42C9-B721-D1B2AB603658}" type="pres">
      <dgm:prSet presAssocID="{F4AB3703-34E4-4105-A930-424D0338B972}" presName="spaceRect" presStyleCnt="0"/>
      <dgm:spPr/>
    </dgm:pt>
    <dgm:pt modelId="{632E6196-5548-47ED-9D44-412325380BFA}" type="pres">
      <dgm:prSet presAssocID="{F4AB3703-34E4-4105-A930-424D0338B972}" presName="parTx" presStyleLbl="revTx" presStyleIdx="0" presStyleCnt="3">
        <dgm:presLayoutVars>
          <dgm:chMax val="0"/>
          <dgm:chPref val="0"/>
        </dgm:presLayoutVars>
      </dgm:prSet>
      <dgm:spPr/>
    </dgm:pt>
    <dgm:pt modelId="{1D159AA8-2FF7-41DC-BC95-38A382FE462E}" type="pres">
      <dgm:prSet presAssocID="{AE15BE32-C6C1-48B1-8926-CF0580A6E3E1}" presName="sibTrans" presStyleCnt="0"/>
      <dgm:spPr/>
    </dgm:pt>
    <dgm:pt modelId="{462DBD50-EE95-4E8A-B252-100309918BEB}" type="pres">
      <dgm:prSet presAssocID="{49B948B7-DCC5-4386-B07A-CFFD3E7C04A1}" presName="compNode" presStyleCnt="0"/>
      <dgm:spPr/>
    </dgm:pt>
    <dgm:pt modelId="{94CA0A64-1F92-4BDE-B46A-EFBA538B4A6B}" type="pres">
      <dgm:prSet presAssocID="{49B948B7-DCC5-4386-B07A-CFFD3E7C04A1}" presName="bgRect" presStyleLbl="bgShp" presStyleIdx="1" presStyleCnt="3"/>
      <dgm:spPr/>
    </dgm:pt>
    <dgm:pt modelId="{E777C3A1-6323-482F-BFBA-07417AAFE716}" type="pres">
      <dgm:prSet presAssocID="{49B948B7-DCC5-4386-B07A-CFFD3E7C04A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rk and knife"/>
        </a:ext>
      </dgm:extLst>
    </dgm:pt>
    <dgm:pt modelId="{DA960B25-BE1D-4FCF-BBD0-2E9DD713AC42}" type="pres">
      <dgm:prSet presAssocID="{49B948B7-DCC5-4386-B07A-CFFD3E7C04A1}" presName="spaceRect" presStyleCnt="0"/>
      <dgm:spPr/>
    </dgm:pt>
    <dgm:pt modelId="{46238738-25FA-4686-8ACE-D5C41E50BE42}" type="pres">
      <dgm:prSet presAssocID="{49B948B7-DCC5-4386-B07A-CFFD3E7C04A1}" presName="parTx" presStyleLbl="revTx" presStyleIdx="1" presStyleCnt="3">
        <dgm:presLayoutVars>
          <dgm:chMax val="0"/>
          <dgm:chPref val="0"/>
        </dgm:presLayoutVars>
      </dgm:prSet>
      <dgm:spPr/>
    </dgm:pt>
    <dgm:pt modelId="{767A1BFC-FA01-4D55-A427-03BFCB8520FB}" type="pres">
      <dgm:prSet presAssocID="{51E98780-21BC-4666-9626-8108F65936E0}" presName="sibTrans" presStyleCnt="0"/>
      <dgm:spPr/>
    </dgm:pt>
    <dgm:pt modelId="{4713478A-B3F1-4CBD-A289-5145F1034E5D}" type="pres">
      <dgm:prSet presAssocID="{D8FEF25C-FA3D-463A-8288-EE43BA843989}" presName="compNode" presStyleCnt="0"/>
      <dgm:spPr/>
    </dgm:pt>
    <dgm:pt modelId="{DBE1A04D-0119-4ACA-9DFB-E068FD03C943}" type="pres">
      <dgm:prSet presAssocID="{D8FEF25C-FA3D-463A-8288-EE43BA843989}" presName="bgRect" presStyleLbl="bgShp" presStyleIdx="2" presStyleCnt="3"/>
      <dgm:spPr/>
    </dgm:pt>
    <dgm:pt modelId="{4D931C92-DCCC-4B34-B6F0-4203F4522B87}" type="pres">
      <dgm:prSet presAssocID="{D8FEF25C-FA3D-463A-8288-EE43BA84398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6446242C-9D03-4124-BD0E-55B76A546FD9}" type="pres">
      <dgm:prSet presAssocID="{D8FEF25C-FA3D-463A-8288-EE43BA843989}" presName="spaceRect" presStyleCnt="0"/>
      <dgm:spPr/>
    </dgm:pt>
    <dgm:pt modelId="{74EE4A97-25AF-4169-BE5A-15BBEB07C13B}" type="pres">
      <dgm:prSet presAssocID="{D8FEF25C-FA3D-463A-8288-EE43BA843989}" presName="parTx" presStyleLbl="revTx" presStyleIdx="2" presStyleCnt="3">
        <dgm:presLayoutVars>
          <dgm:chMax val="0"/>
          <dgm:chPref val="0"/>
        </dgm:presLayoutVars>
      </dgm:prSet>
      <dgm:spPr/>
    </dgm:pt>
  </dgm:ptLst>
  <dgm:cxnLst>
    <dgm:cxn modelId="{9B03FB09-9C4F-4A05-832E-55DD9B56D78C}" srcId="{21A3BAE1-6522-41D7-8BF2-2D9FF738D845}" destId="{49B948B7-DCC5-4386-B07A-CFFD3E7C04A1}" srcOrd="1" destOrd="0" parTransId="{B424A28C-1F55-4C07-9348-0E751CC15F7F}" sibTransId="{51E98780-21BC-4666-9626-8108F65936E0}"/>
    <dgm:cxn modelId="{36A3231D-A4DF-414B-A56D-F599E1D16FF5}" type="presOf" srcId="{F4AB3703-34E4-4105-A930-424D0338B972}" destId="{632E6196-5548-47ED-9D44-412325380BFA}" srcOrd="0" destOrd="0" presId="urn:microsoft.com/office/officeart/2018/2/layout/IconVerticalSolidList"/>
    <dgm:cxn modelId="{958B0725-16D8-4E1D-802C-07443F1E02BD}" type="presOf" srcId="{21A3BAE1-6522-41D7-8BF2-2D9FF738D845}" destId="{B9223866-FA6C-408F-BE24-FE3AA33B4B9A}" srcOrd="0" destOrd="0" presId="urn:microsoft.com/office/officeart/2018/2/layout/IconVerticalSolidList"/>
    <dgm:cxn modelId="{E8DFE742-E54B-4C3E-8E82-0F74C56535A0}" type="presOf" srcId="{49B948B7-DCC5-4386-B07A-CFFD3E7C04A1}" destId="{46238738-25FA-4686-8ACE-D5C41E50BE42}" srcOrd="0" destOrd="0" presId="urn:microsoft.com/office/officeart/2018/2/layout/IconVerticalSolidList"/>
    <dgm:cxn modelId="{23E6115F-9998-46F9-A407-0CC11C538840}" srcId="{21A3BAE1-6522-41D7-8BF2-2D9FF738D845}" destId="{F4AB3703-34E4-4105-A930-424D0338B972}" srcOrd="0" destOrd="0" parTransId="{92C3C4D6-51FB-47BC-96B0-9E3F8F31C89A}" sibTransId="{AE15BE32-C6C1-48B1-8926-CF0580A6E3E1}"/>
    <dgm:cxn modelId="{6642BE8E-2F63-4457-BDD5-BDC46CE26A22}" srcId="{21A3BAE1-6522-41D7-8BF2-2D9FF738D845}" destId="{D8FEF25C-FA3D-463A-8288-EE43BA843989}" srcOrd="2" destOrd="0" parTransId="{E06B29A8-7125-4EAA-B295-887D24649EA1}" sibTransId="{EF0FC923-195A-4DCE-8744-85D3CA1FF309}"/>
    <dgm:cxn modelId="{9BB9959A-2C8F-4625-ACC8-B58F2358E93A}" type="presOf" srcId="{D8FEF25C-FA3D-463A-8288-EE43BA843989}" destId="{74EE4A97-25AF-4169-BE5A-15BBEB07C13B}" srcOrd="0" destOrd="0" presId="urn:microsoft.com/office/officeart/2018/2/layout/IconVerticalSolidList"/>
    <dgm:cxn modelId="{E16E45A3-45CB-48AC-95E7-607E8A7E0F9F}" type="presParOf" srcId="{B9223866-FA6C-408F-BE24-FE3AA33B4B9A}" destId="{2C7B1784-513C-4A61-A8D2-2E9304BBC015}" srcOrd="0" destOrd="0" presId="urn:microsoft.com/office/officeart/2018/2/layout/IconVerticalSolidList"/>
    <dgm:cxn modelId="{21616291-0C76-4E77-9D39-A1913FB56754}" type="presParOf" srcId="{2C7B1784-513C-4A61-A8D2-2E9304BBC015}" destId="{59852A85-A54D-4685-94FB-C299D01A1063}" srcOrd="0" destOrd="0" presId="urn:microsoft.com/office/officeart/2018/2/layout/IconVerticalSolidList"/>
    <dgm:cxn modelId="{83287B25-E546-4E07-9986-C18769D93D0F}" type="presParOf" srcId="{2C7B1784-513C-4A61-A8D2-2E9304BBC015}" destId="{04ACB6DC-4C1E-435C-8945-8624D85A17C9}" srcOrd="1" destOrd="0" presId="urn:microsoft.com/office/officeart/2018/2/layout/IconVerticalSolidList"/>
    <dgm:cxn modelId="{8BFA0327-32DE-46BB-95B1-1DDC4AC8A1B5}" type="presParOf" srcId="{2C7B1784-513C-4A61-A8D2-2E9304BBC015}" destId="{4F5E6FBB-2F48-42C9-B721-D1B2AB603658}" srcOrd="2" destOrd="0" presId="urn:microsoft.com/office/officeart/2018/2/layout/IconVerticalSolidList"/>
    <dgm:cxn modelId="{39289900-5EB0-4BD1-8FEB-B130D814B8E7}" type="presParOf" srcId="{2C7B1784-513C-4A61-A8D2-2E9304BBC015}" destId="{632E6196-5548-47ED-9D44-412325380BFA}" srcOrd="3" destOrd="0" presId="urn:microsoft.com/office/officeart/2018/2/layout/IconVerticalSolidList"/>
    <dgm:cxn modelId="{343265D9-FD40-45CB-A1F1-D86479507453}" type="presParOf" srcId="{B9223866-FA6C-408F-BE24-FE3AA33B4B9A}" destId="{1D159AA8-2FF7-41DC-BC95-38A382FE462E}" srcOrd="1" destOrd="0" presId="urn:microsoft.com/office/officeart/2018/2/layout/IconVerticalSolidList"/>
    <dgm:cxn modelId="{70E68457-78FF-4018-A207-A0B7ECE4CB34}" type="presParOf" srcId="{B9223866-FA6C-408F-BE24-FE3AA33B4B9A}" destId="{462DBD50-EE95-4E8A-B252-100309918BEB}" srcOrd="2" destOrd="0" presId="urn:microsoft.com/office/officeart/2018/2/layout/IconVerticalSolidList"/>
    <dgm:cxn modelId="{A4978F38-5A24-4E11-ABDD-DBC2D5FBE387}" type="presParOf" srcId="{462DBD50-EE95-4E8A-B252-100309918BEB}" destId="{94CA0A64-1F92-4BDE-B46A-EFBA538B4A6B}" srcOrd="0" destOrd="0" presId="urn:microsoft.com/office/officeart/2018/2/layout/IconVerticalSolidList"/>
    <dgm:cxn modelId="{5573C77F-9353-4527-926B-9155461111CF}" type="presParOf" srcId="{462DBD50-EE95-4E8A-B252-100309918BEB}" destId="{E777C3A1-6323-482F-BFBA-07417AAFE716}" srcOrd="1" destOrd="0" presId="urn:microsoft.com/office/officeart/2018/2/layout/IconVerticalSolidList"/>
    <dgm:cxn modelId="{20DB0325-179D-4C12-B0CE-ADF1C973413B}" type="presParOf" srcId="{462DBD50-EE95-4E8A-B252-100309918BEB}" destId="{DA960B25-BE1D-4FCF-BBD0-2E9DD713AC42}" srcOrd="2" destOrd="0" presId="urn:microsoft.com/office/officeart/2018/2/layout/IconVerticalSolidList"/>
    <dgm:cxn modelId="{0F3A0FAD-EAA3-45DB-BE78-910DC56A47E8}" type="presParOf" srcId="{462DBD50-EE95-4E8A-B252-100309918BEB}" destId="{46238738-25FA-4686-8ACE-D5C41E50BE42}" srcOrd="3" destOrd="0" presId="urn:microsoft.com/office/officeart/2018/2/layout/IconVerticalSolidList"/>
    <dgm:cxn modelId="{B2D5E609-1B6A-40C6-982F-6FF64EB1177D}" type="presParOf" srcId="{B9223866-FA6C-408F-BE24-FE3AA33B4B9A}" destId="{767A1BFC-FA01-4D55-A427-03BFCB8520FB}" srcOrd="3" destOrd="0" presId="urn:microsoft.com/office/officeart/2018/2/layout/IconVerticalSolidList"/>
    <dgm:cxn modelId="{74C8954E-70F3-42FE-8705-D499259519FC}" type="presParOf" srcId="{B9223866-FA6C-408F-BE24-FE3AA33B4B9A}" destId="{4713478A-B3F1-4CBD-A289-5145F1034E5D}" srcOrd="4" destOrd="0" presId="urn:microsoft.com/office/officeart/2018/2/layout/IconVerticalSolidList"/>
    <dgm:cxn modelId="{38FE3953-E568-43D7-977D-F0780670F613}" type="presParOf" srcId="{4713478A-B3F1-4CBD-A289-5145F1034E5D}" destId="{DBE1A04D-0119-4ACA-9DFB-E068FD03C943}" srcOrd="0" destOrd="0" presId="urn:microsoft.com/office/officeart/2018/2/layout/IconVerticalSolidList"/>
    <dgm:cxn modelId="{53A13C09-F744-400C-A2E2-4F13DD2E1BFC}" type="presParOf" srcId="{4713478A-B3F1-4CBD-A289-5145F1034E5D}" destId="{4D931C92-DCCC-4B34-B6F0-4203F4522B87}" srcOrd="1" destOrd="0" presId="urn:microsoft.com/office/officeart/2018/2/layout/IconVerticalSolidList"/>
    <dgm:cxn modelId="{2C19968B-73DD-4562-8650-E928F01D33DF}" type="presParOf" srcId="{4713478A-B3F1-4CBD-A289-5145F1034E5D}" destId="{6446242C-9D03-4124-BD0E-55B76A546FD9}" srcOrd="2" destOrd="0" presId="urn:microsoft.com/office/officeart/2018/2/layout/IconVerticalSolidList"/>
    <dgm:cxn modelId="{8FA8DDC6-F31F-49E0-974D-19A61B20864C}" type="presParOf" srcId="{4713478A-B3F1-4CBD-A289-5145F1034E5D}" destId="{74EE4A97-25AF-4169-BE5A-15BBEB07C13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74C670-4E38-4962-BC5E-D62213D06386}" type="doc">
      <dgm:prSet loTypeId="urn:microsoft.com/office/officeart/2018/2/layout/IconVerticalSolidList" loCatId="icon" qsTypeId="urn:microsoft.com/office/officeart/2005/8/quickstyle/simple1#2" qsCatId="simple" csTypeId="urn:microsoft.com/office/officeart/2005/8/colors/accent1_2#2" csCatId="accent1" phldr="1"/>
      <dgm:spPr/>
      <dgm:t>
        <a:bodyPr/>
        <a:lstStyle/>
        <a:p>
          <a:endParaRPr lang="en-US"/>
        </a:p>
      </dgm:t>
    </dgm:pt>
    <dgm:pt modelId="{21EFB762-439D-49C2-9B4C-1659023A27F9}">
      <dgm:prSet/>
      <dgm:spPr/>
      <dgm:t>
        <a:bodyPr/>
        <a:lstStyle/>
        <a:p>
          <a:pPr>
            <a:lnSpc>
              <a:spcPct val="100000"/>
            </a:lnSpc>
          </a:pPr>
          <a:r>
            <a:rPr lang="en-US" b="1" u="none" dirty="0"/>
            <a:t>Minimal boilerplate.</a:t>
          </a:r>
          <a:r>
            <a:rPr lang="en-US" dirty="0"/>
            <a:t> Enables training an agent in just a few lines of clean, readable Python code.</a:t>
          </a:r>
        </a:p>
      </dgm:t>
    </dgm:pt>
    <dgm:pt modelId="{B8399E55-F0F0-4DDC-B38D-F968F9705C3F}" type="parTrans" cxnId="{22AE1BEA-5B15-44AC-8C5F-6F565960DE97}">
      <dgm:prSet/>
      <dgm:spPr/>
      <dgm:t>
        <a:bodyPr/>
        <a:lstStyle/>
        <a:p>
          <a:endParaRPr lang="en-US"/>
        </a:p>
      </dgm:t>
    </dgm:pt>
    <dgm:pt modelId="{05035FF8-B134-494F-B231-3DC5C002CE2D}" type="sibTrans" cxnId="{22AE1BEA-5B15-44AC-8C5F-6F565960DE97}">
      <dgm:prSet/>
      <dgm:spPr/>
      <dgm:t>
        <a:bodyPr/>
        <a:lstStyle/>
        <a:p>
          <a:endParaRPr lang="en-US"/>
        </a:p>
      </dgm:t>
    </dgm:pt>
    <dgm:pt modelId="{C5F4B4F2-6572-4059-9B47-5FA6474BD8CB}">
      <dgm:prSet/>
      <dgm:spPr/>
      <dgm:t>
        <a:bodyPr/>
        <a:lstStyle/>
        <a:p>
          <a:pPr>
            <a:lnSpc>
              <a:spcPct val="100000"/>
            </a:lnSpc>
          </a:pPr>
          <a:r>
            <a:rPr lang="en-US" b="1" u="none" dirty="0"/>
            <a:t>Seamless model deployment.</a:t>
          </a:r>
          <a:r>
            <a:rPr lang="en-US" dirty="0"/>
            <a:t> Features simple functions to save, load, and export trained policies to production environments.</a:t>
          </a:r>
        </a:p>
      </dgm:t>
    </dgm:pt>
    <dgm:pt modelId="{80BBEC37-EAD4-4E06-B51B-58AEB92A9A04}" type="parTrans" cxnId="{AA867021-31B9-48F1-85B2-87A184B44D74}">
      <dgm:prSet/>
      <dgm:spPr/>
      <dgm:t>
        <a:bodyPr/>
        <a:lstStyle/>
        <a:p>
          <a:endParaRPr lang="en-US"/>
        </a:p>
      </dgm:t>
    </dgm:pt>
    <dgm:pt modelId="{F165820B-AEE0-4F33-A7CC-B0806047D565}" type="sibTrans" cxnId="{AA867021-31B9-48F1-85B2-87A184B44D74}">
      <dgm:prSet/>
      <dgm:spPr/>
      <dgm:t>
        <a:bodyPr/>
        <a:lstStyle/>
        <a:p>
          <a:endParaRPr lang="en-US"/>
        </a:p>
      </dgm:t>
    </dgm:pt>
    <dgm:pt modelId="{4028D88A-E6CF-46E6-9DD6-D029DC69339F}">
      <dgm:prSet/>
      <dgm:spPr/>
      <dgm:t>
        <a:bodyPr/>
        <a:lstStyle/>
        <a:p>
          <a:pPr>
            <a:lnSpc>
              <a:spcPct val="100000"/>
            </a:lnSpc>
          </a:pPr>
          <a:r>
            <a:rPr lang="en-US" dirty="0"/>
            <a:t>Community Support: Extensive documentation and active community.</a:t>
          </a:r>
        </a:p>
      </dgm:t>
    </dgm:pt>
    <dgm:pt modelId="{22EA075C-0ED6-4B07-951A-2074E607E1AC}" type="parTrans" cxnId="{ED6F037A-8774-4287-9F86-2532FB814231}">
      <dgm:prSet/>
      <dgm:spPr/>
      <dgm:t>
        <a:bodyPr/>
        <a:lstStyle/>
        <a:p>
          <a:endParaRPr lang="en-US"/>
        </a:p>
      </dgm:t>
    </dgm:pt>
    <dgm:pt modelId="{3F5EE095-86F8-4140-BFB1-99CA9B5BC067}" type="sibTrans" cxnId="{ED6F037A-8774-4287-9F86-2532FB814231}">
      <dgm:prSet/>
      <dgm:spPr/>
      <dgm:t>
        <a:bodyPr/>
        <a:lstStyle/>
        <a:p>
          <a:endParaRPr lang="en-US"/>
        </a:p>
      </dgm:t>
    </dgm:pt>
    <dgm:pt modelId="{6C98A845-D417-4E23-9C0E-C75896465453}" type="pres">
      <dgm:prSet presAssocID="{9C74C670-4E38-4962-BC5E-D62213D06386}" presName="root" presStyleCnt="0">
        <dgm:presLayoutVars>
          <dgm:dir/>
          <dgm:resizeHandles val="exact"/>
        </dgm:presLayoutVars>
      </dgm:prSet>
      <dgm:spPr/>
    </dgm:pt>
    <dgm:pt modelId="{5345A3CA-81FD-4AF5-A27D-317280FFA9BA}" type="pres">
      <dgm:prSet presAssocID="{21EFB762-439D-49C2-9B4C-1659023A27F9}" presName="compNode" presStyleCnt="0"/>
      <dgm:spPr/>
    </dgm:pt>
    <dgm:pt modelId="{BD4A6785-2967-4FC9-A0B1-DA4BAF4656A4}" type="pres">
      <dgm:prSet presAssocID="{21EFB762-439D-49C2-9B4C-1659023A27F9}" presName="bgRect" presStyleLbl="bgShp" presStyleIdx="0" presStyleCnt="3"/>
      <dgm:spPr/>
    </dgm:pt>
    <dgm:pt modelId="{F1ED005A-C351-46A8-AFB5-BBCB4C4E4870}" type="pres">
      <dgm:prSet presAssocID="{21EFB762-439D-49C2-9B4C-1659023A27F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Robot"/>
        </a:ext>
      </dgm:extLst>
    </dgm:pt>
    <dgm:pt modelId="{C5087334-1A3F-442F-8F20-2BEF5DD82B8E}" type="pres">
      <dgm:prSet presAssocID="{21EFB762-439D-49C2-9B4C-1659023A27F9}" presName="spaceRect" presStyleCnt="0"/>
      <dgm:spPr/>
    </dgm:pt>
    <dgm:pt modelId="{36E61838-D38E-4D0E-A7AA-BECC40B28242}" type="pres">
      <dgm:prSet presAssocID="{21EFB762-439D-49C2-9B4C-1659023A27F9}" presName="parTx" presStyleLbl="revTx" presStyleIdx="0" presStyleCnt="3">
        <dgm:presLayoutVars>
          <dgm:chMax val="0"/>
          <dgm:chPref val="0"/>
        </dgm:presLayoutVars>
      </dgm:prSet>
      <dgm:spPr/>
    </dgm:pt>
    <dgm:pt modelId="{EE454E4C-A983-4EB1-ADDF-0E341650A1FC}" type="pres">
      <dgm:prSet presAssocID="{05035FF8-B134-494F-B231-3DC5C002CE2D}" presName="sibTrans" presStyleCnt="0"/>
      <dgm:spPr/>
    </dgm:pt>
    <dgm:pt modelId="{8FA56B5C-3570-4C84-AE3F-0E13A1D11082}" type="pres">
      <dgm:prSet presAssocID="{C5F4B4F2-6572-4059-9B47-5FA6474BD8CB}" presName="compNode" presStyleCnt="0"/>
      <dgm:spPr/>
    </dgm:pt>
    <dgm:pt modelId="{042D264C-301A-4697-9B63-2887CE2CB6D5}" type="pres">
      <dgm:prSet presAssocID="{C5F4B4F2-6572-4059-9B47-5FA6474BD8CB}" presName="bgRect" presStyleLbl="bgShp" presStyleIdx="1" presStyleCnt="3" custLinFactNeighborX="31085" custLinFactNeighborY="2526"/>
      <dgm:spPr/>
    </dgm:pt>
    <dgm:pt modelId="{F022A9CA-304F-416F-8118-AB2B26A60D08}" type="pres">
      <dgm:prSet presAssocID="{C5F4B4F2-6572-4059-9B47-5FA6474BD8C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umbbell"/>
        </a:ext>
      </dgm:extLst>
    </dgm:pt>
    <dgm:pt modelId="{508B848B-7374-4ACF-BB81-558D028E973B}" type="pres">
      <dgm:prSet presAssocID="{C5F4B4F2-6572-4059-9B47-5FA6474BD8CB}" presName="spaceRect" presStyleCnt="0"/>
      <dgm:spPr/>
    </dgm:pt>
    <dgm:pt modelId="{F8D8253E-3EF2-4FE1-8DAA-618D5847A5D4}" type="pres">
      <dgm:prSet presAssocID="{C5F4B4F2-6572-4059-9B47-5FA6474BD8CB}" presName="parTx" presStyleLbl="revTx" presStyleIdx="1" presStyleCnt="3">
        <dgm:presLayoutVars>
          <dgm:chMax val="0"/>
          <dgm:chPref val="0"/>
        </dgm:presLayoutVars>
      </dgm:prSet>
      <dgm:spPr/>
    </dgm:pt>
    <dgm:pt modelId="{B0FD5C5B-5203-4F68-84DC-327464929F0D}" type="pres">
      <dgm:prSet presAssocID="{F165820B-AEE0-4F33-A7CC-B0806047D565}" presName="sibTrans" presStyleCnt="0"/>
      <dgm:spPr/>
    </dgm:pt>
    <dgm:pt modelId="{8F70A51F-CD18-4341-9C60-4E9094B78FCC}" type="pres">
      <dgm:prSet presAssocID="{4028D88A-E6CF-46E6-9DD6-D029DC69339F}" presName="compNode" presStyleCnt="0"/>
      <dgm:spPr/>
    </dgm:pt>
    <dgm:pt modelId="{8146A510-EE51-4EB3-99D4-D9C07ECDED4E}" type="pres">
      <dgm:prSet presAssocID="{4028D88A-E6CF-46E6-9DD6-D029DC69339F}" presName="bgRect" presStyleLbl="bgShp" presStyleIdx="2" presStyleCnt="3"/>
      <dgm:spPr/>
    </dgm:pt>
    <dgm:pt modelId="{401E6575-CB21-4FBD-A7D3-9C0BAAAA1585}" type="pres">
      <dgm:prSet presAssocID="{4028D88A-E6CF-46E6-9DD6-D029DC69339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ethoscope"/>
        </a:ext>
      </dgm:extLst>
    </dgm:pt>
    <dgm:pt modelId="{DAC388C7-3A8C-413A-80C1-E942BAB3181A}" type="pres">
      <dgm:prSet presAssocID="{4028D88A-E6CF-46E6-9DD6-D029DC69339F}" presName="spaceRect" presStyleCnt="0"/>
      <dgm:spPr/>
    </dgm:pt>
    <dgm:pt modelId="{C2D98754-CEF8-413B-B2BC-ABA03F269B53}" type="pres">
      <dgm:prSet presAssocID="{4028D88A-E6CF-46E6-9DD6-D029DC69339F}" presName="parTx" presStyleLbl="revTx" presStyleIdx="2" presStyleCnt="3">
        <dgm:presLayoutVars>
          <dgm:chMax val="0"/>
          <dgm:chPref val="0"/>
        </dgm:presLayoutVars>
      </dgm:prSet>
      <dgm:spPr/>
    </dgm:pt>
  </dgm:ptLst>
  <dgm:cxnLst>
    <dgm:cxn modelId="{B6D7B500-0EF2-46BB-BD12-9E163BB04F9B}" type="presOf" srcId="{4028D88A-E6CF-46E6-9DD6-D029DC69339F}" destId="{C2D98754-CEF8-413B-B2BC-ABA03F269B53}" srcOrd="0" destOrd="0" presId="urn:microsoft.com/office/officeart/2018/2/layout/IconVerticalSolidList"/>
    <dgm:cxn modelId="{AA867021-31B9-48F1-85B2-87A184B44D74}" srcId="{9C74C670-4E38-4962-BC5E-D62213D06386}" destId="{C5F4B4F2-6572-4059-9B47-5FA6474BD8CB}" srcOrd="1" destOrd="0" parTransId="{80BBEC37-EAD4-4E06-B51B-58AEB92A9A04}" sibTransId="{F165820B-AEE0-4F33-A7CC-B0806047D565}"/>
    <dgm:cxn modelId="{36529559-59B1-477A-BD9B-E5704D982C67}" type="presOf" srcId="{9C74C670-4E38-4962-BC5E-D62213D06386}" destId="{6C98A845-D417-4E23-9C0E-C75896465453}" srcOrd="0" destOrd="0" presId="urn:microsoft.com/office/officeart/2018/2/layout/IconVerticalSolidList"/>
    <dgm:cxn modelId="{ED6F037A-8774-4287-9F86-2532FB814231}" srcId="{9C74C670-4E38-4962-BC5E-D62213D06386}" destId="{4028D88A-E6CF-46E6-9DD6-D029DC69339F}" srcOrd="2" destOrd="0" parTransId="{22EA075C-0ED6-4B07-951A-2074E607E1AC}" sibTransId="{3F5EE095-86F8-4140-BFB1-99CA9B5BC067}"/>
    <dgm:cxn modelId="{46978DCC-4FDF-4BD7-8A50-02947FF599AC}" type="presOf" srcId="{C5F4B4F2-6572-4059-9B47-5FA6474BD8CB}" destId="{F8D8253E-3EF2-4FE1-8DAA-618D5847A5D4}" srcOrd="0" destOrd="0" presId="urn:microsoft.com/office/officeart/2018/2/layout/IconVerticalSolidList"/>
    <dgm:cxn modelId="{22AE1BEA-5B15-44AC-8C5F-6F565960DE97}" srcId="{9C74C670-4E38-4962-BC5E-D62213D06386}" destId="{21EFB762-439D-49C2-9B4C-1659023A27F9}" srcOrd="0" destOrd="0" parTransId="{B8399E55-F0F0-4DDC-B38D-F968F9705C3F}" sibTransId="{05035FF8-B134-494F-B231-3DC5C002CE2D}"/>
    <dgm:cxn modelId="{503389FC-AB74-456F-8318-2547D36A7B59}" type="presOf" srcId="{21EFB762-439D-49C2-9B4C-1659023A27F9}" destId="{36E61838-D38E-4D0E-A7AA-BECC40B28242}" srcOrd="0" destOrd="0" presId="urn:microsoft.com/office/officeart/2018/2/layout/IconVerticalSolidList"/>
    <dgm:cxn modelId="{8BBA7490-9183-4725-9A52-6059C080E80F}" type="presParOf" srcId="{6C98A845-D417-4E23-9C0E-C75896465453}" destId="{5345A3CA-81FD-4AF5-A27D-317280FFA9BA}" srcOrd="0" destOrd="0" presId="urn:microsoft.com/office/officeart/2018/2/layout/IconVerticalSolidList"/>
    <dgm:cxn modelId="{FE44C9FF-92D1-4263-BA8B-59CB075C1DD3}" type="presParOf" srcId="{5345A3CA-81FD-4AF5-A27D-317280FFA9BA}" destId="{BD4A6785-2967-4FC9-A0B1-DA4BAF4656A4}" srcOrd="0" destOrd="0" presId="urn:microsoft.com/office/officeart/2018/2/layout/IconVerticalSolidList"/>
    <dgm:cxn modelId="{59DB9BD8-850F-4246-9F85-886C05018541}" type="presParOf" srcId="{5345A3CA-81FD-4AF5-A27D-317280FFA9BA}" destId="{F1ED005A-C351-46A8-AFB5-BBCB4C4E4870}" srcOrd="1" destOrd="0" presId="urn:microsoft.com/office/officeart/2018/2/layout/IconVerticalSolidList"/>
    <dgm:cxn modelId="{528616CA-92B8-4A86-8EFC-F9BC1A47494C}" type="presParOf" srcId="{5345A3CA-81FD-4AF5-A27D-317280FFA9BA}" destId="{C5087334-1A3F-442F-8F20-2BEF5DD82B8E}" srcOrd="2" destOrd="0" presId="urn:microsoft.com/office/officeart/2018/2/layout/IconVerticalSolidList"/>
    <dgm:cxn modelId="{1AE1B53A-171F-4546-9A27-C4623E5EE23A}" type="presParOf" srcId="{5345A3CA-81FD-4AF5-A27D-317280FFA9BA}" destId="{36E61838-D38E-4D0E-A7AA-BECC40B28242}" srcOrd="3" destOrd="0" presId="urn:microsoft.com/office/officeart/2018/2/layout/IconVerticalSolidList"/>
    <dgm:cxn modelId="{A58150FA-D7AF-4DC8-A383-15D3820F1D52}" type="presParOf" srcId="{6C98A845-D417-4E23-9C0E-C75896465453}" destId="{EE454E4C-A983-4EB1-ADDF-0E341650A1FC}" srcOrd="1" destOrd="0" presId="urn:microsoft.com/office/officeart/2018/2/layout/IconVerticalSolidList"/>
    <dgm:cxn modelId="{0AA4D377-20BC-449A-A228-40141F5CDA27}" type="presParOf" srcId="{6C98A845-D417-4E23-9C0E-C75896465453}" destId="{8FA56B5C-3570-4C84-AE3F-0E13A1D11082}" srcOrd="2" destOrd="0" presId="urn:microsoft.com/office/officeart/2018/2/layout/IconVerticalSolidList"/>
    <dgm:cxn modelId="{B2204E80-F949-44E0-B3E5-D5130E1A647A}" type="presParOf" srcId="{8FA56B5C-3570-4C84-AE3F-0E13A1D11082}" destId="{042D264C-301A-4697-9B63-2887CE2CB6D5}" srcOrd="0" destOrd="0" presId="urn:microsoft.com/office/officeart/2018/2/layout/IconVerticalSolidList"/>
    <dgm:cxn modelId="{64A6514B-4C7B-401C-8D4E-3636FA94A9E1}" type="presParOf" srcId="{8FA56B5C-3570-4C84-AE3F-0E13A1D11082}" destId="{F022A9CA-304F-416F-8118-AB2B26A60D08}" srcOrd="1" destOrd="0" presId="urn:microsoft.com/office/officeart/2018/2/layout/IconVerticalSolidList"/>
    <dgm:cxn modelId="{7F1F14F6-6890-4484-8974-E68E0724DE25}" type="presParOf" srcId="{8FA56B5C-3570-4C84-AE3F-0E13A1D11082}" destId="{508B848B-7374-4ACF-BB81-558D028E973B}" srcOrd="2" destOrd="0" presId="urn:microsoft.com/office/officeart/2018/2/layout/IconVerticalSolidList"/>
    <dgm:cxn modelId="{C9F4B822-95D8-4C5D-9312-BEA988B46BDB}" type="presParOf" srcId="{8FA56B5C-3570-4C84-AE3F-0E13A1D11082}" destId="{F8D8253E-3EF2-4FE1-8DAA-618D5847A5D4}" srcOrd="3" destOrd="0" presId="urn:microsoft.com/office/officeart/2018/2/layout/IconVerticalSolidList"/>
    <dgm:cxn modelId="{AECE7E60-8667-4F25-B812-BCD156DFC9AD}" type="presParOf" srcId="{6C98A845-D417-4E23-9C0E-C75896465453}" destId="{B0FD5C5B-5203-4F68-84DC-327464929F0D}" srcOrd="3" destOrd="0" presId="urn:microsoft.com/office/officeart/2018/2/layout/IconVerticalSolidList"/>
    <dgm:cxn modelId="{5712CBD1-D00D-41EC-99D2-CAC30F618711}" type="presParOf" srcId="{6C98A845-D417-4E23-9C0E-C75896465453}" destId="{8F70A51F-CD18-4341-9C60-4E9094B78FCC}" srcOrd="4" destOrd="0" presId="urn:microsoft.com/office/officeart/2018/2/layout/IconVerticalSolidList"/>
    <dgm:cxn modelId="{40E900AF-18EE-4A85-9AF8-CFA800D1D975}" type="presParOf" srcId="{8F70A51F-CD18-4341-9C60-4E9094B78FCC}" destId="{8146A510-EE51-4EB3-99D4-D9C07ECDED4E}" srcOrd="0" destOrd="0" presId="urn:microsoft.com/office/officeart/2018/2/layout/IconVerticalSolidList"/>
    <dgm:cxn modelId="{C19D2173-2927-4CFA-9C5B-7EDE3BA9F0F8}" type="presParOf" srcId="{8F70A51F-CD18-4341-9C60-4E9094B78FCC}" destId="{401E6575-CB21-4FBD-A7D3-9C0BAAAA1585}" srcOrd="1" destOrd="0" presId="urn:microsoft.com/office/officeart/2018/2/layout/IconVerticalSolidList"/>
    <dgm:cxn modelId="{1360467E-348A-46A9-886D-C2FAC0F1D42A}" type="presParOf" srcId="{8F70A51F-CD18-4341-9C60-4E9094B78FCC}" destId="{DAC388C7-3A8C-413A-80C1-E942BAB3181A}" srcOrd="2" destOrd="0" presId="urn:microsoft.com/office/officeart/2018/2/layout/IconVerticalSolidList"/>
    <dgm:cxn modelId="{01B8C471-FB15-4CD9-A3F6-8765CA741D71}" type="presParOf" srcId="{8F70A51F-CD18-4341-9C60-4E9094B78FCC}" destId="{C2D98754-CEF8-413B-B2BC-ABA03F269B5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8A4493-E052-4897-8998-CB73A036D957}" type="doc">
      <dgm:prSet loTypeId="urn:microsoft.com/office/officeart/2018/2/layout/IconVerticalSolidList" loCatId="icon" qsTypeId="urn:microsoft.com/office/officeart/2005/8/quickstyle/simple1#3" qsCatId="simple" csTypeId="urn:microsoft.com/office/officeart/2005/8/colors/accent1_2#3" csCatId="accent1" phldr="1"/>
      <dgm:spPr/>
      <dgm:t>
        <a:bodyPr/>
        <a:lstStyle/>
        <a:p>
          <a:endParaRPr lang="en-US"/>
        </a:p>
      </dgm:t>
    </dgm:pt>
    <dgm:pt modelId="{5069AFA6-04FA-4002-AF7D-EBEFCF2A731B}">
      <dgm:prSet/>
      <dgm:spPr/>
      <dgm:t>
        <a:bodyPr/>
        <a:lstStyle/>
        <a:p>
          <a:pPr>
            <a:lnSpc>
              <a:spcPct val="100000"/>
            </a:lnSpc>
          </a:pPr>
          <a:r>
            <a:rPr lang="en-US" b="1" u="none" dirty="0"/>
            <a:t>Fully PyTorch-driven.</a:t>
          </a:r>
          <a:r>
            <a:rPr lang="en-US" dirty="0"/>
            <a:t> Leverages PyTorch for all neural network structures, making custom network architectures easy to build.</a:t>
          </a:r>
        </a:p>
      </dgm:t>
    </dgm:pt>
    <dgm:pt modelId="{659E7855-4313-462E-A303-F52E406B86E8}" type="parTrans" cxnId="{573DF235-8523-46DD-A90B-0D8C0B89C71A}">
      <dgm:prSet/>
      <dgm:spPr/>
      <dgm:t>
        <a:bodyPr/>
        <a:lstStyle/>
        <a:p>
          <a:endParaRPr lang="en-US"/>
        </a:p>
      </dgm:t>
    </dgm:pt>
    <dgm:pt modelId="{F5802D74-715D-4DC4-BD63-6B827FC2E56A}" type="sibTrans" cxnId="{573DF235-8523-46DD-A90B-0D8C0B89C71A}">
      <dgm:prSet/>
      <dgm:spPr/>
      <dgm:t>
        <a:bodyPr/>
        <a:lstStyle/>
        <a:p>
          <a:endParaRPr lang="en-US"/>
        </a:p>
      </dgm:t>
    </dgm:pt>
    <dgm:pt modelId="{D8FD0E39-035A-4E95-8086-8A4D87F576E5}">
      <dgm:prSet/>
      <dgm:spPr/>
      <dgm:t>
        <a:bodyPr/>
        <a:lstStyle/>
        <a:p>
          <a:pPr>
            <a:lnSpc>
              <a:spcPct val="100000"/>
            </a:lnSpc>
          </a:pPr>
          <a:r>
            <a:rPr lang="en-US" b="1" u="none" dirty="0"/>
            <a:t>Type-hinted code.</a:t>
          </a:r>
          <a:r>
            <a:rPr lang="en-US" dirty="0"/>
            <a:t> Uses strict Python type hinting and clean object-oriented design to reduce bugs and improve developer workflow.</a:t>
          </a:r>
        </a:p>
      </dgm:t>
    </dgm:pt>
    <dgm:pt modelId="{09637819-5F7F-4628-BBB2-890112BBF663}" type="parTrans" cxnId="{C181E976-C619-48B6-BF04-B173C0D4C0DA}">
      <dgm:prSet/>
      <dgm:spPr/>
      <dgm:t>
        <a:bodyPr/>
        <a:lstStyle/>
        <a:p>
          <a:endParaRPr lang="en-US"/>
        </a:p>
      </dgm:t>
    </dgm:pt>
    <dgm:pt modelId="{7F4E746E-0DCB-48B5-BB7D-FDB5BB9A3BB1}" type="sibTrans" cxnId="{C181E976-C619-48B6-BF04-B173C0D4C0DA}">
      <dgm:prSet/>
      <dgm:spPr/>
      <dgm:t>
        <a:bodyPr/>
        <a:lstStyle/>
        <a:p>
          <a:endParaRPr lang="en-US"/>
        </a:p>
      </dgm:t>
    </dgm:pt>
    <dgm:pt modelId="{D24C1575-2756-4F6C-BCF7-6908AAEE9E29}">
      <dgm:prSet/>
      <dgm:spPr/>
      <dgm:t>
        <a:bodyPr/>
        <a:lstStyle/>
        <a:p>
          <a:pPr>
            <a:lnSpc>
              <a:spcPct val="100000"/>
            </a:lnSpc>
          </a:pPr>
          <a:r>
            <a:rPr lang="en-US" b="1" u="none" dirty="0"/>
            <a:t>Gymnasium compatibility.</a:t>
          </a:r>
          <a:r>
            <a:rPr lang="en-US" dirty="0"/>
            <a:t> Integrates out of the box with standard environments like OpenAI Gym and its successor, Gymnasium.</a:t>
          </a:r>
        </a:p>
      </dgm:t>
    </dgm:pt>
    <dgm:pt modelId="{D46490FB-91A8-4435-BEAD-A5762E205EF0}" type="parTrans" cxnId="{A4A3778B-ABE3-412B-A09E-0BA6C52DD0E0}">
      <dgm:prSet/>
      <dgm:spPr/>
      <dgm:t>
        <a:bodyPr/>
        <a:lstStyle/>
        <a:p>
          <a:endParaRPr lang="en-US"/>
        </a:p>
      </dgm:t>
    </dgm:pt>
    <dgm:pt modelId="{570AC022-E069-4E5D-8DB0-BC3FA0B4E326}" type="sibTrans" cxnId="{A4A3778B-ABE3-412B-A09E-0BA6C52DD0E0}">
      <dgm:prSet/>
      <dgm:spPr/>
      <dgm:t>
        <a:bodyPr/>
        <a:lstStyle/>
        <a:p>
          <a:endParaRPr lang="en-US"/>
        </a:p>
      </dgm:t>
    </dgm:pt>
    <dgm:pt modelId="{99DF1B62-9363-44E0-BE56-05A153D1EEB3}">
      <dgm:prSet/>
      <dgm:spPr/>
      <dgm:t>
        <a:bodyPr/>
        <a:lstStyle/>
        <a:p>
          <a:pPr>
            <a:lnSpc>
              <a:spcPct val="100000"/>
            </a:lnSpc>
          </a:pPr>
          <a:r>
            <a:rPr lang="en-US" b="1" u="none" dirty="0"/>
            <a:t>Pre-configured hyperparameters.</a:t>
          </a:r>
          <a:r>
            <a:rPr lang="en-US" dirty="0"/>
            <a:t> Works out of the box for common control and robotics tasks, minimizing the time spent tuning models.</a:t>
          </a:r>
        </a:p>
      </dgm:t>
    </dgm:pt>
    <dgm:pt modelId="{C5AFA45E-77E2-45E8-8613-E836AACA504E}" type="parTrans" cxnId="{6439204B-3B50-4A0F-86E4-1339E7B17931}">
      <dgm:prSet/>
      <dgm:spPr/>
      <dgm:t>
        <a:bodyPr/>
        <a:lstStyle/>
        <a:p>
          <a:endParaRPr lang="en-US"/>
        </a:p>
      </dgm:t>
    </dgm:pt>
    <dgm:pt modelId="{A89A8580-5210-4EA8-B789-9452261320BE}" type="sibTrans" cxnId="{6439204B-3B50-4A0F-86E4-1339E7B17931}">
      <dgm:prSet/>
      <dgm:spPr/>
      <dgm:t>
        <a:bodyPr/>
        <a:lstStyle/>
        <a:p>
          <a:endParaRPr lang="en-US"/>
        </a:p>
      </dgm:t>
    </dgm:pt>
    <dgm:pt modelId="{56E17643-9992-4577-BBB9-BCA19A8C7310}" type="pres">
      <dgm:prSet presAssocID="{158A4493-E052-4897-8998-CB73A036D957}" presName="root" presStyleCnt="0">
        <dgm:presLayoutVars>
          <dgm:dir/>
          <dgm:resizeHandles val="exact"/>
        </dgm:presLayoutVars>
      </dgm:prSet>
      <dgm:spPr/>
    </dgm:pt>
    <dgm:pt modelId="{0AD6DF03-8350-457C-AA44-A894310F5F26}" type="pres">
      <dgm:prSet presAssocID="{5069AFA6-04FA-4002-AF7D-EBEFCF2A731B}" presName="compNode" presStyleCnt="0"/>
      <dgm:spPr/>
    </dgm:pt>
    <dgm:pt modelId="{D4432F03-486F-46CE-8FC4-D30915B7F428}" type="pres">
      <dgm:prSet presAssocID="{5069AFA6-04FA-4002-AF7D-EBEFCF2A731B}" presName="bgRect" presStyleLbl="bgShp" presStyleIdx="0" presStyleCnt="4"/>
      <dgm:spPr/>
    </dgm:pt>
    <dgm:pt modelId="{912794A2-5DD8-4DBE-8953-2288D21B0868}" type="pres">
      <dgm:prSet presAssocID="{5069AFA6-04FA-4002-AF7D-EBEFCF2A731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grammer"/>
        </a:ext>
      </dgm:extLst>
    </dgm:pt>
    <dgm:pt modelId="{5BDB6630-993F-4A46-845C-3B9251591FA4}" type="pres">
      <dgm:prSet presAssocID="{5069AFA6-04FA-4002-AF7D-EBEFCF2A731B}" presName="spaceRect" presStyleCnt="0"/>
      <dgm:spPr/>
    </dgm:pt>
    <dgm:pt modelId="{86F61832-2391-428D-9B49-17FF3C4B9667}" type="pres">
      <dgm:prSet presAssocID="{5069AFA6-04FA-4002-AF7D-EBEFCF2A731B}" presName="parTx" presStyleLbl="revTx" presStyleIdx="0" presStyleCnt="4">
        <dgm:presLayoutVars>
          <dgm:chMax val="0"/>
          <dgm:chPref val="0"/>
        </dgm:presLayoutVars>
      </dgm:prSet>
      <dgm:spPr/>
    </dgm:pt>
    <dgm:pt modelId="{BCEAC3B7-4C4D-4DF9-A079-B9F5C47B36C4}" type="pres">
      <dgm:prSet presAssocID="{F5802D74-715D-4DC4-BD63-6B827FC2E56A}" presName="sibTrans" presStyleCnt="0"/>
      <dgm:spPr/>
    </dgm:pt>
    <dgm:pt modelId="{1AAE7358-5412-497E-9736-383F66EA3EFD}" type="pres">
      <dgm:prSet presAssocID="{D8FD0E39-035A-4E95-8086-8A4D87F576E5}" presName="compNode" presStyleCnt="0"/>
      <dgm:spPr/>
    </dgm:pt>
    <dgm:pt modelId="{89ED945E-9FAE-455D-8078-839A6BAAB7DD}" type="pres">
      <dgm:prSet presAssocID="{D8FD0E39-035A-4E95-8086-8A4D87F576E5}" presName="bgRect" presStyleLbl="bgShp" presStyleIdx="1" presStyleCnt="4" custLinFactNeighborX="18441"/>
      <dgm:spPr/>
    </dgm:pt>
    <dgm:pt modelId="{499D0323-6EDA-4F58-88CC-18ECD6261B59}" type="pres">
      <dgm:prSet presAssocID="{D8FD0E39-035A-4E95-8086-8A4D87F576E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1A8145C6-DB5A-4FFC-9B4F-402A4AED0899}" type="pres">
      <dgm:prSet presAssocID="{D8FD0E39-035A-4E95-8086-8A4D87F576E5}" presName="spaceRect" presStyleCnt="0"/>
      <dgm:spPr/>
    </dgm:pt>
    <dgm:pt modelId="{0DA0DED2-5F1A-4798-8D52-55366A11FDE1}" type="pres">
      <dgm:prSet presAssocID="{D8FD0E39-035A-4E95-8086-8A4D87F576E5}" presName="parTx" presStyleLbl="revTx" presStyleIdx="1" presStyleCnt="4">
        <dgm:presLayoutVars>
          <dgm:chMax val="0"/>
          <dgm:chPref val="0"/>
        </dgm:presLayoutVars>
      </dgm:prSet>
      <dgm:spPr/>
    </dgm:pt>
    <dgm:pt modelId="{8CCB5B5D-B3E8-4099-9B32-BC2E6E7A96D2}" type="pres">
      <dgm:prSet presAssocID="{7F4E746E-0DCB-48B5-BB7D-FDB5BB9A3BB1}" presName="sibTrans" presStyleCnt="0"/>
      <dgm:spPr/>
    </dgm:pt>
    <dgm:pt modelId="{5B381B3E-E4CD-4306-B68D-DB28B4470315}" type="pres">
      <dgm:prSet presAssocID="{D24C1575-2756-4F6C-BCF7-6908AAEE9E29}" presName="compNode" presStyleCnt="0"/>
      <dgm:spPr/>
    </dgm:pt>
    <dgm:pt modelId="{9AD3D52E-8F62-4146-8D96-783093516EB9}" type="pres">
      <dgm:prSet presAssocID="{D24C1575-2756-4F6C-BCF7-6908AAEE9E29}" presName="bgRect" presStyleLbl="bgShp" presStyleIdx="2" presStyleCnt="4"/>
      <dgm:spPr/>
    </dgm:pt>
    <dgm:pt modelId="{8B1F6108-04F2-4A24-A196-7059425CE7A6}" type="pres">
      <dgm:prSet presAssocID="{D24C1575-2756-4F6C-BCF7-6908AAEE9E2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lassroom"/>
        </a:ext>
      </dgm:extLst>
    </dgm:pt>
    <dgm:pt modelId="{E206BE9B-F783-4D45-8A43-7844EA5DAC94}" type="pres">
      <dgm:prSet presAssocID="{D24C1575-2756-4F6C-BCF7-6908AAEE9E29}" presName="spaceRect" presStyleCnt="0"/>
      <dgm:spPr/>
    </dgm:pt>
    <dgm:pt modelId="{2560D0AF-712F-4B48-8EE6-C2BEB774DFDE}" type="pres">
      <dgm:prSet presAssocID="{D24C1575-2756-4F6C-BCF7-6908AAEE9E29}" presName="parTx" presStyleLbl="revTx" presStyleIdx="2" presStyleCnt="4">
        <dgm:presLayoutVars>
          <dgm:chMax val="0"/>
          <dgm:chPref val="0"/>
        </dgm:presLayoutVars>
      </dgm:prSet>
      <dgm:spPr/>
    </dgm:pt>
    <dgm:pt modelId="{2DCA8DA9-A70F-40CA-8E34-076BA0D3794B}" type="pres">
      <dgm:prSet presAssocID="{570AC022-E069-4E5D-8DB0-BC3FA0B4E326}" presName="sibTrans" presStyleCnt="0"/>
      <dgm:spPr/>
    </dgm:pt>
    <dgm:pt modelId="{98A26131-87B2-4B2B-913A-C0958786570D}" type="pres">
      <dgm:prSet presAssocID="{99DF1B62-9363-44E0-BE56-05A153D1EEB3}" presName="compNode" presStyleCnt="0"/>
      <dgm:spPr/>
    </dgm:pt>
    <dgm:pt modelId="{92A5D06A-50B7-4D63-8124-20F685A0E0F7}" type="pres">
      <dgm:prSet presAssocID="{99DF1B62-9363-44E0-BE56-05A153D1EEB3}" presName="bgRect" presStyleLbl="bgShp" presStyleIdx="3" presStyleCnt="4" custLinFactNeighborX="18441" custLinFactNeighborY="24012"/>
      <dgm:spPr/>
    </dgm:pt>
    <dgm:pt modelId="{91BEB732-082C-434C-B187-736BF072B02C}" type="pres">
      <dgm:prSet presAssocID="{99DF1B62-9363-44E0-BE56-05A153D1EEB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er"/>
        </a:ext>
      </dgm:extLst>
    </dgm:pt>
    <dgm:pt modelId="{41AE3308-F18D-4785-BD1C-2EA5E9B53B3F}" type="pres">
      <dgm:prSet presAssocID="{99DF1B62-9363-44E0-BE56-05A153D1EEB3}" presName="spaceRect" presStyleCnt="0"/>
      <dgm:spPr/>
    </dgm:pt>
    <dgm:pt modelId="{0A153BC3-7F02-4B3E-B640-9871B39D4553}" type="pres">
      <dgm:prSet presAssocID="{99DF1B62-9363-44E0-BE56-05A153D1EEB3}" presName="parTx" presStyleLbl="revTx" presStyleIdx="3" presStyleCnt="4">
        <dgm:presLayoutVars>
          <dgm:chMax val="0"/>
          <dgm:chPref val="0"/>
        </dgm:presLayoutVars>
      </dgm:prSet>
      <dgm:spPr/>
    </dgm:pt>
  </dgm:ptLst>
  <dgm:cxnLst>
    <dgm:cxn modelId="{63F5A224-38A3-4CED-8E80-21DA0E4D4002}" type="presOf" srcId="{99DF1B62-9363-44E0-BE56-05A153D1EEB3}" destId="{0A153BC3-7F02-4B3E-B640-9871B39D4553}" srcOrd="0" destOrd="0" presId="urn:microsoft.com/office/officeart/2018/2/layout/IconVerticalSolidList"/>
    <dgm:cxn modelId="{573DF235-8523-46DD-A90B-0D8C0B89C71A}" srcId="{158A4493-E052-4897-8998-CB73A036D957}" destId="{5069AFA6-04FA-4002-AF7D-EBEFCF2A731B}" srcOrd="0" destOrd="0" parTransId="{659E7855-4313-462E-A303-F52E406B86E8}" sibTransId="{F5802D74-715D-4DC4-BD63-6B827FC2E56A}"/>
    <dgm:cxn modelId="{64558738-7E42-4C0D-91A7-3CD5599406C6}" type="presOf" srcId="{5069AFA6-04FA-4002-AF7D-EBEFCF2A731B}" destId="{86F61832-2391-428D-9B49-17FF3C4B9667}" srcOrd="0" destOrd="0" presId="urn:microsoft.com/office/officeart/2018/2/layout/IconVerticalSolidList"/>
    <dgm:cxn modelId="{6439204B-3B50-4A0F-86E4-1339E7B17931}" srcId="{158A4493-E052-4897-8998-CB73A036D957}" destId="{99DF1B62-9363-44E0-BE56-05A153D1EEB3}" srcOrd="3" destOrd="0" parTransId="{C5AFA45E-77E2-45E8-8613-E836AACA504E}" sibTransId="{A89A8580-5210-4EA8-B789-9452261320BE}"/>
    <dgm:cxn modelId="{F86B2A70-92D2-4C20-A51A-24DBD0C94BF1}" type="presOf" srcId="{D8FD0E39-035A-4E95-8086-8A4D87F576E5}" destId="{0DA0DED2-5F1A-4798-8D52-55366A11FDE1}" srcOrd="0" destOrd="0" presId="urn:microsoft.com/office/officeart/2018/2/layout/IconVerticalSolidList"/>
    <dgm:cxn modelId="{C181E976-C619-48B6-BF04-B173C0D4C0DA}" srcId="{158A4493-E052-4897-8998-CB73A036D957}" destId="{D8FD0E39-035A-4E95-8086-8A4D87F576E5}" srcOrd="1" destOrd="0" parTransId="{09637819-5F7F-4628-BBB2-890112BBF663}" sibTransId="{7F4E746E-0DCB-48B5-BB7D-FDB5BB9A3BB1}"/>
    <dgm:cxn modelId="{1C7CCB7C-0765-49EE-BB7A-B40AC7BFD0BB}" type="presOf" srcId="{158A4493-E052-4897-8998-CB73A036D957}" destId="{56E17643-9992-4577-BBB9-BCA19A8C7310}" srcOrd="0" destOrd="0" presId="urn:microsoft.com/office/officeart/2018/2/layout/IconVerticalSolidList"/>
    <dgm:cxn modelId="{E3E57F87-78F8-4CCC-98D7-6937150C2C09}" type="presOf" srcId="{D24C1575-2756-4F6C-BCF7-6908AAEE9E29}" destId="{2560D0AF-712F-4B48-8EE6-C2BEB774DFDE}" srcOrd="0" destOrd="0" presId="urn:microsoft.com/office/officeart/2018/2/layout/IconVerticalSolidList"/>
    <dgm:cxn modelId="{A4A3778B-ABE3-412B-A09E-0BA6C52DD0E0}" srcId="{158A4493-E052-4897-8998-CB73A036D957}" destId="{D24C1575-2756-4F6C-BCF7-6908AAEE9E29}" srcOrd="2" destOrd="0" parTransId="{D46490FB-91A8-4435-BEAD-A5762E205EF0}" sibTransId="{570AC022-E069-4E5D-8DB0-BC3FA0B4E326}"/>
    <dgm:cxn modelId="{5AD698D1-A15E-4E93-BE61-BC5D1002BD12}" type="presParOf" srcId="{56E17643-9992-4577-BBB9-BCA19A8C7310}" destId="{0AD6DF03-8350-457C-AA44-A894310F5F26}" srcOrd="0" destOrd="0" presId="urn:microsoft.com/office/officeart/2018/2/layout/IconVerticalSolidList"/>
    <dgm:cxn modelId="{D54D71A9-D36C-412A-A4E6-97EBF4B40326}" type="presParOf" srcId="{0AD6DF03-8350-457C-AA44-A894310F5F26}" destId="{D4432F03-486F-46CE-8FC4-D30915B7F428}" srcOrd="0" destOrd="0" presId="urn:microsoft.com/office/officeart/2018/2/layout/IconVerticalSolidList"/>
    <dgm:cxn modelId="{6A309DFE-E1B0-4EC9-9B60-1E2AF7B98876}" type="presParOf" srcId="{0AD6DF03-8350-457C-AA44-A894310F5F26}" destId="{912794A2-5DD8-4DBE-8953-2288D21B0868}" srcOrd="1" destOrd="0" presId="urn:microsoft.com/office/officeart/2018/2/layout/IconVerticalSolidList"/>
    <dgm:cxn modelId="{C78A80CA-D90A-404A-B59A-007CCEFC784A}" type="presParOf" srcId="{0AD6DF03-8350-457C-AA44-A894310F5F26}" destId="{5BDB6630-993F-4A46-845C-3B9251591FA4}" srcOrd="2" destOrd="0" presId="urn:microsoft.com/office/officeart/2018/2/layout/IconVerticalSolidList"/>
    <dgm:cxn modelId="{1F5ABF8A-F050-4A7B-B040-F16C08A2926E}" type="presParOf" srcId="{0AD6DF03-8350-457C-AA44-A894310F5F26}" destId="{86F61832-2391-428D-9B49-17FF3C4B9667}" srcOrd="3" destOrd="0" presId="urn:microsoft.com/office/officeart/2018/2/layout/IconVerticalSolidList"/>
    <dgm:cxn modelId="{72D93B19-ED5E-47F6-8271-A4253115374A}" type="presParOf" srcId="{56E17643-9992-4577-BBB9-BCA19A8C7310}" destId="{BCEAC3B7-4C4D-4DF9-A079-B9F5C47B36C4}" srcOrd="1" destOrd="0" presId="urn:microsoft.com/office/officeart/2018/2/layout/IconVerticalSolidList"/>
    <dgm:cxn modelId="{CF2E2BA7-6AC0-4B91-B1AC-2F3D8E81B73C}" type="presParOf" srcId="{56E17643-9992-4577-BBB9-BCA19A8C7310}" destId="{1AAE7358-5412-497E-9736-383F66EA3EFD}" srcOrd="2" destOrd="0" presId="urn:microsoft.com/office/officeart/2018/2/layout/IconVerticalSolidList"/>
    <dgm:cxn modelId="{1F0DA192-1895-42CE-A5B0-1D2BA96CB73A}" type="presParOf" srcId="{1AAE7358-5412-497E-9736-383F66EA3EFD}" destId="{89ED945E-9FAE-455D-8078-839A6BAAB7DD}" srcOrd="0" destOrd="0" presId="urn:microsoft.com/office/officeart/2018/2/layout/IconVerticalSolidList"/>
    <dgm:cxn modelId="{B50CB461-F977-4B84-BEB9-34E43DE916C7}" type="presParOf" srcId="{1AAE7358-5412-497E-9736-383F66EA3EFD}" destId="{499D0323-6EDA-4F58-88CC-18ECD6261B59}" srcOrd="1" destOrd="0" presId="urn:microsoft.com/office/officeart/2018/2/layout/IconVerticalSolidList"/>
    <dgm:cxn modelId="{6BE4389E-D388-4CA4-9F6B-DDCA922E111D}" type="presParOf" srcId="{1AAE7358-5412-497E-9736-383F66EA3EFD}" destId="{1A8145C6-DB5A-4FFC-9B4F-402A4AED0899}" srcOrd="2" destOrd="0" presId="urn:microsoft.com/office/officeart/2018/2/layout/IconVerticalSolidList"/>
    <dgm:cxn modelId="{76DD36A8-4C98-4442-93B9-BF5DD8787EDC}" type="presParOf" srcId="{1AAE7358-5412-497E-9736-383F66EA3EFD}" destId="{0DA0DED2-5F1A-4798-8D52-55366A11FDE1}" srcOrd="3" destOrd="0" presId="urn:microsoft.com/office/officeart/2018/2/layout/IconVerticalSolidList"/>
    <dgm:cxn modelId="{9CF6AB59-96D2-48D5-8979-EA5F1EB2CC10}" type="presParOf" srcId="{56E17643-9992-4577-BBB9-BCA19A8C7310}" destId="{8CCB5B5D-B3E8-4099-9B32-BC2E6E7A96D2}" srcOrd="3" destOrd="0" presId="urn:microsoft.com/office/officeart/2018/2/layout/IconVerticalSolidList"/>
    <dgm:cxn modelId="{7532F1DC-9B00-47B1-BAC0-E7BF3B029766}" type="presParOf" srcId="{56E17643-9992-4577-BBB9-BCA19A8C7310}" destId="{5B381B3E-E4CD-4306-B68D-DB28B4470315}" srcOrd="4" destOrd="0" presId="urn:microsoft.com/office/officeart/2018/2/layout/IconVerticalSolidList"/>
    <dgm:cxn modelId="{EC8FBC19-515E-4271-B4EB-021FF9219A55}" type="presParOf" srcId="{5B381B3E-E4CD-4306-B68D-DB28B4470315}" destId="{9AD3D52E-8F62-4146-8D96-783093516EB9}" srcOrd="0" destOrd="0" presId="urn:microsoft.com/office/officeart/2018/2/layout/IconVerticalSolidList"/>
    <dgm:cxn modelId="{C922A2BB-FD8D-488B-866C-3CEBD72B56D9}" type="presParOf" srcId="{5B381B3E-E4CD-4306-B68D-DB28B4470315}" destId="{8B1F6108-04F2-4A24-A196-7059425CE7A6}" srcOrd="1" destOrd="0" presId="urn:microsoft.com/office/officeart/2018/2/layout/IconVerticalSolidList"/>
    <dgm:cxn modelId="{005A75E1-D787-41C2-9AB1-979B7828ABD9}" type="presParOf" srcId="{5B381B3E-E4CD-4306-B68D-DB28B4470315}" destId="{E206BE9B-F783-4D45-8A43-7844EA5DAC94}" srcOrd="2" destOrd="0" presId="urn:microsoft.com/office/officeart/2018/2/layout/IconVerticalSolidList"/>
    <dgm:cxn modelId="{C0917A1A-07E3-46B5-B8FE-80136B051142}" type="presParOf" srcId="{5B381B3E-E4CD-4306-B68D-DB28B4470315}" destId="{2560D0AF-712F-4B48-8EE6-C2BEB774DFDE}" srcOrd="3" destOrd="0" presId="urn:microsoft.com/office/officeart/2018/2/layout/IconVerticalSolidList"/>
    <dgm:cxn modelId="{1BB369EF-7E55-49D9-8045-ED0813D87A84}" type="presParOf" srcId="{56E17643-9992-4577-BBB9-BCA19A8C7310}" destId="{2DCA8DA9-A70F-40CA-8E34-076BA0D3794B}" srcOrd="5" destOrd="0" presId="urn:microsoft.com/office/officeart/2018/2/layout/IconVerticalSolidList"/>
    <dgm:cxn modelId="{91B769B2-7882-4AE2-B91E-89E02D8AC158}" type="presParOf" srcId="{56E17643-9992-4577-BBB9-BCA19A8C7310}" destId="{98A26131-87B2-4B2B-913A-C0958786570D}" srcOrd="6" destOrd="0" presId="urn:microsoft.com/office/officeart/2018/2/layout/IconVerticalSolidList"/>
    <dgm:cxn modelId="{949BD4BB-FCB2-4133-AF76-1CA1213F0EAB}" type="presParOf" srcId="{98A26131-87B2-4B2B-913A-C0958786570D}" destId="{92A5D06A-50B7-4D63-8124-20F685A0E0F7}" srcOrd="0" destOrd="0" presId="urn:microsoft.com/office/officeart/2018/2/layout/IconVerticalSolidList"/>
    <dgm:cxn modelId="{9743F51F-8500-4DBF-8BB9-CCFE3565D750}" type="presParOf" srcId="{98A26131-87B2-4B2B-913A-C0958786570D}" destId="{91BEB732-082C-434C-B187-736BF072B02C}" srcOrd="1" destOrd="0" presId="urn:microsoft.com/office/officeart/2018/2/layout/IconVerticalSolidList"/>
    <dgm:cxn modelId="{A418DDAF-52FD-4992-9C19-6A20DA880F84}" type="presParOf" srcId="{98A26131-87B2-4B2B-913A-C0958786570D}" destId="{41AE3308-F18D-4785-BD1C-2EA5E9B53B3F}" srcOrd="2" destOrd="0" presId="urn:microsoft.com/office/officeart/2018/2/layout/IconVerticalSolidList"/>
    <dgm:cxn modelId="{2CE36F68-6899-490C-87CE-181DE24EB645}" type="presParOf" srcId="{98A26131-87B2-4B2B-913A-C0958786570D}" destId="{0A153BC3-7F02-4B3E-B640-9871B39D455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269194B-05C2-4CE1-9F71-ACB6BD8E0F5C}" type="doc">
      <dgm:prSet loTypeId="urn:microsoft.com/office/officeart/2005/8/layout/hierarchy1" loCatId="hierarchy" qsTypeId="urn:microsoft.com/office/officeart/2005/8/quickstyle/simple1#4" qsCatId="simple" csTypeId="urn:microsoft.com/office/officeart/2005/8/colors/colorful2#1" csCatId="colorful"/>
      <dgm:spPr/>
      <dgm:t>
        <a:bodyPr/>
        <a:lstStyle/>
        <a:p>
          <a:endParaRPr lang="en-US"/>
        </a:p>
      </dgm:t>
    </dgm:pt>
    <dgm:pt modelId="{2ADB7601-AC34-44CF-A7BC-474E8444B284}">
      <dgm:prSet/>
      <dgm:spPr/>
      <dgm:t>
        <a:bodyPr/>
        <a:lstStyle/>
        <a:p>
          <a:r>
            <a:rPr lang="en-US" dirty="0"/>
            <a:t>Use `</a:t>
          </a:r>
          <a:r>
            <a:rPr lang="en-US" dirty="0" err="1"/>
            <a:t>evaluate_policy</a:t>
          </a:r>
          <a:r>
            <a:rPr lang="en-US" dirty="0"/>
            <a:t>` to assess model performance.</a:t>
          </a:r>
        </a:p>
      </dgm:t>
    </dgm:pt>
    <dgm:pt modelId="{0D29264A-E30C-46FE-89FD-DCF000FFE06E}" type="parTrans" cxnId="{1052A144-47F0-43E2-8259-F34B7A5C5CF6}">
      <dgm:prSet/>
      <dgm:spPr/>
      <dgm:t>
        <a:bodyPr/>
        <a:lstStyle/>
        <a:p>
          <a:endParaRPr lang="en-US"/>
        </a:p>
      </dgm:t>
    </dgm:pt>
    <dgm:pt modelId="{0A13DEE6-829B-4143-9A5C-E08B77E23218}" type="sibTrans" cxnId="{1052A144-47F0-43E2-8259-F34B7A5C5CF6}">
      <dgm:prSet/>
      <dgm:spPr/>
      <dgm:t>
        <a:bodyPr/>
        <a:lstStyle/>
        <a:p>
          <a:endParaRPr lang="en-US"/>
        </a:p>
      </dgm:t>
    </dgm:pt>
    <dgm:pt modelId="{DBD4559C-7B19-46F5-83EE-4C63096CD65A}">
      <dgm:prSet/>
      <dgm:spPr/>
      <dgm:t>
        <a:bodyPr/>
        <a:lstStyle/>
        <a:p>
          <a:r>
            <a:rPr lang="en-US"/>
            <a:t>Visualize rewards using TensorBoard or Matplotlib.</a:t>
          </a:r>
        </a:p>
      </dgm:t>
    </dgm:pt>
    <dgm:pt modelId="{C7964EB4-F96A-4366-ABC3-D5E7B73EDA96}" type="parTrans" cxnId="{2E49351F-C3A5-428F-AECB-770CAC1A6AF9}">
      <dgm:prSet/>
      <dgm:spPr/>
      <dgm:t>
        <a:bodyPr/>
        <a:lstStyle/>
        <a:p>
          <a:endParaRPr lang="en-US"/>
        </a:p>
      </dgm:t>
    </dgm:pt>
    <dgm:pt modelId="{F4734EB3-EBE8-4B5D-BD53-93CF7B1E2CD9}" type="sibTrans" cxnId="{2E49351F-C3A5-428F-AECB-770CAC1A6AF9}">
      <dgm:prSet/>
      <dgm:spPr/>
      <dgm:t>
        <a:bodyPr/>
        <a:lstStyle/>
        <a:p>
          <a:endParaRPr lang="en-US"/>
        </a:p>
      </dgm:t>
    </dgm:pt>
    <dgm:pt modelId="{B5B715B6-F848-4A1B-AA13-004C1C094938}" type="pres">
      <dgm:prSet presAssocID="{4269194B-05C2-4CE1-9F71-ACB6BD8E0F5C}" presName="hierChild1" presStyleCnt="0">
        <dgm:presLayoutVars>
          <dgm:chPref val="1"/>
          <dgm:dir/>
          <dgm:animOne val="branch"/>
          <dgm:animLvl val="lvl"/>
          <dgm:resizeHandles/>
        </dgm:presLayoutVars>
      </dgm:prSet>
      <dgm:spPr/>
    </dgm:pt>
    <dgm:pt modelId="{9D469626-E02F-4755-9997-CF818C5A48FB}" type="pres">
      <dgm:prSet presAssocID="{2ADB7601-AC34-44CF-A7BC-474E8444B284}" presName="hierRoot1" presStyleCnt="0"/>
      <dgm:spPr/>
    </dgm:pt>
    <dgm:pt modelId="{B1B006D3-25A7-4128-850D-4F2667B381CA}" type="pres">
      <dgm:prSet presAssocID="{2ADB7601-AC34-44CF-A7BC-474E8444B284}" presName="composite" presStyleCnt="0"/>
      <dgm:spPr/>
    </dgm:pt>
    <dgm:pt modelId="{39D59114-31D6-48E6-9812-FCB27A127BFC}" type="pres">
      <dgm:prSet presAssocID="{2ADB7601-AC34-44CF-A7BC-474E8444B284}" presName="background" presStyleLbl="node0" presStyleIdx="0" presStyleCnt="2"/>
      <dgm:spPr/>
    </dgm:pt>
    <dgm:pt modelId="{06BE2055-65DF-4CE1-AD43-1917BF0D829E}" type="pres">
      <dgm:prSet presAssocID="{2ADB7601-AC34-44CF-A7BC-474E8444B284}" presName="text" presStyleLbl="fgAcc0" presStyleIdx="0" presStyleCnt="2">
        <dgm:presLayoutVars>
          <dgm:chPref val="3"/>
        </dgm:presLayoutVars>
      </dgm:prSet>
      <dgm:spPr/>
    </dgm:pt>
    <dgm:pt modelId="{177A7B2A-E9DE-49FE-8F7A-8E49D50CF858}" type="pres">
      <dgm:prSet presAssocID="{2ADB7601-AC34-44CF-A7BC-474E8444B284}" presName="hierChild2" presStyleCnt="0"/>
      <dgm:spPr/>
    </dgm:pt>
    <dgm:pt modelId="{C19B91F6-755A-4FDB-A9A0-F74971144FFF}" type="pres">
      <dgm:prSet presAssocID="{DBD4559C-7B19-46F5-83EE-4C63096CD65A}" presName="hierRoot1" presStyleCnt="0"/>
      <dgm:spPr/>
    </dgm:pt>
    <dgm:pt modelId="{300DD5DC-9630-48A8-8C46-9EFD790B6308}" type="pres">
      <dgm:prSet presAssocID="{DBD4559C-7B19-46F5-83EE-4C63096CD65A}" presName="composite" presStyleCnt="0"/>
      <dgm:spPr/>
    </dgm:pt>
    <dgm:pt modelId="{99264CE5-DD2E-48B4-9895-A51FE07B38E9}" type="pres">
      <dgm:prSet presAssocID="{DBD4559C-7B19-46F5-83EE-4C63096CD65A}" presName="background" presStyleLbl="node0" presStyleIdx="1" presStyleCnt="2"/>
      <dgm:spPr/>
    </dgm:pt>
    <dgm:pt modelId="{1FB73097-D07B-4A30-8787-E7306E9A577F}" type="pres">
      <dgm:prSet presAssocID="{DBD4559C-7B19-46F5-83EE-4C63096CD65A}" presName="text" presStyleLbl="fgAcc0" presStyleIdx="1" presStyleCnt="2">
        <dgm:presLayoutVars>
          <dgm:chPref val="3"/>
        </dgm:presLayoutVars>
      </dgm:prSet>
      <dgm:spPr/>
    </dgm:pt>
    <dgm:pt modelId="{8514BCC2-0FCD-4060-9C21-3B5D3F60126A}" type="pres">
      <dgm:prSet presAssocID="{DBD4559C-7B19-46F5-83EE-4C63096CD65A}" presName="hierChild2" presStyleCnt="0"/>
      <dgm:spPr/>
    </dgm:pt>
  </dgm:ptLst>
  <dgm:cxnLst>
    <dgm:cxn modelId="{2E49351F-C3A5-428F-AECB-770CAC1A6AF9}" srcId="{4269194B-05C2-4CE1-9F71-ACB6BD8E0F5C}" destId="{DBD4559C-7B19-46F5-83EE-4C63096CD65A}" srcOrd="1" destOrd="0" parTransId="{C7964EB4-F96A-4366-ABC3-D5E7B73EDA96}" sibTransId="{F4734EB3-EBE8-4B5D-BD53-93CF7B1E2CD9}"/>
    <dgm:cxn modelId="{1052A144-47F0-43E2-8259-F34B7A5C5CF6}" srcId="{4269194B-05C2-4CE1-9F71-ACB6BD8E0F5C}" destId="{2ADB7601-AC34-44CF-A7BC-474E8444B284}" srcOrd="0" destOrd="0" parTransId="{0D29264A-E30C-46FE-89FD-DCF000FFE06E}" sibTransId="{0A13DEE6-829B-4143-9A5C-E08B77E23218}"/>
    <dgm:cxn modelId="{F1F62763-E317-4699-A018-88ED48D819C1}" type="presOf" srcId="{2ADB7601-AC34-44CF-A7BC-474E8444B284}" destId="{06BE2055-65DF-4CE1-AD43-1917BF0D829E}" srcOrd="0" destOrd="0" presId="urn:microsoft.com/office/officeart/2005/8/layout/hierarchy1"/>
    <dgm:cxn modelId="{81CD81CB-6B23-45BC-BCB4-D7A437DBBD26}" type="presOf" srcId="{DBD4559C-7B19-46F5-83EE-4C63096CD65A}" destId="{1FB73097-D07B-4A30-8787-E7306E9A577F}" srcOrd="0" destOrd="0" presId="urn:microsoft.com/office/officeart/2005/8/layout/hierarchy1"/>
    <dgm:cxn modelId="{6A736DD3-EE19-4A50-94EB-842E2642EF5D}" type="presOf" srcId="{4269194B-05C2-4CE1-9F71-ACB6BD8E0F5C}" destId="{B5B715B6-F848-4A1B-AA13-004C1C094938}" srcOrd="0" destOrd="0" presId="urn:microsoft.com/office/officeart/2005/8/layout/hierarchy1"/>
    <dgm:cxn modelId="{50AE831A-F1A4-43BD-BAA4-A98D2ADACE9E}" type="presParOf" srcId="{B5B715B6-F848-4A1B-AA13-004C1C094938}" destId="{9D469626-E02F-4755-9997-CF818C5A48FB}" srcOrd="0" destOrd="0" presId="urn:microsoft.com/office/officeart/2005/8/layout/hierarchy1"/>
    <dgm:cxn modelId="{22FB6830-AAB5-4529-B855-F66F3A33B885}" type="presParOf" srcId="{9D469626-E02F-4755-9997-CF818C5A48FB}" destId="{B1B006D3-25A7-4128-850D-4F2667B381CA}" srcOrd="0" destOrd="0" presId="urn:microsoft.com/office/officeart/2005/8/layout/hierarchy1"/>
    <dgm:cxn modelId="{9E11C1DE-D9CF-4A4C-8417-2C77E9E49D56}" type="presParOf" srcId="{B1B006D3-25A7-4128-850D-4F2667B381CA}" destId="{39D59114-31D6-48E6-9812-FCB27A127BFC}" srcOrd="0" destOrd="0" presId="urn:microsoft.com/office/officeart/2005/8/layout/hierarchy1"/>
    <dgm:cxn modelId="{8A9CCA97-84B5-47F8-8D5D-8ECA31B1CC28}" type="presParOf" srcId="{B1B006D3-25A7-4128-850D-4F2667B381CA}" destId="{06BE2055-65DF-4CE1-AD43-1917BF0D829E}" srcOrd="1" destOrd="0" presId="urn:microsoft.com/office/officeart/2005/8/layout/hierarchy1"/>
    <dgm:cxn modelId="{D840352E-E7D9-4B1C-998B-BEF09E2A7612}" type="presParOf" srcId="{9D469626-E02F-4755-9997-CF818C5A48FB}" destId="{177A7B2A-E9DE-49FE-8F7A-8E49D50CF858}" srcOrd="1" destOrd="0" presId="urn:microsoft.com/office/officeart/2005/8/layout/hierarchy1"/>
    <dgm:cxn modelId="{F64DFA8C-6846-4DBC-AC79-CCC455BAF23F}" type="presParOf" srcId="{B5B715B6-F848-4A1B-AA13-004C1C094938}" destId="{C19B91F6-755A-4FDB-A9A0-F74971144FFF}" srcOrd="1" destOrd="0" presId="urn:microsoft.com/office/officeart/2005/8/layout/hierarchy1"/>
    <dgm:cxn modelId="{199D489F-796B-407F-9427-DF41BE311AEE}" type="presParOf" srcId="{C19B91F6-755A-4FDB-A9A0-F74971144FFF}" destId="{300DD5DC-9630-48A8-8C46-9EFD790B6308}" srcOrd="0" destOrd="0" presId="urn:microsoft.com/office/officeart/2005/8/layout/hierarchy1"/>
    <dgm:cxn modelId="{5AD34FCC-D0DF-407A-96EB-44BD14E92DB6}" type="presParOf" srcId="{300DD5DC-9630-48A8-8C46-9EFD790B6308}" destId="{99264CE5-DD2E-48B4-9895-A51FE07B38E9}" srcOrd="0" destOrd="0" presId="urn:microsoft.com/office/officeart/2005/8/layout/hierarchy1"/>
    <dgm:cxn modelId="{84D33336-2FD2-4971-B868-A80891261844}" type="presParOf" srcId="{300DD5DC-9630-48A8-8C46-9EFD790B6308}" destId="{1FB73097-D07B-4A30-8787-E7306E9A577F}" srcOrd="1" destOrd="0" presId="urn:microsoft.com/office/officeart/2005/8/layout/hierarchy1"/>
    <dgm:cxn modelId="{35F18FC8-2707-4D82-A733-03AB4CAD1C06}" type="presParOf" srcId="{C19B91F6-755A-4FDB-A9A0-F74971144FFF}" destId="{8514BCC2-0FCD-4060-9C21-3B5D3F60126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52A85-A54D-4685-94FB-C299D01A1063}">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ACB6DC-4C1E-435C-8945-8624D85A17C9}">
      <dsp:nvSpPr>
        <dsp:cNvPr id="0" name=""/>
        <dsp:cNvSpPr/>
      </dsp:nvSpPr>
      <dsp:spPr>
        <a:xfrm>
          <a:off x="391077" y="291436"/>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2E6196-5548-47ED-9D44-412325380BFA}">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dirty="0"/>
            <a:t>Stable Baselines is a popular Python library that provides implementations of various Reinforcement Learning (RL) algorithms</a:t>
          </a:r>
        </a:p>
      </dsp:txBody>
      <dsp:txXfrm>
        <a:off x="1493203" y="552"/>
        <a:ext cx="6736396" cy="1292816"/>
      </dsp:txXfrm>
    </dsp:sp>
    <dsp:sp modelId="{94CA0A64-1F92-4BDE-B46A-EFBA538B4A6B}">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77C3A1-6323-482F-BFBA-07417AAFE716}">
      <dsp:nvSpPr>
        <dsp:cNvPr id="0" name=""/>
        <dsp:cNvSpPr/>
      </dsp:nvSpPr>
      <dsp:spPr>
        <a:xfrm>
          <a:off x="391077" y="1907456"/>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238738-25FA-4686-8ACE-D5C41E50BE42}">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b="1" u="none" kern="1200" dirty="0"/>
            <a:t>State-of-the-art implementations.</a:t>
          </a:r>
          <a:r>
            <a:rPr lang="en-US" sz="2100" kern="1200" dirty="0"/>
            <a:t> Offers clean, highly optimized versions of major Reinforcement Learning algorithms like PPO, A2C, SAC, and TD3.</a:t>
          </a:r>
        </a:p>
      </dsp:txBody>
      <dsp:txXfrm>
        <a:off x="1493203" y="1616573"/>
        <a:ext cx="6736396" cy="1292816"/>
      </dsp:txXfrm>
    </dsp:sp>
    <dsp:sp modelId="{DBE1A04D-0119-4ACA-9DFB-E068FD03C943}">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931C92-DCCC-4B34-B6F0-4203F4522B87}">
      <dsp:nvSpPr>
        <dsp:cNvPr id="0" name=""/>
        <dsp:cNvSpPr/>
      </dsp:nvSpPr>
      <dsp:spPr>
        <a:xfrm>
          <a:off x="391077" y="3523477"/>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EE4A97-25AF-4169-BE5A-15BBEB07C13B}">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b="1" u="none" kern="1200" dirty="0"/>
            <a:t>Consistent performance.</a:t>
          </a:r>
          <a:r>
            <a:rPr lang="en-US" sz="2100" b="0" u="none" kern="1200" dirty="0"/>
            <a:t> Built to replace older, fragmented codebases with reliable, benchmarked baselines that researchers and developers can trust.</a:t>
          </a:r>
          <a:endParaRPr lang="en-US" sz="2100" kern="1200" dirty="0"/>
        </a:p>
      </dsp:txBody>
      <dsp:txXfrm>
        <a:off x="1493203" y="3232593"/>
        <a:ext cx="6736396" cy="1292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4A6785-2967-4FC9-A0B1-DA4BAF4656A4}">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ED005A-C351-46A8-AFB5-BBCB4C4E4870}">
      <dsp:nvSpPr>
        <dsp:cNvPr id="0" name=""/>
        <dsp:cNvSpPr/>
      </dsp:nvSpPr>
      <dsp:spPr>
        <a:xfrm>
          <a:off x="391077" y="291436"/>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E61838-D38E-4D0E-A7AA-BECC40B28242}">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b="1" u="none" kern="1200" dirty="0"/>
            <a:t>Minimal boilerplate.</a:t>
          </a:r>
          <a:r>
            <a:rPr lang="en-US" sz="2100" kern="1200" dirty="0"/>
            <a:t> Enables training an agent in just a few lines of clean, readable Python code.</a:t>
          </a:r>
        </a:p>
      </dsp:txBody>
      <dsp:txXfrm>
        <a:off x="1493203" y="552"/>
        <a:ext cx="6736396" cy="1292816"/>
      </dsp:txXfrm>
    </dsp:sp>
    <dsp:sp modelId="{042D264C-301A-4697-9B63-2887CE2CB6D5}">
      <dsp:nvSpPr>
        <dsp:cNvPr id="0" name=""/>
        <dsp:cNvSpPr/>
      </dsp:nvSpPr>
      <dsp:spPr>
        <a:xfrm>
          <a:off x="0" y="1649229"/>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22A9CA-304F-416F-8118-AB2B26A60D08}">
      <dsp:nvSpPr>
        <dsp:cNvPr id="0" name=""/>
        <dsp:cNvSpPr/>
      </dsp:nvSpPr>
      <dsp:spPr>
        <a:xfrm>
          <a:off x="391077" y="1907456"/>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D8253E-3EF2-4FE1-8DAA-618D5847A5D4}">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b="1" u="none" kern="1200" dirty="0"/>
            <a:t>Seamless model deployment.</a:t>
          </a:r>
          <a:r>
            <a:rPr lang="en-US" sz="2100" kern="1200" dirty="0"/>
            <a:t> Features simple functions to save, load, and export trained policies to production environments.</a:t>
          </a:r>
        </a:p>
      </dsp:txBody>
      <dsp:txXfrm>
        <a:off x="1493203" y="1616573"/>
        <a:ext cx="6736396" cy="1292816"/>
      </dsp:txXfrm>
    </dsp:sp>
    <dsp:sp modelId="{8146A510-EE51-4EB3-99D4-D9C07ECDED4E}">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1E6575-CB21-4FBD-A7D3-9C0BAAAA1585}">
      <dsp:nvSpPr>
        <dsp:cNvPr id="0" name=""/>
        <dsp:cNvSpPr/>
      </dsp:nvSpPr>
      <dsp:spPr>
        <a:xfrm>
          <a:off x="391077" y="3523477"/>
          <a:ext cx="711049" cy="7110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D98754-CEF8-413B-B2BC-ABA03F269B53}">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933450">
            <a:lnSpc>
              <a:spcPct val="100000"/>
            </a:lnSpc>
            <a:spcBef>
              <a:spcPct val="0"/>
            </a:spcBef>
            <a:spcAft>
              <a:spcPct val="35000"/>
            </a:spcAft>
            <a:buNone/>
          </a:pPr>
          <a:r>
            <a:rPr lang="en-US" sz="2100" kern="1200" dirty="0"/>
            <a:t>Community Support: Extensive documentation and active community.</a:t>
          </a:r>
        </a:p>
      </dsp:txBody>
      <dsp:txXfrm>
        <a:off x="1493203" y="3232593"/>
        <a:ext cx="6736396" cy="12928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432F03-486F-46CE-8FC4-D30915B7F428}">
      <dsp:nvSpPr>
        <dsp:cNvPr id="0" name=""/>
        <dsp:cNvSpPr/>
      </dsp:nvSpPr>
      <dsp:spPr>
        <a:xfrm>
          <a:off x="0" y="1878"/>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2794A2-5DD8-4DBE-8953-2288D21B0868}">
      <dsp:nvSpPr>
        <dsp:cNvPr id="0" name=""/>
        <dsp:cNvSpPr/>
      </dsp:nvSpPr>
      <dsp:spPr>
        <a:xfrm>
          <a:off x="287993" y="216088"/>
          <a:ext cx="523623" cy="5236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F61832-2391-428D-9B49-17FF3C4B9667}">
      <dsp:nvSpPr>
        <dsp:cNvPr id="0" name=""/>
        <dsp:cNvSpPr/>
      </dsp:nvSpPr>
      <dsp:spPr>
        <a:xfrm>
          <a:off x="1099610" y="1878"/>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844550">
            <a:lnSpc>
              <a:spcPct val="100000"/>
            </a:lnSpc>
            <a:spcBef>
              <a:spcPct val="0"/>
            </a:spcBef>
            <a:spcAft>
              <a:spcPct val="35000"/>
            </a:spcAft>
            <a:buNone/>
          </a:pPr>
          <a:r>
            <a:rPr lang="en-US" sz="1900" b="1" u="none" kern="1200" dirty="0"/>
            <a:t>Fully PyTorch-driven.</a:t>
          </a:r>
          <a:r>
            <a:rPr lang="en-US" sz="1900" kern="1200" dirty="0"/>
            <a:t> Leverages PyTorch for all neural network structures, making custom network architectures easy to build.</a:t>
          </a:r>
        </a:p>
      </dsp:txBody>
      <dsp:txXfrm>
        <a:off x="1099610" y="1878"/>
        <a:ext cx="7129989" cy="952043"/>
      </dsp:txXfrm>
    </dsp:sp>
    <dsp:sp modelId="{89ED945E-9FAE-455D-8078-839A6BAAB7DD}">
      <dsp:nvSpPr>
        <dsp:cNvPr id="0" name=""/>
        <dsp:cNvSpPr/>
      </dsp:nvSpPr>
      <dsp:spPr>
        <a:xfrm>
          <a:off x="0" y="1191932"/>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9D0323-6EDA-4F58-88CC-18ECD6261B59}">
      <dsp:nvSpPr>
        <dsp:cNvPr id="0" name=""/>
        <dsp:cNvSpPr/>
      </dsp:nvSpPr>
      <dsp:spPr>
        <a:xfrm>
          <a:off x="287993" y="1406142"/>
          <a:ext cx="523623" cy="5236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A0DED2-5F1A-4798-8D52-55366A11FDE1}">
      <dsp:nvSpPr>
        <dsp:cNvPr id="0" name=""/>
        <dsp:cNvSpPr/>
      </dsp:nvSpPr>
      <dsp:spPr>
        <a:xfrm>
          <a:off x="1099610" y="1191932"/>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844550">
            <a:lnSpc>
              <a:spcPct val="100000"/>
            </a:lnSpc>
            <a:spcBef>
              <a:spcPct val="0"/>
            </a:spcBef>
            <a:spcAft>
              <a:spcPct val="35000"/>
            </a:spcAft>
            <a:buNone/>
          </a:pPr>
          <a:r>
            <a:rPr lang="en-US" sz="1900" b="1" u="none" kern="1200" dirty="0"/>
            <a:t>Type-hinted code.</a:t>
          </a:r>
          <a:r>
            <a:rPr lang="en-US" sz="1900" kern="1200" dirty="0"/>
            <a:t> Uses strict Python type hinting and clean object-oriented design to reduce bugs and improve developer workflow.</a:t>
          </a:r>
        </a:p>
      </dsp:txBody>
      <dsp:txXfrm>
        <a:off x="1099610" y="1191932"/>
        <a:ext cx="7129989" cy="952043"/>
      </dsp:txXfrm>
    </dsp:sp>
    <dsp:sp modelId="{9AD3D52E-8F62-4146-8D96-783093516EB9}">
      <dsp:nvSpPr>
        <dsp:cNvPr id="0" name=""/>
        <dsp:cNvSpPr/>
      </dsp:nvSpPr>
      <dsp:spPr>
        <a:xfrm>
          <a:off x="0" y="2381986"/>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1F6108-04F2-4A24-A196-7059425CE7A6}">
      <dsp:nvSpPr>
        <dsp:cNvPr id="0" name=""/>
        <dsp:cNvSpPr/>
      </dsp:nvSpPr>
      <dsp:spPr>
        <a:xfrm>
          <a:off x="287993" y="2596196"/>
          <a:ext cx="523623" cy="5236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60D0AF-712F-4B48-8EE6-C2BEB774DFDE}">
      <dsp:nvSpPr>
        <dsp:cNvPr id="0" name=""/>
        <dsp:cNvSpPr/>
      </dsp:nvSpPr>
      <dsp:spPr>
        <a:xfrm>
          <a:off x="1099610" y="2381986"/>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844550">
            <a:lnSpc>
              <a:spcPct val="100000"/>
            </a:lnSpc>
            <a:spcBef>
              <a:spcPct val="0"/>
            </a:spcBef>
            <a:spcAft>
              <a:spcPct val="35000"/>
            </a:spcAft>
            <a:buNone/>
          </a:pPr>
          <a:r>
            <a:rPr lang="en-US" sz="1900" b="1" u="none" kern="1200" dirty="0"/>
            <a:t>Gymnasium compatibility.</a:t>
          </a:r>
          <a:r>
            <a:rPr lang="en-US" sz="1900" kern="1200" dirty="0"/>
            <a:t> Integrates out of the box with standard environments like OpenAI Gym and its successor, Gymnasium.</a:t>
          </a:r>
        </a:p>
      </dsp:txBody>
      <dsp:txXfrm>
        <a:off x="1099610" y="2381986"/>
        <a:ext cx="7129989" cy="952043"/>
      </dsp:txXfrm>
    </dsp:sp>
    <dsp:sp modelId="{92A5D06A-50B7-4D63-8124-20F685A0E0F7}">
      <dsp:nvSpPr>
        <dsp:cNvPr id="0" name=""/>
        <dsp:cNvSpPr/>
      </dsp:nvSpPr>
      <dsp:spPr>
        <a:xfrm>
          <a:off x="0" y="3573919"/>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BEB732-082C-434C-B187-736BF072B02C}">
      <dsp:nvSpPr>
        <dsp:cNvPr id="0" name=""/>
        <dsp:cNvSpPr/>
      </dsp:nvSpPr>
      <dsp:spPr>
        <a:xfrm>
          <a:off x="287993" y="3786250"/>
          <a:ext cx="523623" cy="52362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153BC3-7F02-4B3E-B640-9871B39D4553}">
      <dsp:nvSpPr>
        <dsp:cNvPr id="0" name=""/>
        <dsp:cNvSpPr/>
      </dsp:nvSpPr>
      <dsp:spPr>
        <a:xfrm>
          <a:off x="1099610" y="3572041"/>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844550">
            <a:lnSpc>
              <a:spcPct val="100000"/>
            </a:lnSpc>
            <a:spcBef>
              <a:spcPct val="0"/>
            </a:spcBef>
            <a:spcAft>
              <a:spcPct val="35000"/>
            </a:spcAft>
            <a:buNone/>
          </a:pPr>
          <a:r>
            <a:rPr lang="en-US" sz="1900" b="1" u="none" kern="1200" dirty="0"/>
            <a:t>Pre-configured hyperparameters.</a:t>
          </a:r>
          <a:r>
            <a:rPr lang="en-US" sz="1900" kern="1200" dirty="0"/>
            <a:t> Works out of the box for common control and robotics tasks, minimizing the time spent tuning models.</a:t>
          </a:r>
        </a:p>
      </dsp:txBody>
      <dsp:txXfrm>
        <a:off x="1099610" y="3572041"/>
        <a:ext cx="7129989" cy="952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D59114-31D6-48E6-9812-FCB27A127BFC}">
      <dsp:nvSpPr>
        <dsp:cNvPr id="0" name=""/>
        <dsp:cNvSpPr/>
      </dsp:nvSpPr>
      <dsp:spPr>
        <a:xfrm>
          <a:off x="950" y="369842"/>
          <a:ext cx="3335656" cy="21181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BE2055-65DF-4CE1-AD43-1917BF0D829E}">
      <dsp:nvSpPr>
        <dsp:cNvPr id="0" name=""/>
        <dsp:cNvSpPr/>
      </dsp:nvSpPr>
      <dsp:spPr>
        <a:xfrm>
          <a:off x="371578" y="721940"/>
          <a:ext cx="3335656" cy="211814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Use `</a:t>
          </a:r>
          <a:r>
            <a:rPr lang="en-US" sz="3100" kern="1200" dirty="0" err="1"/>
            <a:t>evaluate_policy</a:t>
          </a:r>
          <a:r>
            <a:rPr lang="en-US" sz="3100" kern="1200" dirty="0"/>
            <a:t>` to assess model performance.</a:t>
          </a:r>
        </a:p>
      </dsp:txBody>
      <dsp:txXfrm>
        <a:off x="433616" y="783978"/>
        <a:ext cx="3211580" cy="1994066"/>
      </dsp:txXfrm>
    </dsp:sp>
    <dsp:sp modelId="{99264CE5-DD2E-48B4-9895-A51FE07B38E9}">
      <dsp:nvSpPr>
        <dsp:cNvPr id="0" name=""/>
        <dsp:cNvSpPr/>
      </dsp:nvSpPr>
      <dsp:spPr>
        <a:xfrm>
          <a:off x="4077864" y="369842"/>
          <a:ext cx="3335656" cy="21181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B73097-D07B-4A30-8787-E7306E9A577F}">
      <dsp:nvSpPr>
        <dsp:cNvPr id="0" name=""/>
        <dsp:cNvSpPr/>
      </dsp:nvSpPr>
      <dsp:spPr>
        <a:xfrm>
          <a:off x="4448492" y="721940"/>
          <a:ext cx="3335656" cy="211814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Visualize rewards using TensorBoard or Matplotlib.</a:t>
          </a:r>
        </a:p>
      </dsp:txBody>
      <dsp:txXfrm>
        <a:off x="4510530" y="783978"/>
        <a:ext cx="3211580" cy="199406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05" name="Shape 1505"/>
          <p:cNvSpPr>
            <a:spLocks noGrp="1" noRot="1" noChangeAspect="1"/>
          </p:cNvSpPr>
          <p:nvPr>
            <p:ph type="sldImg"/>
          </p:nvPr>
        </p:nvSpPr>
        <p:spPr>
          <a:xfrm>
            <a:off x="1143000" y="685800"/>
            <a:ext cx="4572000" cy="3429000"/>
          </a:xfrm>
          <a:prstGeom prst="rect">
            <a:avLst/>
          </a:prstGeom>
        </p:spPr>
        <p:txBody>
          <a:bodyPr/>
          <a:lstStyle/>
          <a:p>
            <a:endParaRPr/>
          </a:p>
        </p:txBody>
      </p:sp>
      <p:sp>
        <p:nvSpPr>
          <p:cNvPr id="1506" name="Shape 150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orbel"/>
      </a:defRPr>
    </a:lvl1pPr>
    <a:lvl2pPr indent="228600" latinLnBrk="0">
      <a:defRPr sz="1200">
        <a:latin typeface="+mn-lt"/>
        <a:ea typeface="+mn-ea"/>
        <a:cs typeface="+mn-cs"/>
        <a:sym typeface="Corbel"/>
      </a:defRPr>
    </a:lvl2pPr>
    <a:lvl3pPr indent="457200" latinLnBrk="0">
      <a:defRPr sz="1200">
        <a:latin typeface="+mn-lt"/>
        <a:ea typeface="+mn-ea"/>
        <a:cs typeface="+mn-cs"/>
        <a:sym typeface="Corbel"/>
      </a:defRPr>
    </a:lvl3pPr>
    <a:lvl4pPr indent="685800" latinLnBrk="0">
      <a:defRPr sz="1200">
        <a:latin typeface="+mn-lt"/>
        <a:ea typeface="+mn-ea"/>
        <a:cs typeface="+mn-cs"/>
        <a:sym typeface="Corbel"/>
      </a:defRPr>
    </a:lvl4pPr>
    <a:lvl5pPr indent="914400" latinLnBrk="0">
      <a:defRPr sz="1200">
        <a:latin typeface="+mn-lt"/>
        <a:ea typeface="+mn-ea"/>
        <a:cs typeface="+mn-cs"/>
        <a:sym typeface="Corbel"/>
      </a:defRPr>
    </a:lvl5pPr>
    <a:lvl6pPr indent="1143000" latinLnBrk="0">
      <a:defRPr sz="1200">
        <a:latin typeface="+mn-lt"/>
        <a:ea typeface="+mn-ea"/>
        <a:cs typeface="+mn-cs"/>
        <a:sym typeface="Corbel"/>
      </a:defRPr>
    </a:lvl6pPr>
    <a:lvl7pPr indent="1371600" latinLnBrk="0">
      <a:defRPr sz="1200">
        <a:latin typeface="+mn-lt"/>
        <a:ea typeface="+mn-ea"/>
        <a:cs typeface="+mn-cs"/>
        <a:sym typeface="Corbel"/>
      </a:defRPr>
    </a:lvl7pPr>
    <a:lvl8pPr indent="1600200" latinLnBrk="0">
      <a:defRPr sz="1200">
        <a:latin typeface="+mn-lt"/>
        <a:ea typeface="+mn-ea"/>
        <a:cs typeface="+mn-cs"/>
        <a:sym typeface="Corbel"/>
      </a:defRPr>
    </a:lvl8pPr>
    <a:lvl9pPr indent="1828800" latinLnBrk="0">
      <a:defRPr sz="1200">
        <a:latin typeface="+mn-lt"/>
        <a:ea typeface="+mn-ea"/>
        <a:cs typeface="+mn-cs"/>
        <a:sym typeface="Corbe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674CE4-FBD8-4481-AEFB-CA53E599A745}" type="slidenum">
              <a:rPr lang="en-US" smtClean="0"/>
              <a:t>1</a:t>
            </a:fld>
            <a:endParaRPr lang="en-US"/>
          </a:p>
        </p:txBody>
      </p:sp>
    </p:spTree>
    <p:extLst>
      <p:ext uri="{BB962C8B-B14F-4D97-AF65-F5344CB8AC3E}">
        <p14:creationId xmlns:p14="http://schemas.microsoft.com/office/powerpoint/2010/main" val="2277177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2</a:t>
            </a:fld>
            <a:endParaRPr lang="en-US"/>
          </a:p>
        </p:txBody>
      </p:sp>
    </p:spTree>
    <p:extLst>
      <p:ext uri="{BB962C8B-B14F-4D97-AF65-F5344CB8AC3E}">
        <p14:creationId xmlns:p14="http://schemas.microsoft.com/office/powerpoint/2010/main" val="427901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4081430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919104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9A039-66DE-BA32-5EE3-29EC85D51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1A74E-FB85-E123-BF4E-9104C391C11B}"/>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F71F1082-F822-9A98-2CDE-CD17C21B6F42}"/>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280157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991D2-A2FE-36A4-C2C9-18CBC6BD9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BC2FC-5B71-E3C5-0332-4E9A2346481F}"/>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17688E6F-58F3-C985-FD86-D159A11E8126}"/>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398448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5C4A-229A-ADB2-0F4C-DEFE0A807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59C84-FAC6-F7BE-C04B-CC1EADC46EFB}"/>
              </a:ext>
            </a:extLst>
          </p:cNvPr>
          <p:cNvSpPr>
            <a:spLocks noGrp="1" noRot="1" noChangeAspect="1"/>
          </p:cNvSpPr>
          <p:nvPr>
            <p:ph type="sldImg"/>
          </p:nvPr>
        </p:nvSpPr>
        <p:spPr>
          <a:xfrm>
            <a:off x="384175" y="685800"/>
            <a:ext cx="6089650" cy="3429000"/>
          </a:xfrm>
        </p:spPr>
      </p:sp>
      <p:sp>
        <p:nvSpPr>
          <p:cNvPr id="3" name="Notes Placeholder 2">
            <a:extLst>
              <a:ext uri="{FF2B5EF4-FFF2-40B4-BE49-F238E27FC236}">
                <a16:creationId xmlns:a16="http://schemas.microsoft.com/office/drawing/2014/main" id="{D2BC2400-1283-2555-2B6F-5EF7283B2F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DE7FFE-7892-A433-B0E4-48FA07BDE57D}"/>
              </a:ext>
            </a:extLst>
          </p:cNvPr>
          <p:cNvSpPr>
            <a:spLocks noGrp="1"/>
          </p:cNvSpPr>
          <p:nvPr>
            <p:ph type="sldNum" sz="quarter" idx="10"/>
          </p:nvPr>
        </p:nvSpPr>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01F2A70B-78F2-4DCF-B53B-C990D2FAFB8A}" type="slidenum">
              <a:rPr kumimoji="0" lang="en-US" sz="1800" b="0" i="0" u="none" strike="noStrike" kern="0" cap="none" spc="0" normalizeH="0" baseline="0" noProof="0" smtClean="0">
                <a:ln>
                  <a:noFill/>
                </a:ln>
                <a:solidFill>
                  <a:srgbClr val="000000"/>
                </a:solidFill>
                <a:effectLst/>
                <a:uLnTx/>
                <a:uFillTx/>
                <a:latin typeface="Corbel"/>
                <a:sym typeface="Corbel"/>
              </a:rPr>
              <a:pPr marL="0" marR="0" lvl="0" indent="0" algn="l" defTabSz="914400" rtl="0" eaLnBrk="1" fontAlgn="auto" latinLnBrk="0" hangingPunct="0">
                <a:lnSpc>
                  <a:spcPct val="100000"/>
                </a:lnSpc>
                <a:spcBef>
                  <a:spcPts val="0"/>
                </a:spcBef>
                <a:spcAft>
                  <a:spcPts val="0"/>
                </a:spcAft>
                <a:buClrTx/>
                <a:buSzTx/>
                <a:buFontTx/>
                <a:buNone/>
                <a:tabLst/>
                <a:defRPr/>
              </a:pPr>
              <a:t>8</a:t>
            </a:fld>
            <a:endParaRPr kumimoji="0" lang="en-US" sz="1800" b="0" i="0" u="none" strike="noStrike" kern="0" cap="none" spc="0" normalizeH="0" baseline="0" noProof="0">
              <a:ln>
                <a:noFill/>
              </a:ln>
              <a:solidFill>
                <a:srgbClr val="000000"/>
              </a:solidFill>
              <a:effectLst/>
              <a:uLnTx/>
              <a:uFillTx/>
              <a:latin typeface="Corbel"/>
              <a:sym typeface="Corbel"/>
            </a:endParaRPr>
          </a:p>
        </p:txBody>
      </p:sp>
    </p:spTree>
    <p:extLst>
      <p:ext uri="{BB962C8B-B14F-4D97-AF65-F5344CB8AC3E}">
        <p14:creationId xmlns:p14="http://schemas.microsoft.com/office/powerpoint/2010/main" val="3659182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951328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866226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115115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788163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958203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827325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251140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171529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698477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2278464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427901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6573411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4081430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114174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489424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48942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1039863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6816851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9982712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6816851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1173366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4052929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9582033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42381593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1114716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807017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EFCA8-9BFD-9C37-D3CE-D6518BC7D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B9B9D-F468-F101-947A-6C2CF6061FA2}"/>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446DF641-C8E2-72D3-D6DB-DF83538280EF}"/>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4282874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020C6-F1DA-89F1-6103-6F228851F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68DD6-6EB3-1F5E-7A35-7EBD06731CA1}"/>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4070B0BE-E6DE-1497-9DC9-0EFA27B27056}"/>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6697297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0652980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5D656-BFA6-AC16-CD44-ABBC2F882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31659-FA82-5133-CA61-9F60F25B5128}"/>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56721751-95C7-88B8-6BEC-F4AC2524C6BE}"/>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41908594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8517677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4279019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4175" y="685800"/>
            <a:ext cx="6089650" cy="3429000"/>
          </a:xfrm>
        </p:spPr>
      </p:sp>
      <p:sp>
        <p:nvSpPr>
          <p:cNvPr id="3" name="Notes Placeholder 2"/>
          <p:cNvSpPr>
            <a:spLocks noGrp="1"/>
          </p:cNvSpPr>
          <p:nvPr>
            <p:ph type="body" sz="quarter" idx="3"/>
          </p:nvPr>
        </p:nvSpPr>
        <p:spPr/>
        <p:txBody>
          <a:bodyPr/>
          <a:lstStyle/>
          <a:p>
            <a:r>
              <a:t>StableBaselines simplifies the process of applying RL algorithms by providing robust, well-maintained implementations. This makes it a go-to library for both researchers and practitioners who want to build and test RL models efficiently.</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4175" y="685800"/>
            <a:ext cx="6089650" cy="3429000"/>
          </a:xfrm>
        </p:spPr>
      </p:sp>
      <p:sp>
        <p:nvSpPr>
          <p:cNvPr id="3" name="Notes Placeholder 2"/>
          <p:cNvSpPr>
            <a:spLocks noGrp="1"/>
          </p:cNvSpPr>
          <p:nvPr>
            <p:ph type="body" sz="quarter" idx="3"/>
          </p:nvPr>
        </p:nvSpPr>
        <p:spPr/>
        <p:txBody>
          <a:bodyPr/>
          <a:lstStyle/>
          <a:p>
            <a:r>
              <a:t>These benefits collectively reduce the time and effort needed to get RL models up and running, allowing you to focus more on refining the models and applying them to real-world problems.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4175" y="685800"/>
            <a:ext cx="6089650" cy="3429000"/>
          </a:xfrm>
        </p:spPr>
      </p:sp>
      <p:sp>
        <p:nvSpPr>
          <p:cNvPr id="3" name="Notes Placeholder 2"/>
          <p:cNvSpPr>
            <a:spLocks noGrp="1"/>
          </p:cNvSpPr>
          <p:nvPr>
            <p:ph type="body" sz="quarter" idx="3"/>
          </p:nvPr>
        </p:nvSpPr>
        <p:spPr/>
        <p:txBody>
          <a:bodyPr/>
          <a:lstStyle/>
          <a:p>
            <a:r>
              <a:t>Understanding these components is crucial because they form the foundation of how you interact with and build models using StableBaselines. Each component plays a specific role in the RL pipeline, from defining the problem to executing and evaluating the solution.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4175" y="685800"/>
            <a:ext cx="6089650" cy="3429000"/>
          </a:xfrm>
        </p:spPr>
      </p:sp>
      <p:sp>
        <p:nvSpPr>
          <p:cNvPr id="3" name="Notes Placeholder 2"/>
          <p:cNvSpPr>
            <a:spLocks noGrp="1"/>
          </p:cNvSpPr>
          <p:nvPr>
            <p:ph type="body" sz="quarter" idx="3"/>
          </p:nvPr>
        </p:nvSpPr>
        <p:spPr/>
        <p:txBody>
          <a:bodyPr/>
          <a:lstStyle/>
          <a:p>
            <a:r>
              <a:t>This simple code block demonstrates how easy it is to get started with StableBaselines. By running just a few lines of code, you can set up an environment, select an algorithm, and begin training your model.</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4175" y="685800"/>
            <a:ext cx="6089650" cy="3429000"/>
          </a:xfrm>
        </p:spPr>
      </p:sp>
      <p:sp>
        <p:nvSpPr>
          <p:cNvPr id="3" name="Notes Placeholder 2"/>
          <p:cNvSpPr>
            <a:spLocks noGrp="1"/>
          </p:cNvSpPr>
          <p:nvPr>
            <p:ph type="body" sz="quarter" idx="3"/>
          </p:nvPr>
        </p:nvSpPr>
        <p:spPr/>
        <p:txBody>
          <a:bodyPr/>
          <a:lstStyle/>
          <a:p>
            <a:r>
              <a:t>Evaluating and visualizing the performance of your RL model is crucial to understanding its learning progress. This slide explains how to use the `evaluate_policy` function and visualization tools to monitor your model.</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11733666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47</a:t>
            </a:fld>
            <a:endParaRPr lang="en-US"/>
          </a:p>
        </p:txBody>
      </p:sp>
    </p:spTree>
    <p:extLst>
      <p:ext uri="{BB962C8B-B14F-4D97-AF65-F5344CB8AC3E}">
        <p14:creationId xmlns:p14="http://schemas.microsoft.com/office/powerpoint/2010/main" val="35585514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7741758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5910479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3985643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5131160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4226877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53</a:t>
            </a:fld>
            <a:endParaRPr lang="en-US"/>
          </a:p>
        </p:txBody>
      </p:sp>
    </p:spTree>
    <p:extLst>
      <p:ext uri="{BB962C8B-B14F-4D97-AF65-F5344CB8AC3E}">
        <p14:creationId xmlns:p14="http://schemas.microsoft.com/office/powerpoint/2010/main" val="33055693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54</a:t>
            </a:fld>
            <a:endParaRPr lang="en-US"/>
          </a:p>
        </p:txBody>
      </p:sp>
    </p:spTree>
    <p:extLst>
      <p:ext uri="{BB962C8B-B14F-4D97-AF65-F5344CB8AC3E}">
        <p14:creationId xmlns:p14="http://schemas.microsoft.com/office/powerpoint/2010/main" val="40529292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0624181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E7524-CF09-F43B-5A88-0B013D5B5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7F38E-1B32-0FF4-9FF4-C51A8E578E9C}"/>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9CAD346B-2F70-2700-1AF0-CE9484101DCF}"/>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2109187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D16DB-B98E-0652-E42E-3FE3D6D9F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433EC-50B3-FD8D-F787-1626407FD48A}"/>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4A7E1447-59A0-083F-8FD3-70B57798C5E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3213222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58</a:t>
            </a:fld>
            <a:endParaRPr lang="en-US"/>
          </a:p>
        </p:txBody>
      </p:sp>
    </p:spTree>
    <p:extLst>
      <p:ext uri="{BB962C8B-B14F-4D97-AF65-F5344CB8AC3E}">
        <p14:creationId xmlns:p14="http://schemas.microsoft.com/office/powerpoint/2010/main" val="4279019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BB21E-8D94-E9F7-CD1E-BE057647D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91E4E-8F45-23EE-E775-50C7DAA3D1F3}"/>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92745867-FDCF-9F92-9C9A-8A8EA257AFBA}"/>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28099214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9DD49-6834-1CF8-6E31-491226245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518A2-CD71-B973-CAC4-81597B9899A3}"/>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D5953629-1071-1024-C616-321D8CB04263}"/>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7039257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4F047-C616-4EB7-5B58-6454D5E1E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F08D1-A212-9563-0235-DB46822655BE}"/>
              </a:ext>
            </a:extLst>
          </p:cNvPr>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EC11C8DC-19C3-9FEE-1D96-F0B99A4E3EB9}"/>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7805933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5" name="Notes Placeholder 4">
            <a:extLst>
              <a:ext uri="{FF2B5EF4-FFF2-40B4-BE49-F238E27FC236}">
                <a16:creationId xmlns:a16="http://schemas.microsoft.com/office/drawing/2014/main" id="{05063E23-2A47-361A-1D50-9FA8ED504931}"/>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5792297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63</a:t>
            </a:fld>
            <a:endParaRPr lang="en-US"/>
          </a:p>
        </p:txBody>
      </p:sp>
    </p:spTree>
    <p:extLst>
      <p:ext uri="{BB962C8B-B14F-4D97-AF65-F5344CB8AC3E}">
        <p14:creationId xmlns:p14="http://schemas.microsoft.com/office/powerpoint/2010/main" val="5920168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Shape 1516"/>
          <p:cNvSpPr>
            <a:spLocks noGrp="1" noRot="1" noChangeAspect="1"/>
          </p:cNvSpPr>
          <p:nvPr>
            <p:ph type="sldImg"/>
          </p:nvPr>
        </p:nvSpPr>
        <p:spPr>
          <a:xfrm>
            <a:off x="384175" y="685800"/>
            <a:ext cx="6089650" cy="3429000"/>
          </a:xfrm>
          <a:prstGeom prst="rect">
            <a:avLst/>
          </a:prstGeom>
        </p:spPr>
        <p:txBody>
          <a:bodyPr/>
          <a:lstStyle/>
          <a:p>
            <a:endParaRPr/>
          </a:p>
        </p:txBody>
      </p:sp>
      <p:sp>
        <p:nvSpPr>
          <p:cNvPr id="1517" name="Shape 1517"/>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6578630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Shape 1516"/>
          <p:cNvSpPr>
            <a:spLocks noGrp="1" noRot="1" noChangeAspect="1"/>
          </p:cNvSpPr>
          <p:nvPr>
            <p:ph type="sldImg"/>
          </p:nvPr>
        </p:nvSpPr>
        <p:spPr>
          <a:xfrm>
            <a:off x="384175" y="685800"/>
            <a:ext cx="6089650" cy="3429000"/>
          </a:xfrm>
          <a:prstGeom prst="rect">
            <a:avLst/>
          </a:prstGeom>
        </p:spPr>
        <p:txBody>
          <a:bodyPr/>
          <a:lstStyle/>
          <a:p>
            <a:endParaRPr/>
          </a:p>
        </p:txBody>
      </p:sp>
      <p:sp>
        <p:nvSpPr>
          <p:cNvPr id="1517" name="Shape 1517"/>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941194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 name="Shape 1516"/>
          <p:cNvSpPr>
            <a:spLocks noGrp="1" noRot="1" noChangeAspect="1"/>
          </p:cNvSpPr>
          <p:nvPr>
            <p:ph type="sldImg"/>
          </p:nvPr>
        </p:nvSpPr>
        <p:spPr>
          <a:xfrm>
            <a:off x="384175" y="685800"/>
            <a:ext cx="6089650" cy="3429000"/>
          </a:xfrm>
          <a:prstGeom prst="rect">
            <a:avLst/>
          </a:prstGeom>
        </p:spPr>
        <p:txBody>
          <a:bodyPr/>
          <a:lstStyle/>
          <a:p>
            <a:endParaRPr/>
          </a:p>
        </p:txBody>
      </p:sp>
      <p:sp>
        <p:nvSpPr>
          <p:cNvPr id="1517" name="Shape 1517"/>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5649532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67</a:t>
            </a:fld>
            <a:endParaRPr lang="en-US"/>
          </a:p>
        </p:txBody>
      </p:sp>
    </p:spTree>
    <p:extLst>
      <p:ext uri="{BB962C8B-B14F-4D97-AF65-F5344CB8AC3E}">
        <p14:creationId xmlns:p14="http://schemas.microsoft.com/office/powerpoint/2010/main" val="397478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96" name="line"/>
          <p:cNvGrpSpPr/>
          <p:nvPr/>
        </p:nvGrpSpPr>
        <p:grpSpPr>
          <a:xfrm>
            <a:off x="1522412" y="1512433"/>
            <a:ext cx="10569577" cy="69395"/>
            <a:chOff x="0" y="0"/>
            <a:chExt cx="10569575" cy="69394"/>
          </a:xfrm>
        </p:grpSpPr>
        <p:sp>
          <p:nvSpPr>
            <p:cNvPr id="622" name="Freeform 10"/>
            <p:cNvSpPr/>
            <p:nvPr/>
          </p:nvSpPr>
          <p:spPr>
            <a:xfrm>
              <a:off x="10517091" y="9232"/>
              <a:ext cx="52485"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3" name="Freeform 11"/>
            <p:cNvSpPr/>
            <p:nvPr/>
          </p:nvSpPr>
          <p:spPr>
            <a:xfrm>
              <a:off x="10499725" y="14876"/>
              <a:ext cx="19050"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4" name="Freeform 12"/>
            <p:cNvSpPr/>
            <p:nvPr/>
          </p:nvSpPr>
          <p:spPr>
            <a:xfrm>
              <a:off x="10518775" y="14877"/>
              <a:ext cx="39688"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5" name="Freeform 15"/>
            <p:cNvSpPr/>
            <p:nvPr/>
          </p:nvSpPr>
          <p:spPr>
            <a:xfrm>
              <a:off x="10310955" y="10462"/>
              <a:ext cx="41133"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6" name="Freeform 16"/>
            <p:cNvSpPr/>
            <p:nvPr/>
          </p:nvSpPr>
          <p:spPr>
            <a:xfrm>
              <a:off x="10287000" y="14155"/>
              <a:ext cx="39689"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7" name="Freeform 17"/>
            <p:cNvSpPr/>
            <p:nvPr/>
          </p:nvSpPr>
          <p:spPr>
            <a:xfrm>
              <a:off x="10480675" y="20925"/>
              <a:ext cx="77788"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8" name="Freeform 18"/>
            <p:cNvSpPr/>
            <p:nvPr/>
          </p:nvSpPr>
          <p:spPr>
            <a:xfrm>
              <a:off x="10142537" y="6770"/>
              <a:ext cx="39688"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9" name="Freeform 19"/>
            <p:cNvSpPr/>
            <p:nvPr/>
          </p:nvSpPr>
          <p:spPr>
            <a:xfrm>
              <a:off x="9983787" y="5539"/>
              <a:ext cx="80073"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0" name="Freeform 20"/>
            <p:cNvSpPr/>
            <p:nvPr/>
          </p:nvSpPr>
          <p:spPr>
            <a:xfrm>
              <a:off x="9948862" y="8616"/>
              <a:ext cx="34926"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1" name="Freeform 21"/>
            <p:cNvSpPr/>
            <p:nvPr/>
          </p:nvSpPr>
          <p:spPr>
            <a:xfrm>
              <a:off x="10188575" y="12924"/>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2" name="Freeform 22"/>
            <p:cNvSpPr/>
            <p:nvPr/>
          </p:nvSpPr>
          <p:spPr>
            <a:xfrm>
              <a:off x="10169525" y="14771"/>
              <a:ext cx="3492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3" name="Freeform 23"/>
            <p:cNvSpPr/>
            <p:nvPr/>
          </p:nvSpPr>
          <p:spPr>
            <a:xfrm>
              <a:off x="10214767" y="21736"/>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634" name="Freeform 24"/>
            <p:cNvSpPr/>
            <p:nvPr/>
          </p:nvSpPr>
          <p:spPr>
            <a:xfrm>
              <a:off x="10345866" y="23387"/>
              <a:ext cx="44321"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5" name="Freeform 25"/>
            <p:cNvSpPr/>
            <p:nvPr/>
          </p:nvSpPr>
          <p:spPr>
            <a:xfrm>
              <a:off x="10242550" y="18463"/>
              <a:ext cx="44450"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6" name="Freeform 26"/>
            <p:cNvSpPr/>
            <p:nvPr/>
          </p:nvSpPr>
          <p:spPr>
            <a:xfrm>
              <a:off x="10221912" y="20310"/>
              <a:ext cx="2063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7" name="Freeform 27"/>
            <p:cNvSpPr/>
            <p:nvPr/>
          </p:nvSpPr>
          <p:spPr>
            <a:xfrm>
              <a:off x="9959975" y="14771"/>
              <a:ext cx="76927"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8" name="Freeform 28"/>
            <p:cNvSpPr/>
            <p:nvPr/>
          </p:nvSpPr>
          <p:spPr>
            <a:xfrm>
              <a:off x="10100467" y="1477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9" name="Freeform 29"/>
            <p:cNvSpPr/>
            <p:nvPr/>
          </p:nvSpPr>
          <p:spPr>
            <a:xfrm>
              <a:off x="9735342" y="1538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0" name="Freeform 30"/>
            <p:cNvSpPr/>
            <p:nvPr/>
          </p:nvSpPr>
          <p:spPr>
            <a:xfrm>
              <a:off x="10032172" y="16617"/>
              <a:ext cx="43690"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1" name="Freeform 31"/>
            <p:cNvSpPr/>
            <p:nvPr/>
          </p:nvSpPr>
          <p:spPr>
            <a:xfrm>
              <a:off x="9886950" y="11992"/>
              <a:ext cx="31750"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2" name="Freeform 32"/>
            <p:cNvSpPr/>
            <p:nvPr/>
          </p:nvSpPr>
          <p:spPr>
            <a:xfrm>
              <a:off x="10093869" y="12924"/>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3" name="Freeform 33"/>
            <p:cNvSpPr/>
            <p:nvPr/>
          </p:nvSpPr>
          <p:spPr>
            <a:xfrm>
              <a:off x="10075862" y="14155"/>
              <a:ext cx="28576"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4" name="Freeform 34"/>
            <p:cNvSpPr/>
            <p:nvPr/>
          </p:nvSpPr>
          <p:spPr>
            <a:xfrm>
              <a:off x="9626741" y="21736"/>
              <a:ext cx="157895" cy="23389"/>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5" name="Freeform 35"/>
            <p:cNvSpPr/>
            <p:nvPr/>
          </p:nvSpPr>
          <p:spPr>
            <a:xfrm>
              <a:off x="9744075" y="12924"/>
              <a:ext cx="95250"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6" name="Freeform 36"/>
            <p:cNvSpPr/>
            <p:nvPr/>
          </p:nvSpPr>
          <p:spPr>
            <a:xfrm>
              <a:off x="9839325" y="19078"/>
              <a:ext cx="120684"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7" name="Freeform 37"/>
            <p:cNvSpPr/>
            <p:nvPr/>
          </p:nvSpPr>
          <p:spPr>
            <a:xfrm>
              <a:off x="10312163" y="34466"/>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8" name="Freeform 38"/>
            <p:cNvSpPr/>
            <p:nvPr/>
          </p:nvSpPr>
          <p:spPr>
            <a:xfrm>
              <a:off x="10247794" y="28927"/>
              <a:ext cx="93566"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9" name="Freeform 39"/>
            <p:cNvSpPr/>
            <p:nvPr/>
          </p:nvSpPr>
          <p:spPr>
            <a:xfrm>
              <a:off x="10033000" y="27695"/>
              <a:ext cx="66075"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0" name="Freeform 40"/>
            <p:cNvSpPr/>
            <p:nvPr/>
          </p:nvSpPr>
          <p:spPr>
            <a:xfrm>
              <a:off x="9701212" y="12309"/>
              <a:ext cx="38101"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1" name="Freeform 41"/>
            <p:cNvSpPr/>
            <p:nvPr/>
          </p:nvSpPr>
          <p:spPr>
            <a:xfrm>
              <a:off x="9623425" y="11693"/>
              <a:ext cx="22226"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2" name="Freeform 42"/>
            <p:cNvSpPr/>
            <p:nvPr/>
          </p:nvSpPr>
          <p:spPr>
            <a:xfrm>
              <a:off x="4675187" y="48005"/>
              <a:ext cx="2063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3" name="Freeform 43"/>
            <p:cNvSpPr/>
            <p:nvPr/>
          </p:nvSpPr>
          <p:spPr>
            <a:xfrm>
              <a:off x="4833675" y="46775"/>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4" name="Freeform 44"/>
            <p:cNvSpPr/>
            <p:nvPr/>
          </p:nvSpPr>
          <p:spPr>
            <a:xfrm>
              <a:off x="7431415" y="7808"/>
              <a:ext cx="58410"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5" name="Freeform 45"/>
            <p:cNvSpPr/>
            <p:nvPr/>
          </p:nvSpPr>
          <p:spPr>
            <a:xfrm>
              <a:off x="6015037" y="29542"/>
              <a:ext cx="2857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6" name="Freeform 46"/>
            <p:cNvSpPr/>
            <p:nvPr/>
          </p:nvSpPr>
          <p:spPr>
            <a:xfrm>
              <a:off x="5956300" y="44928"/>
              <a:ext cx="38100"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7" name="Freeform 47"/>
            <p:cNvSpPr/>
            <p:nvPr/>
          </p:nvSpPr>
          <p:spPr>
            <a:xfrm>
              <a:off x="3887787" y="51699"/>
              <a:ext cx="24279" cy="12700"/>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8" name="Freeform 48"/>
            <p:cNvSpPr/>
            <p:nvPr/>
          </p:nvSpPr>
          <p:spPr>
            <a:xfrm>
              <a:off x="8683625" y="13367"/>
              <a:ext cx="6191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9" name="Freeform 49"/>
            <p:cNvSpPr/>
            <p:nvPr/>
          </p:nvSpPr>
          <p:spPr>
            <a:xfrm>
              <a:off x="4735512" y="8001"/>
              <a:ext cx="16900"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0" name="Freeform 50"/>
            <p:cNvSpPr/>
            <p:nvPr/>
          </p:nvSpPr>
          <p:spPr>
            <a:xfrm>
              <a:off x="8612187" y="11589"/>
              <a:ext cx="71438"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1" name="Freeform 51"/>
            <p:cNvSpPr/>
            <p:nvPr/>
          </p:nvSpPr>
          <p:spPr>
            <a:xfrm>
              <a:off x="1058469" y="41851"/>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2" name="Freeform 52"/>
            <p:cNvSpPr/>
            <p:nvPr/>
          </p:nvSpPr>
          <p:spPr>
            <a:xfrm>
              <a:off x="239712" y="3846"/>
              <a:ext cx="34926"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3" name="Freeform 53"/>
            <p:cNvSpPr/>
            <p:nvPr/>
          </p:nvSpPr>
          <p:spPr>
            <a:xfrm>
              <a:off x="9288269" y="11419"/>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4" name="Freeform 54"/>
            <p:cNvSpPr/>
            <p:nvPr/>
          </p:nvSpPr>
          <p:spPr>
            <a:xfrm>
              <a:off x="9371805" y="2769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5" name="Freeform 55"/>
            <p:cNvSpPr/>
            <p:nvPr/>
          </p:nvSpPr>
          <p:spPr>
            <a:xfrm>
              <a:off x="8420179" y="35355"/>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6" name="Freeform 56"/>
            <p:cNvSpPr/>
            <p:nvPr/>
          </p:nvSpPr>
          <p:spPr>
            <a:xfrm>
              <a:off x="9294812" y="12924"/>
              <a:ext cx="2381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7" name="Freeform 57"/>
            <p:cNvSpPr/>
            <p:nvPr/>
          </p:nvSpPr>
          <p:spPr>
            <a:xfrm>
              <a:off x="9313862" y="11419"/>
              <a:ext cx="1774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8" name="Freeform 58"/>
            <p:cNvSpPr/>
            <p:nvPr/>
          </p:nvSpPr>
          <p:spPr>
            <a:xfrm>
              <a:off x="9264650" y="12308"/>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9" name="Freeform 59"/>
            <p:cNvSpPr/>
            <p:nvPr/>
          </p:nvSpPr>
          <p:spPr>
            <a:xfrm>
              <a:off x="2577219" y="34561"/>
              <a:ext cx="1358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0" name="Freeform 60"/>
            <p:cNvSpPr/>
            <p:nvPr/>
          </p:nvSpPr>
          <p:spPr>
            <a:xfrm>
              <a:off x="7000874" y="4923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1" name="Freeform 61"/>
            <p:cNvSpPr/>
            <p:nvPr/>
          </p:nvSpPr>
          <p:spPr>
            <a:xfrm>
              <a:off x="6938961" y="43892"/>
              <a:ext cx="66676" cy="147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2" name="Freeform 62"/>
            <p:cNvSpPr/>
            <p:nvPr/>
          </p:nvSpPr>
          <p:spPr>
            <a:xfrm>
              <a:off x="50174" y="8015"/>
              <a:ext cx="9552614" cy="58035"/>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3"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3" name="Freeform 63"/>
            <p:cNvSpPr/>
            <p:nvPr/>
          </p:nvSpPr>
          <p:spPr>
            <a:xfrm>
              <a:off x="5986817" y="43083"/>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4" name="Freeform 64"/>
            <p:cNvSpPr/>
            <p:nvPr/>
          </p:nvSpPr>
          <p:spPr>
            <a:xfrm>
              <a:off x="3907631" y="4923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5" name="Freeform 65"/>
            <p:cNvSpPr/>
            <p:nvPr/>
          </p:nvSpPr>
          <p:spPr>
            <a:xfrm>
              <a:off x="8151067" y="49852"/>
              <a:ext cx="24559"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6" name="Freeform 66"/>
            <p:cNvSpPr/>
            <p:nvPr/>
          </p:nvSpPr>
          <p:spPr>
            <a:xfrm>
              <a:off x="9444037" y="11693"/>
              <a:ext cx="3968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7" name="Freeform 67"/>
            <p:cNvSpPr/>
            <p:nvPr/>
          </p:nvSpPr>
          <p:spPr>
            <a:xfrm>
              <a:off x="9820717" y="35081"/>
              <a:ext cx="31308"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8" name="Freeform 68"/>
            <p:cNvSpPr/>
            <p:nvPr/>
          </p:nvSpPr>
          <p:spPr>
            <a:xfrm>
              <a:off x="9520237" y="24731"/>
              <a:ext cx="57453"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9" name="Freeform 69"/>
            <p:cNvSpPr/>
            <p:nvPr/>
          </p:nvSpPr>
          <p:spPr>
            <a:xfrm>
              <a:off x="9583737" y="24960"/>
              <a:ext cx="26186"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0" name="Freeform 70"/>
            <p:cNvSpPr/>
            <p:nvPr/>
          </p:nvSpPr>
          <p:spPr>
            <a:xfrm>
              <a:off x="9203277" y="12426"/>
              <a:ext cx="43773"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1" name="Freeform 71"/>
            <p:cNvSpPr/>
            <p:nvPr/>
          </p:nvSpPr>
          <p:spPr>
            <a:xfrm>
              <a:off x="9517062" y="33850"/>
              <a:ext cx="2698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2" name="Freeform 72"/>
            <p:cNvSpPr/>
            <p:nvPr/>
          </p:nvSpPr>
          <p:spPr>
            <a:xfrm>
              <a:off x="9319566" y="31735"/>
              <a:ext cx="57797"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3" name="Freeform 73"/>
            <p:cNvSpPr/>
            <p:nvPr/>
          </p:nvSpPr>
          <p:spPr>
            <a:xfrm>
              <a:off x="9377362" y="32003"/>
              <a:ext cx="36513"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4" name="Freeform 74"/>
            <p:cNvSpPr/>
            <p:nvPr/>
          </p:nvSpPr>
          <p:spPr>
            <a:xfrm>
              <a:off x="9436100" y="36312"/>
              <a:ext cx="4603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5" name="Freeform 75"/>
            <p:cNvSpPr/>
            <p:nvPr/>
          </p:nvSpPr>
          <p:spPr>
            <a:xfrm>
              <a:off x="8785839" y="32003"/>
              <a:ext cx="52253"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6" name="Freeform 76"/>
            <p:cNvSpPr/>
            <p:nvPr/>
          </p:nvSpPr>
          <p:spPr>
            <a:xfrm>
              <a:off x="8961437" y="41851"/>
              <a:ext cx="2381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7" name="Freeform 77"/>
            <p:cNvSpPr/>
            <p:nvPr/>
          </p:nvSpPr>
          <p:spPr>
            <a:xfrm>
              <a:off x="8805481" y="46159"/>
              <a:ext cx="54783"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8" name="Freeform 78"/>
            <p:cNvSpPr/>
            <p:nvPr/>
          </p:nvSpPr>
          <p:spPr>
            <a:xfrm>
              <a:off x="8098631" y="3200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9" name="Freeform 79"/>
            <p:cNvSpPr/>
            <p:nvPr/>
          </p:nvSpPr>
          <p:spPr>
            <a:xfrm>
              <a:off x="7439368" y="53425"/>
              <a:ext cx="74917"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0" name="Freeform 80"/>
            <p:cNvSpPr/>
            <p:nvPr/>
          </p:nvSpPr>
          <p:spPr>
            <a:xfrm>
              <a:off x="7483475" y="48621"/>
              <a:ext cx="17463"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1" name="Freeform 81"/>
            <p:cNvSpPr/>
            <p:nvPr/>
          </p:nvSpPr>
          <p:spPr>
            <a:xfrm>
              <a:off x="65087" y="0"/>
              <a:ext cx="38101" cy="127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2" name="Freeform 82"/>
            <p:cNvSpPr/>
            <p:nvPr/>
          </p:nvSpPr>
          <p:spPr>
            <a:xfrm>
              <a:off x="0" y="3077"/>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3" name="Freeform 83"/>
            <p:cNvSpPr/>
            <p:nvPr/>
          </p:nvSpPr>
          <p:spPr>
            <a:xfrm>
              <a:off x="5127625" y="56621"/>
              <a:ext cx="33338"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4" name="Freeform 84"/>
            <p:cNvSpPr/>
            <p:nvPr/>
          </p:nvSpPr>
          <p:spPr>
            <a:xfrm>
              <a:off x="4640262" y="49852"/>
              <a:ext cx="15876"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5" name="Freeform 85"/>
            <p:cNvSpPr/>
            <p:nvPr/>
          </p:nvSpPr>
          <p:spPr>
            <a:xfrm>
              <a:off x="4220538" y="56694"/>
              <a:ext cx="56188"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sp>
        <p:nvSpPr>
          <p:cNvPr id="4" name="Title 3">
            <a:extLst>
              <a:ext uri="{FF2B5EF4-FFF2-40B4-BE49-F238E27FC236}">
                <a16:creationId xmlns:a16="http://schemas.microsoft.com/office/drawing/2014/main" id="{33AB8E24-3231-724A-B079-75A4A5BB1985}"/>
              </a:ext>
            </a:extLst>
          </p:cNvPr>
          <p:cNvSpPr>
            <a:spLocks noGrp="1"/>
          </p:cNvSpPr>
          <p:nvPr>
            <p:ph type="title"/>
          </p:nvPr>
        </p:nvSpPr>
        <p:spPr/>
        <p:txBody>
          <a:bodyPr/>
          <a:lstStyle/>
          <a:p>
            <a:r>
              <a:rPr lang="en-US"/>
              <a:t>Click to edit Master title style</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1_Title Only">
    <p:spTree>
      <p:nvGrpSpPr>
        <p:cNvPr id="1" name=""/>
        <p:cNvGrpSpPr/>
        <p:nvPr/>
      </p:nvGrpSpPr>
      <p:grpSpPr>
        <a:xfrm>
          <a:off x="0" y="0"/>
          <a:ext cx="0" cy="0"/>
          <a:chOff x="0" y="0"/>
          <a:chExt cx="0" cy="0"/>
        </a:xfrm>
      </p:grpSpPr>
      <p:grpSp>
        <p:nvGrpSpPr>
          <p:cNvPr id="696" name="line"/>
          <p:cNvGrpSpPr/>
          <p:nvPr/>
        </p:nvGrpSpPr>
        <p:grpSpPr>
          <a:xfrm>
            <a:off x="1517650" y="1224198"/>
            <a:ext cx="10569577" cy="69395"/>
            <a:chOff x="0" y="0"/>
            <a:chExt cx="10569575" cy="69394"/>
          </a:xfrm>
        </p:grpSpPr>
        <p:sp>
          <p:nvSpPr>
            <p:cNvPr id="622" name="Freeform 10"/>
            <p:cNvSpPr/>
            <p:nvPr/>
          </p:nvSpPr>
          <p:spPr>
            <a:xfrm>
              <a:off x="10517091" y="9232"/>
              <a:ext cx="52485"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3" name="Freeform 11"/>
            <p:cNvSpPr/>
            <p:nvPr/>
          </p:nvSpPr>
          <p:spPr>
            <a:xfrm>
              <a:off x="10499725" y="14876"/>
              <a:ext cx="19050"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4" name="Freeform 12"/>
            <p:cNvSpPr/>
            <p:nvPr/>
          </p:nvSpPr>
          <p:spPr>
            <a:xfrm>
              <a:off x="10518775" y="14877"/>
              <a:ext cx="39688"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5" name="Freeform 15"/>
            <p:cNvSpPr/>
            <p:nvPr/>
          </p:nvSpPr>
          <p:spPr>
            <a:xfrm>
              <a:off x="10310955" y="10462"/>
              <a:ext cx="41133"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6" name="Freeform 16"/>
            <p:cNvSpPr/>
            <p:nvPr/>
          </p:nvSpPr>
          <p:spPr>
            <a:xfrm>
              <a:off x="10287000" y="14155"/>
              <a:ext cx="39689"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7" name="Freeform 17"/>
            <p:cNvSpPr/>
            <p:nvPr/>
          </p:nvSpPr>
          <p:spPr>
            <a:xfrm>
              <a:off x="10480675" y="20925"/>
              <a:ext cx="77788"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8" name="Freeform 18"/>
            <p:cNvSpPr/>
            <p:nvPr/>
          </p:nvSpPr>
          <p:spPr>
            <a:xfrm>
              <a:off x="10142537" y="6770"/>
              <a:ext cx="39688"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29" name="Freeform 19"/>
            <p:cNvSpPr/>
            <p:nvPr/>
          </p:nvSpPr>
          <p:spPr>
            <a:xfrm>
              <a:off x="9983787" y="5539"/>
              <a:ext cx="80073"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0" name="Freeform 20"/>
            <p:cNvSpPr/>
            <p:nvPr/>
          </p:nvSpPr>
          <p:spPr>
            <a:xfrm>
              <a:off x="9948862" y="8616"/>
              <a:ext cx="34926"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1" name="Freeform 21"/>
            <p:cNvSpPr/>
            <p:nvPr/>
          </p:nvSpPr>
          <p:spPr>
            <a:xfrm>
              <a:off x="10188575" y="12924"/>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2" name="Freeform 22"/>
            <p:cNvSpPr/>
            <p:nvPr/>
          </p:nvSpPr>
          <p:spPr>
            <a:xfrm>
              <a:off x="10169525" y="14771"/>
              <a:ext cx="3492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3" name="Freeform 23"/>
            <p:cNvSpPr/>
            <p:nvPr/>
          </p:nvSpPr>
          <p:spPr>
            <a:xfrm>
              <a:off x="10214767" y="21736"/>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634" name="Freeform 24"/>
            <p:cNvSpPr/>
            <p:nvPr/>
          </p:nvSpPr>
          <p:spPr>
            <a:xfrm>
              <a:off x="10345866" y="23387"/>
              <a:ext cx="44321"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5" name="Freeform 25"/>
            <p:cNvSpPr/>
            <p:nvPr/>
          </p:nvSpPr>
          <p:spPr>
            <a:xfrm>
              <a:off x="10242550" y="18463"/>
              <a:ext cx="44450"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6" name="Freeform 26"/>
            <p:cNvSpPr/>
            <p:nvPr/>
          </p:nvSpPr>
          <p:spPr>
            <a:xfrm>
              <a:off x="10221912" y="20310"/>
              <a:ext cx="2063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7" name="Freeform 27"/>
            <p:cNvSpPr/>
            <p:nvPr/>
          </p:nvSpPr>
          <p:spPr>
            <a:xfrm>
              <a:off x="9959975" y="14771"/>
              <a:ext cx="76927"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8" name="Freeform 28"/>
            <p:cNvSpPr/>
            <p:nvPr/>
          </p:nvSpPr>
          <p:spPr>
            <a:xfrm>
              <a:off x="10100467" y="1477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39" name="Freeform 29"/>
            <p:cNvSpPr/>
            <p:nvPr/>
          </p:nvSpPr>
          <p:spPr>
            <a:xfrm>
              <a:off x="9735342" y="1538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0" name="Freeform 30"/>
            <p:cNvSpPr/>
            <p:nvPr/>
          </p:nvSpPr>
          <p:spPr>
            <a:xfrm>
              <a:off x="10032172" y="16617"/>
              <a:ext cx="43690"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1" name="Freeform 31"/>
            <p:cNvSpPr/>
            <p:nvPr/>
          </p:nvSpPr>
          <p:spPr>
            <a:xfrm>
              <a:off x="9886950" y="11992"/>
              <a:ext cx="31750"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2" name="Freeform 32"/>
            <p:cNvSpPr/>
            <p:nvPr/>
          </p:nvSpPr>
          <p:spPr>
            <a:xfrm>
              <a:off x="10093869" y="12924"/>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3" name="Freeform 33"/>
            <p:cNvSpPr/>
            <p:nvPr/>
          </p:nvSpPr>
          <p:spPr>
            <a:xfrm>
              <a:off x="10075862" y="14155"/>
              <a:ext cx="28576"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4" name="Freeform 34"/>
            <p:cNvSpPr/>
            <p:nvPr/>
          </p:nvSpPr>
          <p:spPr>
            <a:xfrm>
              <a:off x="9626741" y="21736"/>
              <a:ext cx="157895" cy="23389"/>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5" name="Freeform 35"/>
            <p:cNvSpPr/>
            <p:nvPr/>
          </p:nvSpPr>
          <p:spPr>
            <a:xfrm>
              <a:off x="9744075" y="12924"/>
              <a:ext cx="95250"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6" name="Freeform 36"/>
            <p:cNvSpPr/>
            <p:nvPr/>
          </p:nvSpPr>
          <p:spPr>
            <a:xfrm>
              <a:off x="9839325" y="19078"/>
              <a:ext cx="120684"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7" name="Freeform 37"/>
            <p:cNvSpPr/>
            <p:nvPr/>
          </p:nvSpPr>
          <p:spPr>
            <a:xfrm>
              <a:off x="10312163" y="34466"/>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8" name="Freeform 38"/>
            <p:cNvSpPr/>
            <p:nvPr/>
          </p:nvSpPr>
          <p:spPr>
            <a:xfrm>
              <a:off x="10247794" y="28927"/>
              <a:ext cx="93566"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49" name="Freeform 39"/>
            <p:cNvSpPr/>
            <p:nvPr/>
          </p:nvSpPr>
          <p:spPr>
            <a:xfrm>
              <a:off x="10033000" y="27695"/>
              <a:ext cx="66075"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0" name="Freeform 40"/>
            <p:cNvSpPr/>
            <p:nvPr/>
          </p:nvSpPr>
          <p:spPr>
            <a:xfrm>
              <a:off x="9701212" y="12309"/>
              <a:ext cx="38101"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1" name="Freeform 41"/>
            <p:cNvSpPr/>
            <p:nvPr/>
          </p:nvSpPr>
          <p:spPr>
            <a:xfrm>
              <a:off x="9623425" y="11693"/>
              <a:ext cx="22226"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2" name="Freeform 42"/>
            <p:cNvSpPr/>
            <p:nvPr/>
          </p:nvSpPr>
          <p:spPr>
            <a:xfrm>
              <a:off x="4675187" y="48005"/>
              <a:ext cx="2063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3" name="Freeform 43"/>
            <p:cNvSpPr/>
            <p:nvPr/>
          </p:nvSpPr>
          <p:spPr>
            <a:xfrm>
              <a:off x="4833675" y="46775"/>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4" name="Freeform 44"/>
            <p:cNvSpPr/>
            <p:nvPr/>
          </p:nvSpPr>
          <p:spPr>
            <a:xfrm>
              <a:off x="7431415" y="7808"/>
              <a:ext cx="58410"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5" name="Freeform 45"/>
            <p:cNvSpPr/>
            <p:nvPr/>
          </p:nvSpPr>
          <p:spPr>
            <a:xfrm>
              <a:off x="6015037" y="29542"/>
              <a:ext cx="2857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6" name="Freeform 46"/>
            <p:cNvSpPr/>
            <p:nvPr/>
          </p:nvSpPr>
          <p:spPr>
            <a:xfrm>
              <a:off x="5956300" y="44928"/>
              <a:ext cx="38100"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7" name="Freeform 47"/>
            <p:cNvSpPr/>
            <p:nvPr/>
          </p:nvSpPr>
          <p:spPr>
            <a:xfrm>
              <a:off x="3887787" y="51699"/>
              <a:ext cx="24279" cy="12700"/>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8" name="Freeform 48"/>
            <p:cNvSpPr/>
            <p:nvPr/>
          </p:nvSpPr>
          <p:spPr>
            <a:xfrm>
              <a:off x="8683625" y="13367"/>
              <a:ext cx="6191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59" name="Freeform 49"/>
            <p:cNvSpPr/>
            <p:nvPr/>
          </p:nvSpPr>
          <p:spPr>
            <a:xfrm>
              <a:off x="4735512" y="8001"/>
              <a:ext cx="16900"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0" name="Freeform 50"/>
            <p:cNvSpPr/>
            <p:nvPr/>
          </p:nvSpPr>
          <p:spPr>
            <a:xfrm>
              <a:off x="8612187" y="11589"/>
              <a:ext cx="71438"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1" name="Freeform 51"/>
            <p:cNvSpPr/>
            <p:nvPr/>
          </p:nvSpPr>
          <p:spPr>
            <a:xfrm>
              <a:off x="1058469" y="41851"/>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2" name="Freeform 52"/>
            <p:cNvSpPr/>
            <p:nvPr/>
          </p:nvSpPr>
          <p:spPr>
            <a:xfrm>
              <a:off x="239712" y="3846"/>
              <a:ext cx="34926"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3" name="Freeform 53"/>
            <p:cNvSpPr/>
            <p:nvPr/>
          </p:nvSpPr>
          <p:spPr>
            <a:xfrm>
              <a:off x="9288269" y="11419"/>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4" name="Freeform 54"/>
            <p:cNvSpPr/>
            <p:nvPr/>
          </p:nvSpPr>
          <p:spPr>
            <a:xfrm>
              <a:off x="9371805" y="2769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5" name="Freeform 55"/>
            <p:cNvSpPr/>
            <p:nvPr/>
          </p:nvSpPr>
          <p:spPr>
            <a:xfrm>
              <a:off x="8420179" y="35355"/>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6" name="Freeform 56"/>
            <p:cNvSpPr/>
            <p:nvPr/>
          </p:nvSpPr>
          <p:spPr>
            <a:xfrm>
              <a:off x="9294812" y="12924"/>
              <a:ext cx="2381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7" name="Freeform 57"/>
            <p:cNvSpPr/>
            <p:nvPr/>
          </p:nvSpPr>
          <p:spPr>
            <a:xfrm>
              <a:off x="9313862" y="11419"/>
              <a:ext cx="1774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8" name="Freeform 58"/>
            <p:cNvSpPr/>
            <p:nvPr/>
          </p:nvSpPr>
          <p:spPr>
            <a:xfrm>
              <a:off x="9264650" y="12308"/>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69" name="Freeform 59"/>
            <p:cNvSpPr/>
            <p:nvPr/>
          </p:nvSpPr>
          <p:spPr>
            <a:xfrm>
              <a:off x="2577219" y="34561"/>
              <a:ext cx="1358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0" name="Freeform 60"/>
            <p:cNvSpPr/>
            <p:nvPr/>
          </p:nvSpPr>
          <p:spPr>
            <a:xfrm>
              <a:off x="7000874" y="4923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1" name="Freeform 61"/>
            <p:cNvSpPr/>
            <p:nvPr/>
          </p:nvSpPr>
          <p:spPr>
            <a:xfrm>
              <a:off x="6938961" y="43892"/>
              <a:ext cx="66676" cy="147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2" name="Freeform 62"/>
            <p:cNvSpPr/>
            <p:nvPr/>
          </p:nvSpPr>
          <p:spPr>
            <a:xfrm>
              <a:off x="50174" y="8015"/>
              <a:ext cx="9552614" cy="58035"/>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3"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3" name="Freeform 63"/>
            <p:cNvSpPr/>
            <p:nvPr/>
          </p:nvSpPr>
          <p:spPr>
            <a:xfrm>
              <a:off x="5986817" y="43083"/>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4" name="Freeform 64"/>
            <p:cNvSpPr/>
            <p:nvPr/>
          </p:nvSpPr>
          <p:spPr>
            <a:xfrm>
              <a:off x="3907631" y="4923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5" name="Freeform 65"/>
            <p:cNvSpPr/>
            <p:nvPr/>
          </p:nvSpPr>
          <p:spPr>
            <a:xfrm>
              <a:off x="8151067" y="49852"/>
              <a:ext cx="24559"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6" name="Freeform 66"/>
            <p:cNvSpPr/>
            <p:nvPr/>
          </p:nvSpPr>
          <p:spPr>
            <a:xfrm>
              <a:off x="9444037" y="11693"/>
              <a:ext cx="3968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7" name="Freeform 67"/>
            <p:cNvSpPr/>
            <p:nvPr/>
          </p:nvSpPr>
          <p:spPr>
            <a:xfrm>
              <a:off x="9820717" y="35081"/>
              <a:ext cx="31308"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8" name="Freeform 68"/>
            <p:cNvSpPr/>
            <p:nvPr/>
          </p:nvSpPr>
          <p:spPr>
            <a:xfrm>
              <a:off x="9520237" y="24731"/>
              <a:ext cx="57453"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79" name="Freeform 69"/>
            <p:cNvSpPr/>
            <p:nvPr/>
          </p:nvSpPr>
          <p:spPr>
            <a:xfrm>
              <a:off x="9583737" y="24960"/>
              <a:ext cx="26186"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0" name="Freeform 70"/>
            <p:cNvSpPr/>
            <p:nvPr/>
          </p:nvSpPr>
          <p:spPr>
            <a:xfrm>
              <a:off x="9203277" y="12426"/>
              <a:ext cx="43773"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1" name="Freeform 71"/>
            <p:cNvSpPr/>
            <p:nvPr/>
          </p:nvSpPr>
          <p:spPr>
            <a:xfrm>
              <a:off x="9517062" y="33850"/>
              <a:ext cx="2698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2" name="Freeform 72"/>
            <p:cNvSpPr/>
            <p:nvPr/>
          </p:nvSpPr>
          <p:spPr>
            <a:xfrm>
              <a:off x="9319566" y="31735"/>
              <a:ext cx="57797"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3" name="Freeform 73"/>
            <p:cNvSpPr/>
            <p:nvPr/>
          </p:nvSpPr>
          <p:spPr>
            <a:xfrm>
              <a:off x="9377362" y="32003"/>
              <a:ext cx="36513"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4" name="Freeform 74"/>
            <p:cNvSpPr/>
            <p:nvPr/>
          </p:nvSpPr>
          <p:spPr>
            <a:xfrm>
              <a:off x="9436100" y="36312"/>
              <a:ext cx="4603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5" name="Freeform 75"/>
            <p:cNvSpPr/>
            <p:nvPr/>
          </p:nvSpPr>
          <p:spPr>
            <a:xfrm>
              <a:off x="8785839" y="32003"/>
              <a:ext cx="52253"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6" name="Freeform 76"/>
            <p:cNvSpPr/>
            <p:nvPr/>
          </p:nvSpPr>
          <p:spPr>
            <a:xfrm>
              <a:off x="8961437" y="41851"/>
              <a:ext cx="2381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7" name="Freeform 77"/>
            <p:cNvSpPr/>
            <p:nvPr/>
          </p:nvSpPr>
          <p:spPr>
            <a:xfrm>
              <a:off x="8805481" y="46159"/>
              <a:ext cx="54783"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8" name="Freeform 78"/>
            <p:cNvSpPr/>
            <p:nvPr/>
          </p:nvSpPr>
          <p:spPr>
            <a:xfrm>
              <a:off x="8098631" y="3200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9" name="Freeform 79"/>
            <p:cNvSpPr/>
            <p:nvPr/>
          </p:nvSpPr>
          <p:spPr>
            <a:xfrm>
              <a:off x="7439368" y="53425"/>
              <a:ext cx="74917"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0" name="Freeform 80"/>
            <p:cNvSpPr/>
            <p:nvPr/>
          </p:nvSpPr>
          <p:spPr>
            <a:xfrm>
              <a:off x="7483475" y="48621"/>
              <a:ext cx="17463"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1" name="Freeform 81"/>
            <p:cNvSpPr/>
            <p:nvPr/>
          </p:nvSpPr>
          <p:spPr>
            <a:xfrm>
              <a:off x="65087" y="0"/>
              <a:ext cx="38101" cy="127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2" name="Freeform 82"/>
            <p:cNvSpPr/>
            <p:nvPr/>
          </p:nvSpPr>
          <p:spPr>
            <a:xfrm>
              <a:off x="0" y="3077"/>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3" name="Freeform 83"/>
            <p:cNvSpPr/>
            <p:nvPr/>
          </p:nvSpPr>
          <p:spPr>
            <a:xfrm>
              <a:off x="5127625" y="56621"/>
              <a:ext cx="33338"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4" name="Freeform 84"/>
            <p:cNvSpPr/>
            <p:nvPr/>
          </p:nvSpPr>
          <p:spPr>
            <a:xfrm>
              <a:off x="4640262" y="49852"/>
              <a:ext cx="15876"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95" name="Freeform 85"/>
            <p:cNvSpPr/>
            <p:nvPr/>
          </p:nvSpPr>
          <p:spPr>
            <a:xfrm>
              <a:off x="4220538" y="56694"/>
              <a:ext cx="56188"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sp>
        <p:nvSpPr>
          <p:cNvPr id="697" name="Title Text"/>
          <p:cNvSpPr txBox="1">
            <a:spLocks noGrp="1"/>
          </p:cNvSpPr>
          <p:nvPr>
            <p:ph type="title"/>
          </p:nvPr>
        </p:nvSpPr>
        <p:spPr>
          <a:xfrm>
            <a:off x="1517650" y="249790"/>
            <a:ext cx="9143999" cy="868914"/>
          </a:xfrm>
          <a:prstGeom prst="rect">
            <a:avLst/>
          </a:prstGeom>
        </p:spPr>
        <p:txBody>
          <a:bodyPr/>
          <a:lstStyle/>
          <a:p>
            <a:r>
              <a:t>Title Text</a:t>
            </a:r>
          </a:p>
        </p:txBody>
      </p:sp>
      <p:sp>
        <p:nvSpPr>
          <p:cNvPr id="3" name="Slide Number Placeholder 2">
            <a:extLst>
              <a:ext uri="{FF2B5EF4-FFF2-40B4-BE49-F238E27FC236}">
                <a16:creationId xmlns:a16="http://schemas.microsoft.com/office/drawing/2014/main" id="{36DAA309-6F6C-F14C-96E0-BAAB6458E130}"/>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0104456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grpSp>
        <p:nvGrpSpPr>
          <p:cNvPr id="1014" name="frame"/>
          <p:cNvGrpSpPr/>
          <p:nvPr/>
        </p:nvGrpSpPr>
        <p:grpSpPr>
          <a:xfrm>
            <a:off x="4417838" y="1630342"/>
            <a:ext cx="6291029" cy="4576844"/>
            <a:chOff x="0" y="0"/>
            <a:chExt cx="6291028" cy="4576842"/>
          </a:xfrm>
        </p:grpSpPr>
        <p:grpSp>
          <p:nvGrpSpPr>
            <p:cNvPr id="862" name="Group 615"/>
            <p:cNvGrpSpPr/>
            <p:nvPr/>
          </p:nvGrpSpPr>
          <p:grpSpPr>
            <a:xfrm>
              <a:off x="996652" y="0"/>
              <a:ext cx="5294377" cy="4115280"/>
              <a:chOff x="0" y="0"/>
              <a:chExt cx="5294376" cy="4115279"/>
            </a:xfrm>
          </p:grpSpPr>
          <p:grpSp>
            <p:nvGrpSpPr>
              <p:cNvPr id="786" name="Group 767"/>
              <p:cNvGrpSpPr/>
              <p:nvPr/>
            </p:nvGrpSpPr>
            <p:grpSpPr>
              <a:xfrm>
                <a:off x="-1" y="19243"/>
                <a:ext cx="5294378" cy="61297"/>
                <a:chOff x="0" y="0"/>
                <a:chExt cx="5294376" cy="61295"/>
              </a:xfrm>
            </p:grpSpPr>
            <p:sp>
              <p:nvSpPr>
                <p:cNvPr id="712" name="Freeform 843"/>
                <p:cNvSpPr/>
                <p:nvPr/>
              </p:nvSpPr>
              <p:spPr>
                <a:xfrm flipH="1">
                  <a:off x="-1" y="7913"/>
                  <a:ext cx="26291"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13" name="Freeform 844"/>
                <p:cNvSpPr/>
                <p:nvPr/>
              </p:nvSpPr>
              <p:spPr>
                <a:xfrm flipH="1">
                  <a:off x="23867" y="12751"/>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14" name="Freeform 845"/>
                <p:cNvSpPr/>
                <p:nvPr/>
              </p:nvSpPr>
              <p:spPr>
                <a:xfrm flipH="1">
                  <a:off x="5566" y="12752"/>
                  <a:ext cx="1988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15" name="Freeform 15"/>
                <p:cNvSpPr/>
                <p:nvPr/>
              </p:nvSpPr>
              <p:spPr>
                <a:xfrm flipH="1">
                  <a:off x="108941" y="8967"/>
                  <a:ext cx="20604"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16" name="Freeform 16"/>
                <p:cNvSpPr/>
                <p:nvPr/>
              </p:nvSpPr>
              <p:spPr>
                <a:xfrm flipH="1">
                  <a:off x="121663" y="12133"/>
                  <a:ext cx="19881"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17" name="Freeform 17"/>
                <p:cNvSpPr/>
                <p:nvPr/>
              </p:nvSpPr>
              <p:spPr>
                <a:xfrm flipH="1">
                  <a:off x="5566" y="17936"/>
                  <a:ext cx="38965"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18" name="Freeform 18"/>
                <p:cNvSpPr/>
                <p:nvPr/>
              </p:nvSpPr>
              <p:spPr>
                <a:xfrm flipH="1">
                  <a:off x="194026" y="5803"/>
                  <a:ext cx="19881"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19" name="Freeform 19"/>
                <p:cNvSpPr/>
                <p:nvPr/>
              </p:nvSpPr>
              <p:spPr>
                <a:xfrm flipH="1">
                  <a:off x="253316" y="4748"/>
                  <a:ext cx="40110"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0" name="Freeform 20"/>
                <p:cNvSpPr/>
                <p:nvPr/>
              </p:nvSpPr>
              <p:spPr>
                <a:xfrm flipH="1">
                  <a:off x="293425" y="7385"/>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1" name="Freeform 21"/>
                <p:cNvSpPr/>
                <p:nvPr/>
              </p:nvSpPr>
              <p:spPr>
                <a:xfrm flipH="1">
                  <a:off x="175737" y="11078"/>
                  <a:ext cx="1510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2" name="Freeform 22"/>
                <p:cNvSpPr/>
                <p:nvPr/>
              </p:nvSpPr>
              <p:spPr>
                <a:xfrm flipH="1">
                  <a:off x="182893" y="12660"/>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3" name="Freeform 23"/>
                <p:cNvSpPr/>
                <p:nvPr/>
              </p:nvSpPr>
              <p:spPr>
                <a:xfrm flipH="1">
                  <a:off x="168194" y="19538"/>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724" name="Freeform 24"/>
                <p:cNvSpPr/>
                <p:nvPr/>
              </p:nvSpPr>
              <p:spPr>
                <a:xfrm flipH="1">
                  <a:off x="89856" y="20046"/>
                  <a:ext cx="22202"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5" name="Freeform 25"/>
                <p:cNvSpPr/>
                <p:nvPr/>
              </p:nvSpPr>
              <p:spPr>
                <a:xfrm flipH="1">
                  <a:off x="141543" y="15826"/>
                  <a:ext cx="22267"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6" name="Freeform 26"/>
                <p:cNvSpPr/>
                <p:nvPr/>
              </p:nvSpPr>
              <p:spPr>
                <a:xfrm flipH="1">
                  <a:off x="162628" y="1740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7" name="Freeform 27"/>
                <p:cNvSpPr/>
                <p:nvPr/>
              </p:nvSpPr>
              <p:spPr>
                <a:xfrm flipH="1">
                  <a:off x="266819" y="12660"/>
                  <a:ext cx="38535"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8" name="Freeform 28"/>
                <p:cNvSpPr/>
                <p:nvPr/>
              </p:nvSpPr>
              <p:spPr>
                <a:xfrm flipH="1">
                  <a:off x="225448" y="1266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29" name="Freeform 29"/>
                <p:cNvSpPr/>
                <p:nvPr/>
              </p:nvSpPr>
              <p:spPr>
                <a:xfrm flipH="1">
                  <a:off x="408342" y="1318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0" name="Freeform 30"/>
                <p:cNvSpPr/>
                <p:nvPr/>
              </p:nvSpPr>
              <p:spPr>
                <a:xfrm flipH="1">
                  <a:off x="247304" y="14243"/>
                  <a:ext cx="21885"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1" name="Freeform 31"/>
                <p:cNvSpPr/>
                <p:nvPr/>
              </p:nvSpPr>
              <p:spPr>
                <a:xfrm flipH="1">
                  <a:off x="326027" y="10278"/>
                  <a:ext cx="15905"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2" name="Freeform 32"/>
                <p:cNvSpPr/>
                <p:nvPr/>
              </p:nvSpPr>
              <p:spPr>
                <a:xfrm flipH="1">
                  <a:off x="228753" y="11078"/>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3" name="Freeform 33"/>
                <p:cNvSpPr/>
                <p:nvPr/>
              </p:nvSpPr>
              <p:spPr>
                <a:xfrm flipH="1">
                  <a:off x="232990" y="12133"/>
                  <a:ext cx="14315"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4" name="Freeform 34"/>
                <p:cNvSpPr/>
                <p:nvPr/>
              </p:nvSpPr>
              <p:spPr>
                <a:xfrm flipH="1">
                  <a:off x="393181" y="19538"/>
                  <a:ext cx="79092" cy="20048"/>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5" name="Freeform 35"/>
                <p:cNvSpPr/>
                <p:nvPr/>
              </p:nvSpPr>
              <p:spPr>
                <a:xfrm flipH="1">
                  <a:off x="365787" y="11078"/>
                  <a:ext cx="47712"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6" name="Freeform 36"/>
                <p:cNvSpPr/>
                <p:nvPr/>
              </p:nvSpPr>
              <p:spPr>
                <a:xfrm flipH="1">
                  <a:off x="305336" y="16353"/>
                  <a:ext cx="60452"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7" name="Freeform 37"/>
                <p:cNvSpPr/>
                <p:nvPr/>
              </p:nvSpPr>
              <p:spPr>
                <a:xfrm flipH="1">
                  <a:off x="119408" y="29542"/>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8" name="Freeform 38"/>
                <p:cNvSpPr/>
                <p:nvPr/>
              </p:nvSpPr>
              <p:spPr>
                <a:xfrm flipH="1">
                  <a:off x="114315" y="24794"/>
                  <a:ext cx="46868"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39" name="Freeform 39"/>
                <p:cNvSpPr/>
                <p:nvPr/>
              </p:nvSpPr>
              <p:spPr>
                <a:xfrm flipH="1">
                  <a:off x="235677" y="23739"/>
                  <a:ext cx="33098"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0" name="Freeform 40"/>
                <p:cNvSpPr/>
                <p:nvPr/>
              </p:nvSpPr>
              <p:spPr>
                <a:xfrm flipH="1">
                  <a:off x="415884" y="10551"/>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1" name="Freeform 41"/>
                <p:cNvSpPr/>
                <p:nvPr/>
              </p:nvSpPr>
              <p:spPr>
                <a:xfrm flipH="1">
                  <a:off x="462017" y="1002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2" name="Freeform 42"/>
                <p:cNvSpPr/>
                <p:nvPr/>
              </p:nvSpPr>
              <p:spPr>
                <a:xfrm flipH="1">
                  <a:off x="2941022" y="4114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3" name="Freeform 43"/>
                <p:cNvSpPr/>
                <p:nvPr/>
              </p:nvSpPr>
              <p:spPr>
                <a:xfrm flipH="1">
                  <a:off x="2863622" y="40092"/>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4" name="Freeform 44"/>
                <p:cNvSpPr/>
                <p:nvPr/>
              </p:nvSpPr>
              <p:spPr>
                <a:xfrm flipH="1">
                  <a:off x="1542669" y="6692"/>
                  <a:ext cx="29258"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5" name="Freeform 45"/>
                <p:cNvSpPr/>
                <p:nvPr/>
              </p:nvSpPr>
              <p:spPr>
                <a:xfrm flipH="1">
                  <a:off x="2267087" y="25321"/>
                  <a:ext cx="14314"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6" name="Freeform 46"/>
                <p:cNvSpPr/>
                <p:nvPr/>
              </p:nvSpPr>
              <p:spPr>
                <a:xfrm flipH="1">
                  <a:off x="2291738" y="38510"/>
                  <a:ext cx="1908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7" name="Freeform 47"/>
                <p:cNvSpPr/>
                <p:nvPr/>
              </p:nvSpPr>
              <p:spPr>
                <a:xfrm flipH="1">
                  <a:off x="3334525" y="44313"/>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8" name="Freeform 48"/>
                <p:cNvSpPr/>
                <p:nvPr/>
              </p:nvSpPr>
              <p:spPr>
                <a:xfrm flipH="1">
                  <a:off x="913673" y="11457"/>
                  <a:ext cx="3101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49" name="Freeform 49"/>
                <p:cNvSpPr/>
                <p:nvPr/>
              </p:nvSpPr>
              <p:spPr>
                <a:xfrm flipH="1">
                  <a:off x="2911741" y="6858"/>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0" name="Freeform 50"/>
                <p:cNvSpPr/>
                <p:nvPr/>
              </p:nvSpPr>
              <p:spPr>
                <a:xfrm flipH="1">
                  <a:off x="944686" y="9934"/>
                  <a:ext cx="35784"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1" name="Freeform 51"/>
                <p:cNvSpPr/>
                <p:nvPr/>
              </p:nvSpPr>
              <p:spPr>
                <a:xfrm flipH="1">
                  <a:off x="4754650" y="35873"/>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2" name="Freeform 52"/>
                <p:cNvSpPr/>
                <p:nvPr/>
              </p:nvSpPr>
              <p:spPr>
                <a:xfrm flipH="1">
                  <a:off x="5156808" y="3297"/>
                  <a:ext cx="17495"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3" name="Freeform 53"/>
                <p:cNvSpPr/>
                <p:nvPr/>
              </p:nvSpPr>
              <p:spPr>
                <a:xfrm flipH="1">
                  <a:off x="632284" y="9788"/>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4" name="Freeform 54"/>
                <p:cNvSpPr/>
                <p:nvPr/>
              </p:nvSpPr>
              <p:spPr>
                <a:xfrm flipH="1">
                  <a:off x="590440" y="2373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5" name="Freeform 55"/>
                <p:cNvSpPr/>
                <p:nvPr/>
              </p:nvSpPr>
              <p:spPr>
                <a:xfrm flipH="1">
                  <a:off x="1067117" y="30304"/>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6" name="Freeform 56"/>
                <p:cNvSpPr/>
                <p:nvPr/>
              </p:nvSpPr>
              <p:spPr>
                <a:xfrm flipH="1">
                  <a:off x="626224" y="1107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7" name="Freeform 57"/>
                <p:cNvSpPr/>
                <p:nvPr/>
              </p:nvSpPr>
              <p:spPr>
                <a:xfrm flipH="1">
                  <a:off x="618202" y="9788"/>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8" name="Freeform 58"/>
                <p:cNvSpPr/>
                <p:nvPr/>
              </p:nvSpPr>
              <p:spPr>
                <a:xfrm flipH="1">
                  <a:off x="638537" y="10550"/>
                  <a:ext cx="15110"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59" name="Freeform 59"/>
                <p:cNvSpPr/>
                <p:nvPr/>
              </p:nvSpPr>
              <p:spPr>
                <a:xfrm flipH="1">
                  <a:off x="3993677" y="29623"/>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0" name="Freeform 60"/>
                <p:cNvSpPr/>
                <p:nvPr/>
              </p:nvSpPr>
              <p:spPr>
                <a:xfrm flipH="1">
                  <a:off x="1778056" y="4220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1" name="Freeform 61"/>
                <p:cNvSpPr/>
                <p:nvPr/>
              </p:nvSpPr>
              <p:spPr>
                <a:xfrm flipH="1">
                  <a:off x="1785202" y="38509"/>
                  <a:ext cx="33399"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2" name="Freeform 62"/>
                <p:cNvSpPr/>
                <p:nvPr/>
              </p:nvSpPr>
              <p:spPr>
                <a:xfrm flipH="1">
                  <a:off x="484270" y="7777"/>
                  <a:ext cx="4784974" cy="49744"/>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2"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3" name="Freeform 63"/>
                <p:cNvSpPr/>
                <p:nvPr/>
              </p:nvSpPr>
              <p:spPr>
                <a:xfrm flipH="1">
                  <a:off x="2286005" y="36928"/>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4" name="Freeform 64"/>
                <p:cNvSpPr/>
                <p:nvPr/>
              </p:nvSpPr>
              <p:spPr>
                <a:xfrm flipH="1">
                  <a:off x="3327484" y="4220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5" name="Freeform 65"/>
                <p:cNvSpPr/>
                <p:nvPr/>
              </p:nvSpPr>
              <p:spPr>
                <a:xfrm flipH="1">
                  <a:off x="1198947" y="42730"/>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6" name="Freeform 66"/>
                <p:cNvSpPr/>
                <p:nvPr/>
              </p:nvSpPr>
              <p:spPr>
                <a:xfrm flipH="1">
                  <a:off x="543910" y="10022"/>
                  <a:ext cx="1988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7" name="Freeform 67"/>
                <p:cNvSpPr/>
                <p:nvPr/>
              </p:nvSpPr>
              <p:spPr>
                <a:xfrm flipH="1">
                  <a:off x="359425" y="30069"/>
                  <a:ext cx="15683"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8" name="Freeform 68"/>
                <p:cNvSpPr/>
                <p:nvPr/>
              </p:nvSpPr>
              <p:spPr>
                <a:xfrm flipH="1">
                  <a:off x="496842" y="21198"/>
                  <a:ext cx="28779"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69" name="Freeform 69"/>
                <p:cNvSpPr/>
                <p:nvPr/>
              </p:nvSpPr>
              <p:spPr>
                <a:xfrm flipH="1">
                  <a:off x="480697" y="21395"/>
                  <a:ext cx="13117"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0" name="Freeform 70"/>
                <p:cNvSpPr/>
                <p:nvPr/>
              </p:nvSpPr>
              <p:spPr>
                <a:xfrm flipH="1">
                  <a:off x="662462" y="10651"/>
                  <a:ext cx="21927"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1" name="Freeform 71"/>
                <p:cNvSpPr/>
                <p:nvPr/>
              </p:nvSpPr>
              <p:spPr>
                <a:xfrm flipH="1">
                  <a:off x="513693" y="29014"/>
                  <a:ext cx="1351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2" name="Freeform 72"/>
                <p:cNvSpPr/>
                <p:nvPr/>
              </p:nvSpPr>
              <p:spPr>
                <a:xfrm flipH="1">
                  <a:off x="597188" y="27201"/>
                  <a:ext cx="28951"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3" name="Freeform 73"/>
                <p:cNvSpPr/>
                <p:nvPr/>
              </p:nvSpPr>
              <p:spPr>
                <a:xfrm flipH="1">
                  <a:off x="578898" y="27432"/>
                  <a:ext cx="1829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4" name="Freeform 74"/>
                <p:cNvSpPr/>
                <p:nvPr/>
              </p:nvSpPr>
              <p:spPr>
                <a:xfrm flipH="1">
                  <a:off x="544705" y="31125"/>
                  <a:ext cx="2306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5" name="Freeform 75"/>
                <p:cNvSpPr/>
                <p:nvPr/>
              </p:nvSpPr>
              <p:spPr>
                <a:xfrm flipH="1">
                  <a:off x="867312" y="27432"/>
                  <a:ext cx="26174"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6" name="Freeform 76"/>
                <p:cNvSpPr/>
                <p:nvPr/>
              </p:nvSpPr>
              <p:spPr>
                <a:xfrm flipH="1">
                  <a:off x="793214" y="3587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7" name="Freeform 77"/>
                <p:cNvSpPr/>
                <p:nvPr/>
              </p:nvSpPr>
              <p:spPr>
                <a:xfrm flipH="1">
                  <a:off x="856206" y="39565"/>
                  <a:ext cx="27442"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8" name="Freeform 78"/>
                <p:cNvSpPr/>
                <p:nvPr/>
              </p:nvSpPr>
              <p:spPr>
                <a:xfrm flipH="1">
                  <a:off x="1228182" y="2743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79" name="Freeform 79"/>
                <p:cNvSpPr/>
                <p:nvPr/>
              </p:nvSpPr>
              <p:spPr>
                <a:xfrm flipH="1">
                  <a:off x="1530417" y="45793"/>
                  <a:ext cx="37527"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0" name="Freeform 80"/>
                <p:cNvSpPr/>
                <p:nvPr/>
              </p:nvSpPr>
              <p:spPr>
                <a:xfrm flipH="1">
                  <a:off x="1535126" y="4167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1" name="Freeform 81"/>
                <p:cNvSpPr/>
                <p:nvPr/>
              </p:nvSpPr>
              <p:spPr>
                <a:xfrm flipH="1">
                  <a:off x="5242688" y="0"/>
                  <a:ext cx="19086" cy="127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2" name="Freeform 82"/>
                <p:cNvSpPr/>
                <p:nvPr/>
              </p:nvSpPr>
              <p:spPr>
                <a:xfrm flipH="1">
                  <a:off x="5279267" y="2637"/>
                  <a:ext cx="15110"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3" name="Freeform 83"/>
                <p:cNvSpPr/>
                <p:nvPr/>
              </p:nvSpPr>
              <p:spPr>
                <a:xfrm flipH="1">
                  <a:off x="2709213" y="48533"/>
                  <a:ext cx="1669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4" name="Freeform 84"/>
                <p:cNvSpPr/>
                <p:nvPr/>
              </p:nvSpPr>
              <p:spPr>
                <a:xfrm flipH="1">
                  <a:off x="2959709" y="4273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5" name="Freeform 85"/>
                <p:cNvSpPr/>
                <p:nvPr/>
              </p:nvSpPr>
              <p:spPr>
                <a:xfrm flipH="1">
                  <a:off x="3152133" y="48595"/>
                  <a:ext cx="28145"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nvGrpSpPr>
              <p:cNvPr id="861" name="Group 768"/>
              <p:cNvGrpSpPr/>
              <p:nvPr/>
            </p:nvGrpSpPr>
            <p:grpSpPr>
              <a:xfrm>
                <a:off x="5216898" y="0"/>
                <a:ext cx="45098" cy="4115280"/>
                <a:chOff x="0" y="0"/>
                <a:chExt cx="45096" cy="4115279"/>
              </a:xfrm>
            </p:grpSpPr>
            <p:sp>
              <p:nvSpPr>
                <p:cNvPr id="787" name="Freeform 769"/>
                <p:cNvSpPr/>
                <p:nvPr/>
              </p:nvSpPr>
              <p:spPr>
                <a:xfrm rot="16200000" flipH="1">
                  <a:off x="1409" y="4098712"/>
                  <a:ext cx="20433"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8" name="Freeform 770"/>
                <p:cNvSpPr/>
                <p:nvPr/>
              </p:nvSpPr>
              <p:spPr>
                <a:xfrm rot="16200000" flipH="1">
                  <a:off x="8500" y="4085444"/>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89" name="Freeform 771"/>
                <p:cNvSpPr/>
                <p:nvPr/>
              </p:nvSpPr>
              <p:spPr>
                <a:xfrm rot="16200000" flipH="1">
                  <a:off x="7126" y="4096877"/>
                  <a:ext cx="1545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0" name="Freeform 15"/>
                <p:cNvSpPr/>
                <p:nvPr/>
              </p:nvSpPr>
              <p:spPr>
                <a:xfrm rot="16200000" flipH="1">
                  <a:off x="4322" y="4016253"/>
                  <a:ext cx="16013"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1" name="Freeform 16"/>
                <p:cNvSpPr/>
                <p:nvPr/>
              </p:nvSpPr>
              <p:spPr>
                <a:xfrm rot="16200000" flipH="1">
                  <a:off x="6713" y="4006646"/>
                  <a:ext cx="15452"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2" name="Freeform 17"/>
                <p:cNvSpPr/>
                <p:nvPr/>
              </p:nvSpPr>
              <p:spPr>
                <a:xfrm rot="16200000" flipH="1">
                  <a:off x="3166" y="4089461"/>
                  <a:ext cx="30284"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3" name="Freeform 18"/>
                <p:cNvSpPr/>
                <p:nvPr/>
              </p:nvSpPr>
              <p:spPr>
                <a:xfrm rot="16200000" flipH="1">
                  <a:off x="2493" y="3950405"/>
                  <a:ext cx="15452"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4" name="Freeform 19"/>
                <p:cNvSpPr/>
                <p:nvPr/>
              </p:nvSpPr>
              <p:spPr>
                <a:xfrm rot="16200000" flipH="1">
                  <a:off x="-6071" y="3896464"/>
                  <a:ext cx="31173"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5" name="Freeform 20"/>
                <p:cNvSpPr/>
                <p:nvPr/>
              </p:nvSpPr>
              <p:spPr>
                <a:xfrm rot="16200000" flipH="1">
                  <a:off x="4475" y="3874079"/>
                  <a:ext cx="1359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6" name="Freeform 21"/>
                <p:cNvSpPr/>
                <p:nvPr/>
              </p:nvSpPr>
              <p:spPr>
                <a:xfrm rot="16200000" flipH="1">
                  <a:off x="7385" y="396647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7" name="Freeform 22"/>
                <p:cNvSpPr/>
                <p:nvPr/>
              </p:nvSpPr>
              <p:spPr>
                <a:xfrm rot="16200000" flipH="1">
                  <a:off x="7992" y="3959985"/>
                  <a:ext cx="13597"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798" name="Freeform 23"/>
                <p:cNvSpPr/>
                <p:nvPr/>
              </p:nvSpPr>
              <p:spPr>
                <a:xfrm rot="16200000" flipH="1">
                  <a:off x="8157" y="3980257"/>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799" name="Freeform 24"/>
                <p:cNvSpPr/>
                <p:nvPr/>
              </p:nvSpPr>
              <p:spPr>
                <a:xfrm rot="16200000" flipH="1">
                  <a:off x="11087" y="4030464"/>
                  <a:ext cx="17255"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0" name="Freeform 25"/>
                <p:cNvSpPr/>
                <p:nvPr/>
              </p:nvSpPr>
              <p:spPr>
                <a:xfrm rot="16200000" flipH="1">
                  <a:off x="8248" y="3990268"/>
                  <a:ext cx="1730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1" name="Freeform 26"/>
                <p:cNvSpPr/>
                <p:nvPr/>
              </p:nvSpPr>
              <p:spPr>
                <a:xfrm rot="16200000" flipH="1">
                  <a:off x="11606" y="3977598"/>
                  <a:ext cx="12700"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2" name="Freeform 27"/>
                <p:cNvSpPr/>
                <p:nvPr/>
              </p:nvSpPr>
              <p:spPr>
                <a:xfrm rot="16200000" flipH="1">
                  <a:off x="-184" y="3886581"/>
                  <a:ext cx="29949"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3" name="Freeform 28"/>
                <p:cNvSpPr/>
                <p:nvPr/>
              </p:nvSpPr>
              <p:spPr>
                <a:xfrm rot="16200000" flipH="1">
                  <a:off x="8440" y="392877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4" name="Freeform 29"/>
                <p:cNvSpPr/>
                <p:nvPr/>
              </p:nvSpPr>
              <p:spPr>
                <a:xfrm rot="16200000" flipH="1">
                  <a:off x="8792" y="378662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5" name="Freeform 30"/>
                <p:cNvSpPr/>
                <p:nvPr/>
              </p:nvSpPr>
              <p:spPr>
                <a:xfrm rot="16200000" flipH="1">
                  <a:off x="7341" y="3908219"/>
                  <a:ext cx="17010"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6" name="Freeform 31"/>
                <p:cNvSpPr/>
                <p:nvPr/>
              </p:nvSpPr>
              <p:spPr>
                <a:xfrm rot="16200000" flipH="1">
                  <a:off x="6852" y="3849359"/>
                  <a:ext cx="12701"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7" name="Freeform 32"/>
                <p:cNvSpPr/>
                <p:nvPr/>
              </p:nvSpPr>
              <p:spPr>
                <a:xfrm rot="16200000" flipH="1">
                  <a:off x="7385" y="3926206"/>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8" name="Freeform 33"/>
                <p:cNvSpPr/>
                <p:nvPr/>
              </p:nvSpPr>
              <p:spPr>
                <a:xfrm rot="16200000" flipH="1">
                  <a:off x="8088" y="392228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09" name="Freeform 34"/>
                <p:cNvSpPr/>
                <p:nvPr/>
              </p:nvSpPr>
              <p:spPr>
                <a:xfrm rot="16200000" flipH="1">
                  <a:off x="-8911" y="3772280"/>
                  <a:ext cx="61471" cy="13365"/>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0" name="Freeform 35"/>
                <p:cNvSpPr/>
                <p:nvPr/>
              </p:nvSpPr>
              <p:spPr>
                <a:xfrm rot="16200000" flipH="1">
                  <a:off x="-4806" y="3806097"/>
                  <a:ext cx="37083"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1" name="Freeform 36"/>
                <p:cNvSpPr/>
                <p:nvPr/>
              </p:nvSpPr>
              <p:spPr>
                <a:xfrm rot="16200000" flipH="1">
                  <a:off x="-6240" y="3848129"/>
                  <a:ext cx="46984"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2" name="Freeform 37"/>
                <p:cNvSpPr/>
                <p:nvPr/>
              </p:nvSpPr>
              <p:spPr>
                <a:xfrm rot="16200000" flipH="1">
                  <a:off x="19694" y="4011188"/>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3" name="Freeform 38"/>
                <p:cNvSpPr/>
                <p:nvPr/>
              </p:nvSpPr>
              <p:spPr>
                <a:xfrm rot="16200000" flipH="1">
                  <a:off x="4667" y="4001870"/>
                  <a:ext cx="36426"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4" name="Freeform 39"/>
                <p:cNvSpPr/>
                <p:nvPr/>
              </p:nvSpPr>
              <p:spPr>
                <a:xfrm rot="16200000" flipH="1">
                  <a:off x="9314" y="3912898"/>
                  <a:ext cx="25724"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5" name="Freeform 40"/>
                <p:cNvSpPr/>
                <p:nvPr/>
              </p:nvSpPr>
              <p:spPr>
                <a:xfrm rot="16200000" flipH="1">
                  <a:off x="5968" y="3778286"/>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6" name="Freeform 41"/>
                <p:cNvSpPr/>
                <p:nvPr/>
              </p:nvSpPr>
              <p:spPr>
                <a:xfrm rot="16200000" flipH="1">
                  <a:off x="6682" y="374491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7" name="Freeform 42"/>
                <p:cNvSpPr/>
                <p:nvPr/>
              </p:nvSpPr>
              <p:spPr>
                <a:xfrm rot="16200000" flipH="1">
                  <a:off x="27432" y="181822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8" name="Freeform 43"/>
                <p:cNvSpPr/>
                <p:nvPr/>
              </p:nvSpPr>
              <p:spPr>
                <a:xfrm rot="16200000" flipH="1">
                  <a:off x="26728" y="1878380"/>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19" name="Freeform 44"/>
                <p:cNvSpPr/>
                <p:nvPr/>
              </p:nvSpPr>
              <p:spPr>
                <a:xfrm rot="16200000" flipH="1">
                  <a:off x="-558" y="2898593"/>
                  <a:ext cx="22740"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0" name="Freeform 45"/>
                <p:cNvSpPr/>
                <p:nvPr/>
              </p:nvSpPr>
              <p:spPr>
                <a:xfrm rot="16200000" flipH="1">
                  <a:off x="16881" y="234138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1" name="Freeform 46"/>
                <p:cNvSpPr/>
                <p:nvPr/>
              </p:nvSpPr>
              <p:spPr>
                <a:xfrm rot="16200000" flipH="1">
                  <a:off x="24607" y="2320369"/>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2" name="Freeform 47"/>
                <p:cNvSpPr/>
                <p:nvPr/>
              </p:nvSpPr>
              <p:spPr>
                <a:xfrm rot="16200000" flipH="1">
                  <a:off x="29542" y="1512393"/>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3" name="Freeform 48"/>
                <p:cNvSpPr/>
                <p:nvPr/>
              </p:nvSpPr>
              <p:spPr>
                <a:xfrm rot="16200000" flipH="1">
                  <a:off x="1937" y="3386768"/>
                  <a:ext cx="2410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4" name="Freeform 49"/>
                <p:cNvSpPr/>
                <p:nvPr/>
              </p:nvSpPr>
              <p:spPr>
                <a:xfrm rot="16200000" flipH="1">
                  <a:off x="4572" y="1840982"/>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5" name="Freeform 50"/>
                <p:cNvSpPr/>
                <p:nvPr/>
              </p:nvSpPr>
              <p:spPr>
                <a:xfrm rot="16200000" flipH="1">
                  <a:off x="-933" y="3360811"/>
                  <a:ext cx="27812"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6" name="Freeform 51"/>
                <p:cNvSpPr/>
                <p:nvPr/>
              </p:nvSpPr>
              <p:spPr>
                <a:xfrm rot="16200000" flipH="1">
                  <a:off x="23915" y="408669"/>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7" name="Freeform 52"/>
                <p:cNvSpPr/>
                <p:nvPr/>
              </p:nvSpPr>
              <p:spPr>
                <a:xfrm rot="16200000" flipH="1">
                  <a:off x="1749" y="94248"/>
                  <a:ext cx="13598"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8" name="Freeform 53"/>
                <p:cNvSpPr/>
                <p:nvPr/>
              </p:nvSpPr>
              <p:spPr>
                <a:xfrm rot="16200000" flipH="1">
                  <a:off x="6525" y="3612580"/>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29" name="Freeform 54"/>
                <p:cNvSpPr/>
                <p:nvPr/>
              </p:nvSpPr>
              <p:spPr>
                <a:xfrm rot="16200000" flipH="1">
                  <a:off x="15826" y="364510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0" name="Freeform 55"/>
                <p:cNvSpPr/>
                <p:nvPr/>
              </p:nvSpPr>
              <p:spPr>
                <a:xfrm rot="16200000" flipH="1">
                  <a:off x="20202" y="3274628"/>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1" name="Freeform 56"/>
                <p:cNvSpPr/>
                <p:nvPr/>
              </p:nvSpPr>
              <p:spPr>
                <a:xfrm rot="16200000" flipH="1">
                  <a:off x="7385" y="361729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2" name="Freeform 57"/>
                <p:cNvSpPr/>
                <p:nvPr/>
              </p:nvSpPr>
              <p:spPr>
                <a:xfrm rot="16200000" flipH="1">
                  <a:off x="6525" y="3623525"/>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3" name="Freeform 58"/>
                <p:cNvSpPr/>
                <p:nvPr/>
              </p:nvSpPr>
              <p:spPr>
                <a:xfrm rot="16200000" flipH="1">
                  <a:off x="7033" y="360678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4" name="Freeform 59"/>
                <p:cNvSpPr/>
                <p:nvPr/>
              </p:nvSpPr>
              <p:spPr>
                <a:xfrm rot="16200000" flipH="1">
                  <a:off x="19749" y="1000099"/>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5" name="Freeform 60"/>
                <p:cNvSpPr/>
                <p:nvPr/>
              </p:nvSpPr>
              <p:spPr>
                <a:xfrm rot="16200000" flipH="1">
                  <a:off x="28135" y="272208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6" name="Freeform 61"/>
                <p:cNvSpPr/>
                <p:nvPr/>
              </p:nvSpPr>
              <p:spPr>
                <a:xfrm rot="16200000" flipH="1">
                  <a:off x="19044" y="2708487"/>
                  <a:ext cx="2595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7" name="Freeform 62"/>
                <p:cNvSpPr/>
                <p:nvPr/>
              </p:nvSpPr>
              <p:spPr>
                <a:xfrm rot="16200000" flipH="1">
                  <a:off x="-1835563" y="1862876"/>
                  <a:ext cx="3718892" cy="33163"/>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3"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8" name="Freeform 63"/>
                <p:cNvSpPr/>
                <p:nvPr/>
              </p:nvSpPr>
              <p:spPr>
                <a:xfrm rot="16200000" flipH="1">
                  <a:off x="24618" y="2327305"/>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39" name="Freeform 64"/>
                <p:cNvSpPr/>
                <p:nvPr/>
              </p:nvSpPr>
              <p:spPr>
                <a:xfrm rot="16200000" flipH="1">
                  <a:off x="28135" y="151786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0" name="Freeform 65"/>
                <p:cNvSpPr/>
                <p:nvPr/>
              </p:nvSpPr>
              <p:spPr>
                <a:xfrm rot="16200000" flipH="1">
                  <a:off x="28487" y="3172169"/>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1" name="Freeform 66"/>
                <p:cNvSpPr/>
                <p:nvPr/>
              </p:nvSpPr>
              <p:spPr>
                <a:xfrm rot="16200000" flipH="1">
                  <a:off x="5306" y="3678475"/>
                  <a:ext cx="15452"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2" name="Freeform 67"/>
                <p:cNvSpPr/>
                <p:nvPr/>
              </p:nvSpPr>
              <p:spPr>
                <a:xfrm rot="16200000" flipH="1">
                  <a:off x="20046" y="3823488"/>
                  <a:ext cx="12701"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3" name="Freeform 68"/>
                <p:cNvSpPr/>
                <p:nvPr/>
              </p:nvSpPr>
              <p:spPr>
                <a:xfrm rot="16200000" flipH="1">
                  <a:off x="9298" y="3711598"/>
                  <a:ext cx="22368"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4" name="Freeform 69"/>
                <p:cNvSpPr/>
                <p:nvPr/>
              </p:nvSpPr>
              <p:spPr>
                <a:xfrm rot="16200000" flipH="1">
                  <a:off x="14263" y="3730233"/>
                  <a:ext cx="12701"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5" name="Freeform 70"/>
                <p:cNvSpPr/>
                <p:nvPr/>
              </p:nvSpPr>
              <p:spPr>
                <a:xfrm rot="16200000" flipH="1">
                  <a:off x="4930" y="3585541"/>
                  <a:ext cx="17042"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6" name="Freeform 71"/>
                <p:cNvSpPr/>
                <p:nvPr/>
              </p:nvSpPr>
              <p:spPr>
                <a:xfrm rot="16200000" flipH="1">
                  <a:off x="19343" y="370443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7" name="Freeform 72"/>
                <p:cNvSpPr/>
                <p:nvPr/>
              </p:nvSpPr>
              <p:spPr>
                <a:xfrm rot="16200000" flipH="1">
                  <a:off x="13234" y="3633542"/>
                  <a:ext cx="22501"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8" name="Freeform 73"/>
                <p:cNvSpPr/>
                <p:nvPr/>
              </p:nvSpPr>
              <p:spPr>
                <a:xfrm rot="16200000" flipH="1">
                  <a:off x="17530" y="3651900"/>
                  <a:ext cx="14216"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49" name="Freeform 74"/>
                <p:cNvSpPr/>
                <p:nvPr/>
              </p:nvSpPr>
              <p:spPr>
                <a:xfrm rot="16200000" flipH="1">
                  <a:off x="18138" y="3676621"/>
                  <a:ext cx="1792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0" name="Freeform 75"/>
                <p:cNvSpPr/>
                <p:nvPr/>
              </p:nvSpPr>
              <p:spPr>
                <a:xfrm rot="16200000" flipH="1">
                  <a:off x="14466" y="3424680"/>
                  <a:ext cx="20344"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1" name="Freeform 76"/>
                <p:cNvSpPr/>
                <p:nvPr/>
              </p:nvSpPr>
              <p:spPr>
                <a:xfrm rot="16200000" flipH="1">
                  <a:off x="23915" y="348750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2" name="Freeform 77"/>
                <p:cNvSpPr/>
                <p:nvPr/>
              </p:nvSpPr>
              <p:spPr>
                <a:xfrm rot="16200000" flipH="1">
                  <a:off x="22063" y="3432819"/>
                  <a:ext cx="21328"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3" name="Freeform 78"/>
                <p:cNvSpPr/>
                <p:nvPr/>
              </p:nvSpPr>
              <p:spPr>
                <a:xfrm rot="16200000" flipH="1">
                  <a:off x="18288" y="314944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4" name="Freeform 79"/>
                <p:cNvSpPr/>
                <p:nvPr/>
              </p:nvSpPr>
              <p:spPr>
                <a:xfrm rot="16200000" flipH="1">
                  <a:off x="22296" y="2904902"/>
                  <a:ext cx="29166"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5" name="Freeform 80"/>
                <p:cNvSpPr/>
                <p:nvPr/>
              </p:nvSpPr>
              <p:spPr>
                <a:xfrm rot="16200000" flipH="1">
                  <a:off x="27783" y="291089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6" name="Freeform 81"/>
                <p:cNvSpPr/>
                <p:nvPr/>
              </p:nvSpPr>
              <p:spPr>
                <a:xfrm rot="16200000" flipH="1">
                  <a:off x="-1067" y="26883"/>
                  <a:ext cx="1483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7" name="Freeform 82"/>
                <p:cNvSpPr/>
                <p:nvPr/>
              </p:nvSpPr>
              <p:spPr>
                <a:xfrm rot="16200000" flipH="1">
                  <a:off x="1758" y="0"/>
                  <a:ext cx="12701" cy="1270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8" name="Freeform 83"/>
                <p:cNvSpPr/>
                <p:nvPr/>
              </p:nvSpPr>
              <p:spPr>
                <a:xfrm rot="16200000" flipH="1">
                  <a:off x="32216" y="1996833"/>
                  <a:ext cx="1297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9" name="Freeform 84"/>
                <p:cNvSpPr/>
                <p:nvPr/>
              </p:nvSpPr>
              <p:spPr>
                <a:xfrm rot="16200000" flipH="1">
                  <a:off x="28487" y="180370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60" name="Freeform 85"/>
                <p:cNvSpPr/>
                <p:nvPr/>
              </p:nvSpPr>
              <p:spPr>
                <a:xfrm rot="16200000" flipH="1">
                  <a:off x="27809" y="1648147"/>
                  <a:ext cx="21875"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grpSp>
          <p:nvGrpSpPr>
            <p:cNvPr id="1013" name="Group 616"/>
            <p:cNvGrpSpPr/>
            <p:nvPr/>
          </p:nvGrpSpPr>
          <p:grpSpPr>
            <a:xfrm>
              <a:off x="-1" y="461563"/>
              <a:ext cx="5294378" cy="4115280"/>
              <a:chOff x="0" y="0"/>
              <a:chExt cx="5294376" cy="4115279"/>
            </a:xfrm>
          </p:grpSpPr>
          <p:grpSp>
            <p:nvGrpSpPr>
              <p:cNvPr id="937" name="Group 617"/>
              <p:cNvGrpSpPr/>
              <p:nvPr/>
            </p:nvGrpSpPr>
            <p:grpSpPr>
              <a:xfrm>
                <a:off x="-1" y="4034739"/>
                <a:ext cx="5294378" cy="61296"/>
                <a:chOff x="0" y="0"/>
                <a:chExt cx="5294376" cy="61295"/>
              </a:xfrm>
            </p:grpSpPr>
            <p:sp>
              <p:nvSpPr>
                <p:cNvPr id="863" name="Freeform 693"/>
                <p:cNvSpPr/>
                <p:nvPr/>
              </p:nvSpPr>
              <p:spPr>
                <a:xfrm rot="10800000" flipH="1">
                  <a:off x="5268086" y="40681"/>
                  <a:ext cx="26291"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64" name="Freeform 694"/>
                <p:cNvSpPr/>
                <p:nvPr/>
              </p:nvSpPr>
              <p:spPr>
                <a:xfrm rot="10800000" flipH="1">
                  <a:off x="5257808" y="35843"/>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65" name="Freeform 695"/>
                <p:cNvSpPr/>
                <p:nvPr/>
              </p:nvSpPr>
              <p:spPr>
                <a:xfrm rot="10800000" flipH="1">
                  <a:off x="5268929" y="35843"/>
                  <a:ext cx="1988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66" name="Freeform 15"/>
                <p:cNvSpPr/>
                <p:nvPr/>
              </p:nvSpPr>
              <p:spPr>
                <a:xfrm rot="10800000" flipH="1">
                  <a:off x="5164832" y="39627"/>
                  <a:ext cx="20603"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67" name="Freeform 16"/>
                <p:cNvSpPr/>
                <p:nvPr/>
              </p:nvSpPr>
              <p:spPr>
                <a:xfrm rot="10800000" flipH="1">
                  <a:off x="5152832" y="36461"/>
                  <a:ext cx="19881"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68" name="Freeform 17"/>
                <p:cNvSpPr/>
                <p:nvPr/>
              </p:nvSpPr>
              <p:spPr>
                <a:xfrm rot="10800000" flipH="1">
                  <a:off x="5249845" y="30658"/>
                  <a:ext cx="38965"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69" name="Freeform 18"/>
                <p:cNvSpPr/>
                <p:nvPr/>
              </p:nvSpPr>
              <p:spPr>
                <a:xfrm rot="10800000" flipH="1">
                  <a:off x="5080469" y="42791"/>
                  <a:ext cx="19881"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0" name="Freeform 19"/>
                <p:cNvSpPr/>
                <p:nvPr/>
              </p:nvSpPr>
              <p:spPr>
                <a:xfrm rot="10800000" flipH="1">
                  <a:off x="5000950" y="43847"/>
                  <a:ext cx="40110"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1" name="Freeform 20"/>
                <p:cNvSpPr/>
                <p:nvPr/>
              </p:nvSpPr>
              <p:spPr>
                <a:xfrm rot="10800000" flipH="1">
                  <a:off x="4983456" y="41209"/>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2" name="Freeform 21"/>
                <p:cNvSpPr/>
                <p:nvPr/>
              </p:nvSpPr>
              <p:spPr>
                <a:xfrm rot="10800000" flipH="1">
                  <a:off x="5103530" y="37517"/>
                  <a:ext cx="1510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3" name="Freeform 22"/>
                <p:cNvSpPr/>
                <p:nvPr/>
              </p:nvSpPr>
              <p:spPr>
                <a:xfrm rot="10800000" flipH="1">
                  <a:off x="5093988" y="35934"/>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4" name="Freeform 23"/>
                <p:cNvSpPr/>
                <p:nvPr/>
              </p:nvSpPr>
              <p:spPr>
                <a:xfrm rot="10800000" flipH="1">
                  <a:off x="5113481" y="43026"/>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875" name="Freeform 24"/>
                <p:cNvSpPr/>
                <p:nvPr/>
              </p:nvSpPr>
              <p:spPr>
                <a:xfrm rot="10800000" flipH="1">
                  <a:off x="5182318" y="28548"/>
                  <a:ext cx="22202"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6" name="Freeform 25"/>
                <p:cNvSpPr/>
                <p:nvPr/>
              </p:nvSpPr>
              <p:spPr>
                <a:xfrm rot="10800000" flipH="1">
                  <a:off x="5130567" y="32768"/>
                  <a:ext cx="2226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7" name="Freeform 26"/>
                <p:cNvSpPr/>
                <p:nvPr/>
              </p:nvSpPr>
              <p:spPr>
                <a:xfrm rot="10800000" flipH="1">
                  <a:off x="5119048" y="3118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8" name="Freeform 27"/>
                <p:cNvSpPr/>
                <p:nvPr/>
              </p:nvSpPr>
              <p:spPr>
                <a:xfrm rot="10800000" flipH="1">
                  <a:off x="4989022" y="35934"/>
                  <a:ext cx="38535"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79" name="Freeform 28"/>
                <p:cNvSpPr/>
                <p:nvPr/>
              </p:nvSpPr>
              <p:spPr>
                <a:xfrm rot="10800000" flipH="1">
                  <a:off x="5056227" y="3593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0" name="Freeform 29"/>
                <p:cNvSpPr/>
                <p:nvPr/>
              </p:nvSpPr>
              <p:spPr>
                <a:xfrm rot="10800000" flipH="1">
                  <a:off x="4873333" y="3540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1" name="Freeform 30"/>
                <p:cNvSpPr/>
                <p:nvPr/>
              </p:nvSpPr>
              <p:spPr>
                <a:xfrm rot="10800000" flipH="1">
                  <a:off x="5025187" y="34351"/>
                  <a:ext cx="21885"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2" name="Freeform 31"/>
                <p:cNvSpPr/>
                <p:nvPr/>
              </p:nvSpPr>
              <p:spPr>
                <a:xfrm rot="10800000" flipH="1">
                  <a:off x="4952444" y="38316"/>
                  <a:ext cx="15905"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3" name="Freeform 32"/>
                <p:cNvSpPr/>
                <p:nvPr/>
              </p:nvSpPr>
              <p:spPr>
                <a:xfrm rot="10800000" flipH="1">
                  <a:off x="5052922" y="37517"/>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4" name="Freeform 33"/>
                <p:cNvSpPr/>
                <p:nvPr/>
              </p:nvSpPr>
              <p:spPr>
                <a:xfrm rot="10800000" flipH="1">
                  <a:off x="5047071" y="36461"/>
                  <a:ext cx="14315"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5" name="Freeform 34"/>
                <p:cNvSpPr/>
                <p:nvPr/>
              </p:nvSpPr>
              <p:spPr>
                <a:xfrm rot="10800000" flipH="1">
                  <a:off x="4822103" y="21709"/>
                  <a:ext cx="79092" cy="20048"/>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6" name="Freeform 35"/>
                <p:cNvSpPr/>
                <p:nvPr/>
              </p:nvSpPr>
              <p:spPr>
                <a:xfrm rot="10800000" flipH="1">
                  <a:off x="4880877" y="37517"/>
                  <a:ext cx="47712"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7" name="Freeform 36"/>
                <p:cNvSpPr/>
                <p:nvPr/>
              </p:nvSpPr>
              <p:spPr>
                <a:xfrm rot="10800000" flipH="1">
                  <a:off x="4928588" y="32241"/>
                  <a:ext cx="60452"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8" name="Freeform 37"/>
                <p:cNvSpPr/>
                <p:nvPr/>
              </p:nvSpPr>
              <p:spPr>
                <a:xfrm rot="10800000" flipH="1">
                  <a:off x="5162267" y="19052"/>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89" name="Freeform 38"/>
                <p:cNvSpPr/>
                <p:nvPr/>
              </p:nvSpPr>
              <p:spPr>
                <a:xfrm rot="10800000" flipH="1">
                  <a:off x="5133193" y="23800"/>
                  <a:ext cx="46868"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0" name="Freeform 39"/>
                <p:cNvSpPr/>
                <p:nvPr/>
              </p:nvSpPr>
              <p:spPr>
                <a:xfrm rot="10800000" flipH="1">
                  <a:off x="5025601" y="24856"/>
                  <a:ext cx="33098"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1" name="Freeform 40"/>
                <p:cNvSpPr/>
                <p:nvPr/>
              </p:nvSpPr>
              <p:spPr>
                <a:xfrm rot="10800000" flipH="1">
                  <a:off x="4859406" y="38043"/>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2" name="Freeform 41"/>
                <p:cNvSpPr/>
                <p:nvPr/>
              </p:nvSpPr>
              <p:spPr>
                <a:xfrm rot="10800000" flipH="1">
                  <a:off x="4819658" y="3857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3" name="Freeform 42"/>
                <p:cNvSpPr/>
                <p:nvPr/>
              </p:nvSpPr>
              <p:spPr>
                <a:xfrm rot="10800000" flipH="1">
                  <a:off x="2340653" y="744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4" name="Freeform 43"/>
                <p:cNvSpPr/>
                <p:nvPr/>
              </p:nvSpPr>
              <p:spPr>
                <a:xfrm rot="10800000" flipH="1">
                  <a:off x="2418053" y="8502"/>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5" name="Freeform 44"/>
                <p:cNvSpPr/>
                <p:nvPr/>
              </p:nvSpPr>
              <p:spPr>
                <a:xfrm rot="10800000" flipH="1">
                  <a:off x="3722449" y="41902"/>
                  <a:ext cx="29258"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6" name="Freeform 45"/>
                <p:cNvSpPr/>
                <p:nvPr/>
              </p:nvSpPr>
              <p:spPr>
                <a:xfrm rot="10800000" flipH="1">
                  <a:off x="3012975" y="23273"/>
                  <a:ext cx="14314"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7" name="Freeform 46"/>
                <p:cNvSpPr/>
                <p:nvPr/>
              </p:nvSpPr>
              <p:spPr>
                <a:xfrm rot="10800000" flipH="1">
                  <a:off x="2983553" y="10085"/>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8" name="Freeform 47"/>
                <p:cNvSpPr/>
                <p:nvPr/>
              </p:nvSpPr>
              <p:spPr>
                <a:xfrm rot="10800000" flipH="1">
                  <a:off x="1947150" y="4281"/>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99" name="Freeform 48"/>
                <p:cNvSpPr/>
                <p:nvPr/>
              </p:nvSpPr>
              <p:spPr>
                <a:xfrm rot="10800000" flipH="1">
                  <a:off x="4349690" y="37137"/>
                  <a:ext cx="3101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0" name="Freeform 49"/>
                <p:cNvSpPr/>
                <p:nvPr/>
              </p:nvSpPr>
              <p:spPr>
                <a:xfrm rot="10800000" flipH="1">
                  <a:off x="2369934" y="41736"/>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1" name="Freeform 50"/>
                <p:cNvSpPr/>
                <p:nvPr/>
              </p:nvSpPr>
              <p:spPr>
                <a:xfrm rot="10800000" flipH="1">
                  <a:off x="4313906" y="38661"/>
                  <a:ext cx="35784"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2" name="Freeform 51"/>
                <p:cNvSpPr/>
                <p:nvPr/>
              </p:nvSpPr>
              <p:spPr>
                <a:xfrm rot="10800000" flipH="1">
                  <a:off x="527025" y="12722"/>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3" name="Freeform 52"/>
                <p:cNvSpPr/>
                <p:nvPr/>
              </p:nvSpPr>
              <p:spPr>
                <a:xfrm rot="10800000" flipH="1">
                  <a:off x="120073" y="45297"/>
                  <a:ext cx="17495"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4" name="Freeform 53"/>
                <p:cNvSpPr/>
                <p:nvPr/>
              </p:nvSpPr>
              <p:spPr>
                <a:xfrm rot="10800000" flipH="1">
                  <a:off x="4649391" y="38806"/>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5" name="Freeform 54"/>
                <p:cNvSpPr/>
                <p:nvPr/>
              </p:nvSpPr>
              <p:spPr>
                <a:xfrm rot="10800000" flipH="1">
                  <a:off x="4691235" y="2485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6" name="Freeform 55"/>
                <p:cNvSpPr/>
                <p:nvPr/>
              </p:nvSpPr>
              <p:spPr>
                <a:xfrm rot="10800000" flipH="1">
                  <a:off x="4214558" y="18290"/>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7" name="Freeform 56"/>
                <p:cNvSpPr/>
                <p:nvPr/>
              </p:nvSpPr>
              <p:spPr>
                <a:xfrm rot="10800000" flipH="1">
                  <a:off x="4655451" y="3751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8" name="Freeform 57"/>
                <p:cNvSpPr/>
                <p:nvPr/>
              </p:nvSpPr>
              <p:spPr>
                <a:xfrm rot="10800000" flipH="1">
                  <a:off x="4663473" y="38806"/>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09" name="Freeform 58"/>
                <p:cNvSpPr/>
                <p:nvPr/>
              </p:nvSpPr>
              <p:spPr>
                <a:xfrm rot="10800000" flipH="1">
                  <a:off x="4640729" y="38044"/>
                  <a:ext cx="15110"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0" name="Freeform 59"/>
                <p:cNvSpPr/>
                <p:nvPr/>
              </p:nvSpPr>
              <p:spPr>
                <a:xfrm rot="10800000" flipH="1">
                  <a:off x="1287998" y="18971"/>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1" name="Freeform 60"/>
                <p:cNvSpPr/>
                <p:nvPr/>
              </p:nvSpPr>
              <p:spPr>
                <a:xfrm rot="10800000" flipH="1">
                  <a:off x="3503619" y="639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2" name="Freeform 61"/>
                <p:cNvSpPr/>
                <p:nvPr/>
              </p:nvSpPr>
              <p:spPr>
                <a:xfrm rot="10800000" flipH="1">
                  <a:off x="3475775" y="10085"/>
                  <a:ext cx="33399"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3" name="Freeform 62"/>
                <p:cNvSpPr/>
                <p:nvPr/>
              </p:nvSpPr>
              <p:spPr>
                <a:xfrm rot="10800000" flipH="1">
                  <a:off x="25133" y="3774"/>
                  <a:ext cx="4784973" cy="49744"/>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2"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4" name="Freeform 63"/>
                <p:cNvSpPr/>
                <p:nvPr/>
              </p:nvSpPr>
              <p:spPr>
                <a:xfrm rot="10800000" flipH="1">
                  <a:off x="2995670" y="11666"/>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5" name="Freeform 64"/>
                <p:cNvSpPr/>
                <p:nvPr/>
              </p:nvSpPr>
              <p:spPr>
                <a:xfrm rot="10800000" flipH="1">
                  <a:off x="1954191" y="639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6" name="Freeform 65"/>
                <p:cNvSpPr/>
                <p:nvPr/>
              </p:nvSpPr>
              <p:spPr>
                <a:xfrm rot="10800000" flipH="1">
                  <a:off x="4082728" y="5864"/>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7" name="Freeform 66"/>
                <p:cNvSpPr/>
                <p:nvPr/>
              </p:nvSpPr>
              <p:spPr>
                <a:xfrm rot="10800000" flipH="1">
                  <a:off x="4730586" y="38572"/>
                  <a:ext cx="19880"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8" name="Freeform 67"/>
                <p:cNvSpPr/>
                <p:nvPr/>
              </p:nvSpPr>
              <p:spPr>
                <a:xfrm rot="10800000" flipH="1">
                  <a:off x="4919268" y="18525"/>
                  <a:ext cx="15683"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19" name="Freeform 68"/>
                <p:cNvSpPr/>
                <p:nvPr/>
              </p:nvSpPr>
              <p:spPr>
                <a:xfrm rot="10800000" flipH="1">
                  <a:off x="4768755" y="27396"/>
                  <a:ext cx="28779"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0" name="Freeform 69"/>
                <p:cNvSpPr/>
                <p:nvPr/>
              </p:nvSpPr>
              <p:spPr>
                <a:xfrm rot="10800000" flipH="1">
                  <a:off x="4800562" y="27200"/>
                  <a:ext cx="13118"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1" name="Freeform 70"/>
                <p:cNvSpPr/>
                <p:nvPr/>
              </p:nvSpPr>
              <p:spPr>
                <a:xfrm rot="10800000" flipH="1">
                  <a:off x="4609987" y="37943"/>
                  <a:ext cx="21927"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2" name="Freeform 71"/>
                <p:cNvSpPr/>
                <p:nvPr/>
              </p:nvSpPr>
              <p:spPr>
                <a:xfrm rot="10800000" flipH="1">
                  <a:off x="4767164" y="19580"/>
                  <a:ext cx="1351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3" name="Freeform 72"/>
                <p:cNvSpPr/>
                <p:nvPr/>
              </p:nvSpPr>
              <p:spPr>
                <a:xfrm rot="10800000" flipH="1">
                  <a:off x="4668237" y="21393"/>
                  <a:ext cx="28952"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4" name="Freeform 73"/>
                <p:cNvSpPr/>
                <p:nvPr/>
              </p:nvSpPr>
              <p:spPr>
                <a:xfrm rot="10800000" flipH="1">
                  <a:off x="4697188" y="21163"/>
                  <a:ext cx="18290"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5" name="Freeform 74"/>
                <p:cNvSpPr/>
                <p:nvPr/>
              </p:nvSpPr>
              <p:spPr>
                <a:xfrm rot="10800000" flipH="1">
                  <a:off x="4726610" y="17470"/>
                  <a:ext cx="2306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6" name="Freeform 75"/>
                <p:cNvSpPr/>
                <p:nvPr/>
              </p:nvSpPr>
              <p:spPr>
                <a:xfrm rot="10800000" flipH="1">
                  <a:off x="4400890" y="21163"/>
                  <a:ext cx="26174"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7" name="Freeform 76"/>
                <p:cNvSpPr/>
                <p:nvPr/>
              </p:nvSpPr>
              <p:spPr>
                <a:xfrm rot="10800000" flipH="1">
                  <a:off x="4488462" y="1272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8" name="Freeform 77"/>
                <p:cNvSpPr/>
                <p:nvPr/>
              </p:nvSpPr>
              <p:spPr>
                <a:xfrm rot="10800000" flipH="1">
                  <a:off x="4410728" y="9029"/>
                  <a:ext cx="27442"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29" name="Freeform 78"/>
                <p:cNvSpPr/>
                <p:nvPr/>
              </p:nvSpPr>
              <p:spPr>
                <a:xfrm rot="10800000" flipH="1">
                  <a:off x="4053493" y="2116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0" name="Freeform 79"/>
                <p:cNvSpPr/>
                <p:nvPr/>
              </p:nvSpPr>
              <p:spPr>
                <a:xfrm rot="10800000" flipH="1">
                  <a:off x="3726433" y="2801"/>
                  <a:ext cx="37526"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1" name="Freeform 80"/>
                <p:cNvSpPr/>
                <p:nvPr/>
              </p:nvSpPr>
              <p:spPr>
                <a:xfrm rot="10800000" flipH="1">
                  <a:off x="3746549" y="691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2" name="Freeform 81"/>
                <p:cNvSpPr/>
                <p:nvPr/>
              </p:nvSpPr>
              <p:spPr>
                <a:xfrm rot="10800000" flipH="1">
                  <a:off x="32602" y="48595"/>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3" name="Freeform 82"/>
                <p:cNvSpPr/>
                <p:nvPr/>
              </p:nvSpPr>
              <p:spPr>
                <a:xfrm rot="10800000" flipH="1">
                  <a:off x="0" y="45957"/>
                  <a:ext cx="1510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4" name="Freeform 83"/>
                <p:cNvSpPr/>
                <p:nvPr/>
              </p:nvSpPr>
              <p:spPr>
                <a:xfrm rot="10800000" flipH="1">
                  <a:off x="2568464" y="62"/>
                  <a:ext cx="1669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5" name="Freeform 84"/>
                <p:cNvSpPr/>
                <p:nvPr/>
              </p:nvSpPr>
              <p:spPr>
                <a:xfrm rot="10800000" flipH="1">
                  <a:off x="2321966" y="586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6" name="Freeform 85"/>
                <p:cNvSpPr/>
                <p:nvPr/>
              </p:nvSpPr>
              <p:spPr>
                <a:xfrm rot="10800000" flipH="1">
                  <a:off x="2114098" y="0"/>
                  <a:ext cx="28145"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nvGrpSpPr>
              <p:cNvPr id="1012" name="Group 618"/>
              <p:cNvGrpSpPr/>
              <p:nvPr/>
            </p:nvGrpSpPr>
            <p:grpSpPr>
              <a:xfrm>
                <a:off x="32381" y="0"/>
                <a:ext cx="45098" cy="4115280"/>
                <a:chOff x="0" y="0"/>
                <a:chExt cx="45096" cy="4115279"/>
              </a:xfrm>
            </p:grpSpPr>
            <p:sp>
              <p:nvSpPr>
                <p:cNvPr id="938" name="Freeform 619"/>
                <p:cNvSpPr/>
                <p:nvPr/>
              </p:nvSpPr>
              <p:spPr>
                <a:xfrm rot="5400000" flipH="1">
                  <a:off x="23254" y="3866"/>
                  <a:ext cx="20434"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39" name="Freeform 620"/>
                <p:cNvSpPr/>
                <p:nvPr/>
              </p:nvSpPr>
              <p:spPr>
                <a:xfrm rot="5400000" flipH="1">
                  <a:off x="23895" y="17134"/>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0" name="Freeform 621"/>
                <p:cNvSpPr/>
                <p:nvPr/>
              </p:nvSpPr>
              <p:spPr>
                <a:xfrm rot="5400000" flipH="1">
                  <a:off x="22520" y="5701"/>
                  <a:ext cx="1545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1" name="Freeform 15"/>
                <p:cNvSpPr/>
                <p:nvPr/>
              </p:nvSpPr>
              <p:spPr>
                <a:xfrm rot="5400000" flipH="1">
                  <a:off x="24761" y="86325"/>
                  <a:ext cx="16014"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2" name="Freeform 16"/>
                <p:cNvSpPr/>
                <p:nvPr/>
              </p:nvSpPr>
              <p:spPr>
                <a:xfrm rot="5400000" flipH="1">
                  <a:off x="22932" y="95932"/>
                  <a:ext cx="15452"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3" name="Freeform 17"/>
                <p:cNvSpPr/>
                <p:nvPr/>
              </p:nvSpPr>
              <p:spPr>
                <a:xfrm rot="5400000" flipH="1">
                  <a:off x="11647" y="13117"/>
                  <a:ext cx="30284"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4" name="Freeform 18"/>
                <p:cNvSpPr/>
                <p:nvPr/>
              </p:nvSpPr>
              <p:spPr>
                <a:xfrm rot="5400000" flipH="1">
                  <a:off x="27152" y="152173"/>
                  <a:ext cx="15452"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5" name="Freeform 19"/>
                <p:cNvSpPr/>
                <p:nvPr/>
              </p:nvSpPr>
              <p:spPr>
                <a:xfrm rot="5400000" flipH="1">
                  <a:off x="19995" y="206114"/>
                  <a:ext cx="31173"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6" name="Freeform 20"/>
                <p:cNvSpPr/>
                <p:nvPr/>
              </p:nvSpPr>
              <p:spPr>
                <a:xfrm rot="5400000" flipH="1">
                  <a:off x="27024" y="228499"/>
                  <a:ext cx="1359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7" name="Freeform 21"/>
                <p:cNvSpPr/>
                <p:nvPr/>
              </p:nvSpPr>
              <p:spPr>
                <a:xfrm rot="5400000" flipH="1">
                  <a:off x="25011" y="13610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8" name="Freeform 22"/>
                <p:cNvSpPr/>
                <p:nvPr/>
              </p:nvSpPr>
              <p:spPr>
                <a:xfrm rot="5400000" flipH="1">
                  <a:off x="23507" y="142593"/>
                  <a:ext cx="1359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49" name="Freeform 23"/>
                <p:cNvSpPr/>
                <p:nvPr/>
              </p:nvSpPr>
              <p:spPr>
                <a:xfrm rot="5400000" flipH="1">
                  <a:off x="24239" y="136291"/>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950" name="Freeform 24"/>
                <p:cNvSpPr/>
                <p:nvPr/>
              </p:nvSpPr>
              <p:spPr>
                <a:xfrm rot="5400000" flipH="1">
                  <a:off x="16755" y="72114"/>
                  <a:ext cx="17255"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1" name="Freeform 25"/>
                <p:cNvSpPr/>
                <p:nvPr/>
              </p:nvSpPr>
              <p:spPr>
                <a:xfrm rot="5400000" flipH="1">
                  <a:off x="19543" y="112310"/>
                  <a:ext cx="1730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2" name="Freeform 26"/>
                <p:cNvSpPr/>
                <p:nvPr/>
              </p:nvSpPr>
              <p:spPr>
                <a:xfrm rot="5400000" flipH="1">
                  <a:off x="20790" y="12498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3" name="Freeform 27"/>
                <p:cNvSpPr/>
                <p:nvPr/>
              </p:nvSpPr>
              <p:spPr>
                <a:xfrm rot="5400000" flipH="1">
                  <a:off x="15332" y="215997"/>
                  <a:ext cx="29949"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4" name="Freeform 28"/>
                <p:cNvSpPr/>
                <p:nvPr/>
              </p:nvSpPr>
              <p:spPr>
                <a:xfrm rot="5400000" flipH="1">
                  <a:off x="23956" y="17380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5" name="Freeform 29"/>
                <p:cNvSpPr/>
                <p:nvPr/>
              </p:nvSpPr>
              <p:spPr>
                <a:xfrm rot="5400000" flipH="1">
                  <a:off x="23604" y="31594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6" name="Freeform 30"/>
                <p:cNvSpPr/>
                <p:nvPr/>
              </p:nvSpPr>
              <p:spPr>
                <a:xfrm rot="5400000" flipH="1">
                  <a:off x="20746" y="194359"/>
                  <a:ext cx="17010"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7" name="Freeform 31"/>
                <p:cNvSpPr/>
                <p:nvPr/>
              </p:nvSpPr>
              <p:spPr>
                <a:xfrm rot="5400000" flipH="1">
                  <a:off x="25544" y="253219"/>
                  <a:ext cx="12701"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8" name="Freeform 32"/>
                <p:cNvSpPr/>
                <p:nvPr/>
              </p:nvSpPr>
              <p:spPr>
                <a:xfrm rot="5400000" flipH="1">
                  <a:off x="25011" y="176372"/>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59" name="Freeform 33"/>
                <p:cNvSpPr/>
                <p:nvPr/>
              </p:nvSpPr>
              <p:spPr>
                <a:xfrm rot="5400000" flipH="1">
                  <a:off x="24307" y="18029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0" name="Freeform 34"/>
                <p:cNvSpPr/>
                <p:nvPr/>
              </p:nvSpPr>
              <p:spPr>
                <a:xfrm rot="5400000" flipH="1">
                  <a:off x="-7463" y="329634"/>
                  <a:ext cx="61470" cy="13365"/>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1" name="Freeform 35"/>
                <p:cNvSpPr/>
                <p:nvPr/>
              </p:nvSpPr>
              <p:spPr>
                <a:xfrm rot="5400000" flipH="1">
                  <a:off x="12820" y="296481"/>
                  <a:ext cx="37083"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2" name="Freeform 36"/>
                <p:cNvSpPr/>
                <p:nvPr/>
              </p:nvSpPr>
              <p:spPr>
                <a:xfrm rot="5400000" flipH="1">
                  <a:off x="4353" y="254449"/>
                  <a:ext cx="46983"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3" name="Freeform 37"/>
                <p:cNvSpPr/>
                <p:nvPr/>
              </p:nvSpPr>
              <p:spPr>
                <a:xfrm rot="5400000" flipH="1">
                  <a:off x="12701" y="91389"/>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4" name="Freeform 38"/>
                <p:cNvSpPr/>
                <p:nvPr/>
              </p:nvSpPr>
              <p:spPr>
                <a:xfrm rot="5400000" flipH="1">
                  <a:off x="4004" y="100708"/>
                  <a:ext cx="36426"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5" name="Freeform 39"/>
                <p:cNvSpPr/>
                <p:nvPr/>
              </p:nvSpPr>
              <p:spPr>
                <a:xfrm rot="5400000" flipH="1">
                  <a:off x="10059" y="189680"/>
                  <a:ext cx="25724"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6" name="Freeform 40"/>
                <p:cNvSpPr/>
                <p:nvPr/>
              </p:nvSpPr>
              <p:spPr>
                <a:xfrm rot="5400000" flipH="1">
                  <a:off x="24296" y="324292"/>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7" name="Freeform 41"/>
                <p:cNvSpPr/>
                <p:nvPr/>
              </p:nvSpPr>
              <p:spPr>
                <a:xfrm rot="5400000" flipH="1">
                  <a:off x="25714" y="35766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8" name="Freeform 42"/>
                <p:cNvSpPr/>
                <p:nvPr/>
              </p:nvSpPr>
              <p:spPr>
                <a:xfrm rot="5400000" flipH="1">
                  <a:off x="4964" y="228435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69" name="Freeform 43"/>
                <p:cNvSpPr/>
                <p:nvPr/>
              </p:nvSpPr>
              <p:spPr>
                <a:xfrm rot="5400000" flipH="1">
                  <a:off x="5668" y="2224198"/>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0" name="Freeform 44"/>
                <p:cNvSpPr/>
                <p:nvPr/>
              </p:nvSpPr>
              <p:spPr>
                <a:xfrm rot="5400000" flipH="1">
                  <a:off x="22915" y="1203985"/>
                  <a:ext cx="22740"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1" name="Freeform 45"/>
                <p:cNvSpPr/>
                <p:nvPr/>
              </p:nvSpPr>
              <p:spPr>
                <a:xfrm rot="5400000" flipH="1">
                  <a:off x="15515" y="176119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2" name="Freeform 46"/>
                <p:cNvSpPr/>
                <p:nvPr/>
              </p:nvSpPr>
              <p:spPr>
                <a:xfrm rot="5400000" flipH="1">
                  <a:off x="5657" y="1782209"/>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3" name="Freeform 47"/>
                <p:cNvSpPr/>
                <p:nvPr/>
              </p:nvSpPr>
              <p:spPr>
                <a:xfrm rot="5400000" flipH="1">
                  <a:off x="2854" y="2590185"/>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4" name="Freeform 48"/>
                <p:cNvSpPr/>
                <p:nvPr/>
              </p:nvSpPr>
              <p:spPr>
                <a:xfrm rot="5400000" flipH="1">
                  <a:off x="19057" y="715810"/>
                  <a:ext cx="2410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5" name="Freeform 49"/>
                <p:cNvSpPr/>
                <p:nvPr/>
              </p:nvSpPr>
              <p:spPr>
                <a:xfrm rot="5400000" flipH="1">
                  <a:off x="27824" y="2261596"/>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6" name="Freeform 50"/>
                <p:cNvSpPr/>
                <p:nvPr/>
              </p:nvSpPr>
              <p:spPr>
                <a:xfrm rot="5400000" flipH="1">
                  <a:off x="18218" y="741767"/>
                  <a:ext cx="27812"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7" name="Freeform 51"/>
                <p:cNvSpPr/>
                <p:nvPr/>
              </p:nvSpPr>
              <p:spPr>
                <a:xfrm rot="5400000" flipH="1">
                  <a:off x="8481" y="3693909"/>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8" name="Freeform 52"/>
                <p:cNvSpPr/>
                <p:nvPr/>
              </p:nvSpPr>
              <p:spPr>
                <a:xfrm rot="5400000" flipH="1">
                  <a:off x="29750" y="4008330"/>
                  <a:ext cx="13597"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79" name="Freeform 53"/>
                <p:cNvSpPr/>
                <p:nvPr/>
              </p:nvSpPr>
              <p:spPr>
                <a:xfrm rot="5400000" flipH="1">
                  <a:off x="25871" y="489998"/>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0" name="Freeform 54"/>
                <p:cNvSpPr/>
                <p:nvPr/>
              </p:nvSpPr>
              <p:spPr>
                <a:xfrm rot="5400000" flipH="1">
                  <a:off x="16570" y="45747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1" name="Freeform 55"/>
                <p:cNvSpPr/>
                <p:nvPr/>
              </p:nvSpPr>
              <p:spPr>
                <a:xfrm rot="5400000" flipH="1">
                  <a:off x="12193" y="827951"/>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2" name="Freeform 56"/>
                <p:cNvSpPr/>
                <p:nvPr/>
              </p:nvSpPr>
              <p:spPr>
                <a:xfrm rot="5400000" flipH="1">
                  <a:off x="25011" y="48528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3" name="Freeform 57"/>
                <p:cNvSpPr/>
                <p:nvPr/>
              </p:nvSpPr>
              <p:spPr>
                <a:xfrm rot="5400000" flipH="1">
                  <a:off x="25871" y="479053"/>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4" name="Freeform 58"/>
                <p:cNvSpPr/>
                <p:nvPr/>
              </p:nvSpPr>
              <p:spPr>
                <a:xfrm rot="5400000" flipH="1">
                  <a:off x="25363" y="49579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5" name="Freeform 59"/>
                <p:cNvSpPr/>
                <p:nvPr/>
              </p:nvSpPr>
              <p:spPr>
                <a:xfrm rot="5400000" flipH="1">
                  <a:off x="12647" y="3102479"/>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6" name="Freeform 60"/>
                <p:cNvSpPr/>
                <p:nvPr/>
              </p:nvSpPr>
              <p:spPr>
                <a:xfrm rot="5400000" flipH="1">
                  <a:off x="4261" y="138049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7" name="Freeform 61"/>
                <p:cNvSpPr/>
                <p:nvPr/>
              </p:nvSpPr>
              <p:spPr>
                <a:xfrm rot="5400000" flipH="1">
                  <a:off x="95" y="1394091"/>
                  <a:ext cx="2595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8" name="Freeform 62"/>
                <p:cNvSpPr/>
                <p:nvPr/>
              </p:nvSpPr>
              <p:spPr>
                <a:xfrm rot="5400000" flipH="1">
                  <a:off x="-1838232" y="2219240"/>
                  <a:ext cx="3718892" cy="33163"/>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3"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89" name="Freeform 63"/>
                <p:cNvSpPr/>
                <p:nvPr/>
              </p:nvSpPr>
              <p:spPr>
                <a:xfrm rot="5400000" flipH="1">
                  <a:off x="7777" y="1775273"/>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0" name="Freeform 64"/>
                <p:cNvSpPr/>
                <p:nvPr/>
              </p:nvSpPr>
              <p:spPr>
                <a:xfrm rot="5400000" flipH="1">
                  <a:off x="4261" y="258471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1" name="Freeform 65"/>
                <p:cNvSpPr/>
                <p:nvPr/>
              </p:nvSpPr>
              <p:spPr>
                <a:xfrm rot="5400000" flipH="1">
                  <a:off x="3909" y="930409"/>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2" name="Freeform 66"/>
                <p:cNvSpPr/>
                <p:nvPr/>
              </p:nvSpPr>
              <p:spPr>
                <a:xfrm rot="5400000" flipH="1">
                  <a:off x="24339" y="424103"/>
                  <a:ext cx="1545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3" name="Freeform 67"/>
                <p:cNvSpPr/>
                <p:nvPr/>
              </p:nvSpPr>
              <p:spPr>
                <a:xfrm rot="5400000" flipH="1">
                  <a:off x="12350" y="279090"/>
                  <a:ext cx="12701"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4" name="Freeform 68"/>
                <p:cNvSpPr/>
                <p:nvPr/>
              </p:nvSpPr>
              <p:spPr>
                <a:xfrm rot="5400000" flipH="1">
                  <a:off x="13431" y="390980"/>
                  <a:ext cx="22367"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5" name="Freeform 69"/>
                <p:cNvSpPr/>
                <p:nvPr/>
              </p:nvSpPr>
              <p:spPr>
                <a:xfrm rot="5400000" flipH="1">
                  <a:off x="18133" y="372345"/>
                  <a:ext cx="12701"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6" name="Freeform 70"/>
                <p:cNvSpPr/>
                <p:nvPr/>
              </p:nvSpPr>
              <p:spPr>
                <a:xfrm rot="5400000" flipH="1">
                  <a:off x="23125" y="517037"/>
                  <a:ext cx="17042"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7" name="Freeform 71"/>
                <p:cNvSpPr/>
                <p:nvPr/>
              </p:nvSpPr>
              <p:spPr>
                <a:xfrm rot="5400000" flipH="1">
                  <a:off x="13053" y="39814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8" name="Freeform 72"/>
                <p:cNvSpPr/>
                <p:nvPr/>
              </p:nvSpPr>
              <p:spPr>
                <a:xfrm rot="5400000" flipH="1">
                  <a:off x="9362" y="469036"/>
                  <a:ext cx="22501"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999" name="Freeform 73"/>
                <p:cNvSpPr/>
                <p:nvPr/>
              </p:nvSpPr>
              <p:spPr>
                <a:xfrm rot="5400000" flipH="1">
                  <a:off x="13351" y="450678"/>
                  <a:ext cx="14215"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0" name="Freeform 74"/>
                <p:cNvSpPr/>
                <p:nvPr/>
              </p:nvSpPr>
              <p:spPr>
                <a:xfrm rot="5400000" flipH="1">
                  <a:off x="9035" y="425957"/>
                  <a:ext cx="1792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1" name="Freeform 75"/>
                <p:cNvSpPr/>
                <p:nvPr/>
              </p:nvSpPr>
              <p:spPr>
                <a:xfrm rot="5400000" flipH="1">
                  <a:off x="10287" y="677898"/>
                  <a:ext cx="20343"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2" name="Freeform 76"/>
                <p:cNvSpPr/>
                <p:nvPr/>
              </p:nvSpPr>
              <p:spPr>
                <a:xfrm rot="5400000" flipH="1">
                  <a:off x="8481" y="61507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3" name="Freeform 77"/>
                <p:cNvSpPr/>
                <p:nvPr/>
              </p:nvSpPr>
              <p:spPr>
                <a:xfrm rot="5400000" flipH="1">
                  <a:off x="1706" y="669758"/>
                  <a:ext cx="21328"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4" name="Freeform 78"/>
                <p:cNvSpPr/>
                <p:nvPr/>
              </p:nvSpPr>
              <p:spPr>
                <a:xfrm rot="5400000" flipH="1">
                  <a:off x="14108" y="95313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5" name="Freeform 79"/>
                <p:cNvSpPr/>
                <p:nvPr/>
              </p:nvSpPr>
              <p:spPr>
                <a:xfrm rot="5400000" flipH="1">
                  <a:off x="-6365" y="1197676"/>
                  <a:ext cx="29166"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6" name="Freeform 80"/>
                <p:cNvSpPr/>
                <p:nvPr/>
              </p:nvSpPr>
              <p:spPr>
                <a:xfrm rot="5400000" flipH="1">
                  <a:off x="4613" y="119168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7" name="Freeform 81"/>
                <p:cNvSpPr/>
                <p:nvPr/>
              </p:nvSpPr>
              <p:spPr>
                <a:xfrm rot="5400000" flipH="1">
                  <a:off x="31330" y="4075695"/>
                  <a:ext cx="1483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8" name="Freeform 82"/>
                <p:cNvSpPr/>
                <p:nvPr/>
              </p:nvSpPr>
              <p:spPr>
                <a:xfrm rot="5400000" flipH="1">
                  <a:off x="30638" y="410257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09" name="Freeform 83"/>
                <p:cNvSpPr/>
                <p:nvPr/>
              </p:nvSpPr>
              <p:spPr>
                <a:xfrm rot="5400000" flipH="1">
                  <a:off x="-98" y="2105745"/>
                  <a:ext cx="1297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10" name="Freeform 84"/>
                <p:cNvSpPr/>
                <p:nvPr/>
              </p:nvSpPr>
              <p:spPr>
                <a:xfrm rot="5400000" flipH="1">
                  <a:off x="3909" y="229887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11" name="Freeform 85"/>
                <p:cNvSpPr/>
                <p:nvPr/>
              </p:nvSpPr>
              <p:spPr>
                <a:xfrm rot="5400000" flipH="1">
                  <a:off x="-4587" y="2454431"/>
                  <a:ext cx="21874"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grpSp>
      <p:sp>
        <p:nvSpPr>
          <p:cNvPr id="1015" name="Title Text"/>
          <p:cNvSpPr txBox="1">
            <a:spLocks noGrp="1"/>
          </p:cNvSpPr>
          <p:nvPr>
            <p:ph type="title"/>
          </p:nvPr>
        </p:nvSpPr>
        <p:spPr>
          <a:xfrm>
            <a:off x="1522413" y="274638"/>
            <a:ext cx="9143999" cy="1020763"/>
          </a:xfrm>
          <a:prstGeom prst="rect">
            <a:avLst/>
          </a:prstGeom>
        </p:spPr>
        <p:txBody>
          <a:bodyPr/>
          <a:lstStyle/>
          <a:p>
            <a:r>
              <a:t>Title Text</a:t>
            </a:r>
          </a:p>
        </p:txBody>
      </p:sp>
      <p:sp>
        <p:nvSpPr>
          <p:cNvPr id="1016" name="Body Level One…"/>
          <p:cNvSpPr txBox="1">
            <a:spLocks noGrp="1"/>
          </p:cNvSpPr>
          <p:nvPr>
            <p:ph type="body" sz="half" idx="1"/>
          </p:nvPr>
        </p:nvSpPr>
        <p:spPr>
          <a:xfrm>
            <a:off x="4710021" y="1905000"/>
            <a:ext cx="5669281" cy="40386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17" name="Text Placeholder 3"/>
          <p:cNvSpPr>
            <a:spLocks noGrp="1"/>
          </p:cNvSpPr>
          <p:nvPr>
            <p:ph type="body" sz="quarter" idx="13"/>
          </p:nvPr>
        </p:nvSpPr>
        <p:spPr>
          <a:xfrm>
            <a:off x="1522412" y="3429000"/>
            <a:ext cx="2743201" cy="2743200"/>
          </a:xfrm>
          <a:prstGeom prst="rect">
            <a:avLst/>
          </a:prstGeom>
        </p:spPr>
        <p:txBody>
          <a:bodyPr anchor="b"/>
          <a:lstStyle/>
          <a:p>
            <a:pPr marL="0" indent="0">
              <a:spcBef>
                <a:spcPts val="1200"/>
              </a:spcBef>
              <a:buSzTx/>
              <a:buFontTx/>
              <a:buNone/>
              <a:defRPr sz="1600"/>
            </a:pPr>
            <a:endParaRPr/>
          </a:p>
        </p:txBody>
      </p:sp>
      <p:sp>
        <p:nvSpPr>
          <p:cNvPr id="10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grpSp>
        <p:nvGrpSpPr>
          <p:cNvPr id="1327" name="frame"/>
          <p:cNvGrpSpPr/>
          <p:nvPr/>
        </p:nvGrpSpPr>
        <p:grpSpPr>
          <a:xfrm>
            <a:off x="1447499" y="1630342"/>
            <a:ext cx="6291030" cy="4576844"/>
            <a:chOff x="0" y="0"/>
            <a:chExt cx="6291028" cy="4576842"/>
          </a:xfrm>
        </p:grpSpPr>
        <p:grpSp>
          <p:nvGrpSpPr>
            <p:cNvPr id="1175" name="Group 614"/>
            <p:cNvGrpSpPr/>
            <p:nvPr/>
          </p:nvGrpSpPr>
          <p:grpSpPr>
            <a:xfrm>
              <a:off x="0" y="0"/>
              <a:ext cx="5294377" cy="4115280"/>
              <a:chOff x="0" y="0"/>
              <a:chExt cx="5294376" cy="4115279"/>
            </a:xfrm>
          </p:grpSpPr>
          <p:grpSp>
            <p:nvGrpSpPr>
              <p:cNvPr id="1099" name="Group 766"/>
              <p:cNvGrpSpPr/>
              <p:nvPr/>
            </p:nvGrpSpPr>
            <p:grpSpPr>
              <a:xfrm>
                <a:off x="0" y="19243"/>
                <a:ext cx="5294377" cy="61297"/>
                <a:chOff x="0" y="0"/>
                <a:chExt cx="5294376" cy="61295"/>
              </a:xfrm>
            </p:grpSpPr>
            <p:sp>
              <p:nvSpPr>
                <p:cNvPr id="1025" name="Freeform 842"/>
                <p:cNvSpPr/>
                <p:nvPr/>
              </p:nvSpPr>
              <p:spPr>
                <a:xfrm>
                  <a:off x="5268086" y="7913"/>
                  <a:ext cx="26291"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26" name="Freeform 843"/>
                <p:cNvSpPr/>
                <p:nvPr/>
              </p:nvSpPr>
              <p:spPr>
                <a:xfrm>
                  <a:off x="5257808" y="12751"/>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27" name="Freeform 844"/>
                <p:cNvSpPr/>
                <p:nvPr/>
              </p:nvSpPr>
              <p:spPr>
                <a:xfrm>
                  <a:off x="5268929" y="12752"/>
                  <a:ext cx="1988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28" name="Freeform 15"/>
                <p:cNvSpPr/>
                <p:nvPr/>
              </p:nvSpPr>
              <p:spPr>
                <a:xfrm>
                  <a:off x="5164832" y="8967"/>
                  <a:ext cx="20603"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29" name="Freeform 16"/>
                <p:cNvSpPr/>
                <p:nvPr/>
              </p:nvSpPr>
              <p:spPr>
                <a:xfrm>
                  <a:off x="5152832" y="12133"/>
                  <a:ext cx="19881"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0" name="Freeform 17"/>
                <p:cNvSpPr/>
                <p:nvPr/>
              </p:nvSpPr>
              <p:spPr>
                <a:xfrm>
                  <a:off x="5249845" y="17936"/>
                  <a:ext cx="38965"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1" name="Freeform 18"/>
                <p:cNvSpPr/>
                <p:nvPr/>
              </p:nvSpPr>
              <p:spPr>
                <a:xfrm>
                  <a:off x="5080469" y="5803"/>
                  <a:ext cx="19881"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2" name="Freeform 19"/>
                <p:cNvSpPr/>
                <p:nvPr/>
              </p:nvSpPr>
              <p:spPr>
                <a:xfrm>
                  <a:off x="5000950" y="4748"/>
                  <a:ext cx="40110"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3" name="Freeform 20"/>
                <p:cNvSpPr/>
                <p:nvPr/>
              </p:nvSpPr>
              <p:spPr>
                <a:xfrm>
                  <a:off x="4983456" y="7385"/>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4" name="Freeform 21"/>
                <p:cNvSpPr/>
                <p:nvPr/>
              </p:nvSpPr>
              <p:spPr>
                <a:xfrm>
                  <a:off x="5103530" y="11078"/>
                  <a:ext cx="1510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5" name="Freeform 22"/>
                <p:cNvSpPr/>
                <p:nvPr/>
              </p:nvSpPr>
              <p:spPr>
                <a:xfrm>
                  <a:off x="5093988" y="12660"/>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6" name="Freeform 23"/>
                <p:cNvSpPr/>
                <p:nvPr/>
              </p:nvSpPr>
              <p:spPr>
                <a:xfrm>
                  <a:off x="5113481" y="19538"/>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1037" name="Freeform 24"/>
                <p:cNvSpPr/>
                <p:nvPr/>
              </p:nvSpPr>
              <p:spPr>
                <a:xfrm>
                  <a:off x="5182318" y="20046"/>
                  <a:ext cx="22202"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8" name="Freeform 25"/>
                <p:cNvSpPr/>
                <p:nvPr/>
              </p:nvSpPr>
              <p:spPr>
                <a:xfrm>
                  <a:off x="5130567" y="15826"/>
                  <a:ext cx="2226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39" name="Freeform 26"/>
                <p:cNvSpPr/>
                <p:nvPr/>
              </p:nvSpPr>
              <p:spPr>
                <a:xfrm>
                  <a:off x="5119048" y="1740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0" name="Freeform 27"/>
                <p:cNvSpPr/>
                <p:nvPr/>
              </p:nvSpPr>
              <p:spPr>
                <a:xfrm>
                  <a:off x="4989022" y="12660"/>
                  <a:ext cx="38535"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1" name="Freeform 28"/>
                <p:cNvSpPr/>
                <p:nvPr/>
              </p:nvSpPr>
              <p:spPr>
                <a:xfrm>
                  <a:off x="5056227" y="1266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2" name="Freeform 29"/>
                <p:cNvSpPr/>
                <p:nvPr/>
              </p:nvSpPr>
              <p:spPr>
                <a:xfrm>
                  <a:off x="4873333" y="1318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3" name="Freeform 30"/>
                <p:cNvSpPr/>
                <p:nvPr/>
              </p:nvSpPr>
              <p:spPr>
                <a:xfrm>
                  <a:off x="5025187" y="14243"/>
                  <a:ext cx="21885"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4" name="Freeform 31"/>
                <p:cNvSpPr/>
                <p:nvPr/>
              </p:nvSpPr>
              <p:spPr>
                <a:xfrm>
                  <a:off x="4952444" y="10278"/>
                  <a:ext cx="15905"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5" name="Freeform 32"/>
                <p:cNvSpPr/>
                <p:nvPr/>
              </p:nvSpPr>
              <p:spPr>
                <a:xfrm>
                  <a:off x="5052922" y="11078"/>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6" name="Freeform 33"/>
                <p:cNvSpPr/>
                <p:nvPr/>
              </p:nvSpPr>
              <p:spPr>
                <a:xfrm>
                  <a:off x="5047071" y="12133"/>
                  <a:ext cx="14315"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7" name="Freeform 34"/>
                <p:cNvSpPr/>
                <p:nvPr/>
              </p:nvSpPr>
              <p:spPr>
                <a:xfrm>
                  <a:off x="4822103" y="19538"/>
                  <a:ext cx="79092" cy="20048"/>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8" name="Freeform 35"/>
                <p:cNvSpPr/>
                <p:nvPr/>
              </p:nvSpPr>
              <p:spPr>
                <a:xfrm>
                  <a:off x="4880877" y="11078"/>
                  <a:ext cx="47712"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49" name="Freeform 36"/>
                <p:cNvSpPr/>
                <p:nvPr/>
              </p:nvSpPr>
              <p:spPr>
                <a:xfrm>
                  <a:off x="4928588" y="16353"/>
                  <a:ext cx="60452"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0" name="Freeform 37"/>
                <p:cNvSpPr/>
                <p:nvPr/>
              </p:nvSpPr>
              <p:spPr>
                <a:xfrm>
                  <a:off x="5162267" y="29542"/>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1" name="Freeform 38"/>
                <p:cNvSpPr/>
                <p:nvPr/>
              </p:nvSpPr>
              <p:spPr>
                <a:xfrm>
                  <a:off x="5133193" y="24794"/>
                  <a:ext cx="46868"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2" name="Freeform 39"/>
                <p:cNvSpPr/>
                <p:nvPr/>
              </p:nvSpPr>
              <p:spPr>
                <a:xfrm>
                  <a:off x="5025601" y="23739"/>
                  <a:ext cx="33098"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3" name="Freeform 40"/>
                <p:cNvSpPr/>
                <p:nvPr/>
              </p:nvSpPr>
              <p:spPr>
                <a:xfrm>
                  <a:off x="4859406" y="10551"/>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4" name="Freeform 41"/>
                <p:cNvSpPr/>
                <p:nvPr/>
              </p:nvSpPr>
              <p:spPr>
                <a:xfrm>
                  <a:off x="4819658" y="1002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5" name="Freeform 42"/>
                <p:cNvSpPr/>
                <p:nvPr/>
              </p:nvSpPr>
              <p:spPr>
                <a:xfrm>
                  <a:off x="2340653" y="4114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6" name="Freeform 43"/>
                <p:cNvSpPr/>
                <p:nvPr/>
              </p:nvSpPr>
              <p:spPr>
                <a:xfrm>
                  <a:off x="2418053" y="40092"/>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7" name="Freeform 44"/>
                <p:cNvSpPr/>
                <p:nvPr/>
              </p:nvSpPr>
              <p:spPr>
                <a:xfrm>
                  <a:off x="3722449" y="6692"/>
                  <a:ext cx="29258"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8" name="Freeform 45"/>
                <p:cNvSpPr/>
                <p:nvPr/>
              </p:nvSpPr>
              <p:spPr>
                <a:xfrm>
                  <a:off x="3012975" y="25321"/>
                  <a:ext cx="14314"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59" name="Freeform 46"/>
                <p:cNvSpPr/>
                <p:nvPr/>
              </p:nvSpPr>
              <p:spPr>
                <a:xfrm>
                  <a:off x="2983553" y="38510"/>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0" name="Freeform 47"/>
                <p:cNvSpPr/>
                <p:nvPr/>
              </p:nvSpPr>
              <p:spPr>
                <a:xfrm>
                  <a:off x="1947150" y="44313"/>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1" name="Freeform 48"/>
                <p:cNvSpPr/>
                <p:nvPr/>
              </p:nvSpPr>
              <p:spPr>
                <a:xfrm>
                  <a:off x="4349690" y="11457"/>
                  <a:ext cx="3101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2" name="Freeform 49"/>
                <p:cNvSpPr/>
                <p:nvPr/>
              </p:nvSpPr>
              <p:spPr>
                <a:xfrm>
                  <a:off x="2369934" y="6858"/>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3" name="Freeform 50"/>
                <p:cNvSpPr/>
                <p:nvPr/>
              </p:nvSpPr>
              <p:spPr>
                <a:xfrm>
                  <a:off x="4313906" y="9934"/>
                  <a:ext cx="35784"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4" name="Freeform 51"/>
                <p:cNvSpPr/>
                <p:nvPr/>
              </p:nvSpPr>
              <p:spPr>
                <a:xfrm>
                  <a:off x="527025" y="35873"/>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5" name="Freeform 52"/>
                <p:cNvSpPr/>
                <p:nvPr/>
              </p:nvSpPr>
              <p:spPr>
                <a:xfrm>
                  <a:off x="120073" y="3297"/>
                  <a:ext cx="17495"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6" name="Freeform 53"/>
                <p:cNvSpPr/>
                <p:nvPr/>
              </p:nvSpPr>
              <p:spPr>
                <a:xfrm>
                  <a:off x="4649391" y="9788"/>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7" name="Freeform 54"/>
                <p:cNvSpPr/>
                <p:nvPr/>
              </p:nvSpPr>
              <p:spPr>
                <a:xfrm>
                  <a:off x="4691235" y="2373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8" name="Freeform 55"/>
                <p:cNvSpPr/>
                <p:nvPr/>
              </p:nvSpPr>
              <p:spPr>
                <a:xfrm>
                  <a:off x="4214558" y="30304"/>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69" name="Freeform 56"/>
                <p:cNvSpPr/>
                <p:nvPr/>
              </p:nvSpPr>
              <p:spPr>
                <a:xfrm>
                  <a:off x="4655451" y="1107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0" name="Freeform 57"/>
                <p:cNvSpPr/>
                <p:nvPr/>
              </p:nvSpPr>
              <p:spPr>
                <a:xfrm>
                  <a:off x="4663473" y="9788"/>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1" name="Freeform 58"/>
                <p:cNvSpPr/>
                <p:nvPr/>
              </p:nvSpPr>
              <p:spPr>
                <a:xfrm>
                  <a:off x="4640729" y="10550"/>
                  <a:ext cx="15110"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2" name="Freeform 59"/>
                <p:cNvSpPr/>
                <p:nvPr/>
              </p:nvSpPr>
              <p:spPr>
                <a:xfrm>
                  <a:off x="1287998" y="29623"/>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3" name="Freeform 60"/>
                <p:cNvSpPr/>
                <p:nvPr/>
              </p:nvSpPr>
              <p:spPr>
                <a:xfrm>
                  <a:off x="3503619" y="4220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4" name="Freeform 61"/>
                <p:cNvSpPr/>
                <p:nvPr/>
              </p:nvSpPr>
              <p:spPr>
                <a:xfrm>
                  <a:off x="3475775" y="38509"/>
                  <a:ext cx="33399"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5" name="Freeform 62"/>
                <p:cNvSpPr/>
                <p:nvPr/>
              </p:nvSpPr>
              <p:spPr>
                <a:xfrm>
                  <a:off x="25133" y="7777"/>
                  <a:ext cx="4784973" cy="49744"/>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2"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6" name="Freeform 63"/>
                <p:cNvSpPr/>
                <p:nvPr/>
              </p:nvSpPr>
              <p:spPr>
                <a:xfrm>
                  <a:off x="2995670" y="36928"/>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7" name="Freeform 64"/>
                <p:cNvSpPr/>
                <p:nvPr/>
              </p:nvSpPr>
              <p:spPr>
                <a:xfrm>
                  <a:off x="1954191" y="4220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8" name="Freeform 65"/>
                <p:cNvSpPr/>
                <p:nvPr/>
              </p:nvSpPr>
              <p:spPr>
                <a:xfrm>
                  <a:off x="4082728" y="42730"/>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9" name="Freeform 66"/>
                <p:cNvSpPr/>
                <p:nvPr/>
              </p:nvSpPr>
              <p:spPr>
                <a:xfrm>
                  <a:off x="4730586" y="10022"/>
                  <a:ext cx="19880"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0" name="Freeform 67"/>
                <p:cNvSpPr/>
                <p:nvPr/>
              </p:nvSpPr>
              <p:spPr>
                <a:xfrm>
                  <a:off x="4919268" y="30069"/>
                  <a:ext cx="15683"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1" name="Freeform 68"/>
                <p:cNvSpPr/>
                <p:nvPr/>
              </p:nvSpPr>
              <p:spPr>
                <a:xfrm>
                  <a:off x="4768755" y="21198"/>
                  <a:ext cx="28779"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2" name="Freeform 69"/>
                <p:cNvSpPr/>
                <p:nvPr/>
              </p:nvSpPr>
              <p:spPr>
                <a:xfrm>
                  <a:off x="4800562" y="21395"/>
                  <a:ext cx="13118"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3" name="Freeform 70"/>
                <p:cNvSpPr/>
                <p:nvPr/>
              </p:nvSpPr>
              <p:spPr>
                <a:xfrm>
                  <a:off x="4609987" y="10651"/>
                  <a:ext cx="21927"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4" name="Freeform 71"/>
                <p:cNvSpPr/>
                <p:nvPr/>
              </p:nvSpPr>
              <p:spPr>
                <a:xfrm>
                  <a:off x="4767164" y="29014"/>
                  <a:ext cx="1351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5" name="Freeform 72"/>
                <p:cNvSpPr/>
                <p:nvPr/>
              </p:nvSpPr>
              <p:spPr>
                <a:xfrm>
                  <a:off x="4668237" y="27201"/>
                  <a:ext cx="28952"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6" name="Freeform 73"/>
                <p:cNvSpPr/>
                <p:nvPr/>
              </p:nvSpPr>
              <p:spPr>
                <a:xfrm>
                  <a:off x="4697188" y="27432"/>
                  <a:ext cx="18290"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7" name="Freeform 74"/>
                <p:cNvSpPr/>
                <p:nvPr/>
              </p:nvSpPr>
              <p:spPr>
                <a:xfrm>
                  <a:off x="4726610" y="31125"/>
                  <a:ext cx="2306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8" name="Freeform 75"/>
                <p:cNvSpPr/>
                <p:nvPr/>
              </p:nvSpPr>
              <p:spPr>
                <a:xfrm>
                  <a:off x="4400890" y="27432"/>
                  <a:ext cx="26174"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89" name="Freeform 76"/>
                <p:cNvSpPr/>
                <p:nvPr/>
              </p:nvSpPr>
              <p:spPr>
                <a:xfrm>
                  <a:off x="4488462" y="3587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0" name="Freeform 77"/>
                <p:cNvSpPr/>
                <p:nvPr/>
              </p:nvSpPr>
              <p:spPr>
                <a:xfrm>
                  <a:off x="4410728" y="39565"/>
                  <a:ext cx="27442"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1" name="Freeform 78"/>
                <p:cNvSpPr/>
                <p:nvPr/>
              </p:nvSpPr>
              <p:spPr>
                <a:xfrm>
                  <a:off x="4053493" y="2743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2" name="Freeform 79"/>
                <p:cNvSpPr/>
                <p:nvPr/>
              </p:nvSpPr>
              <p:spPr>
                <a:xfrm>
                  <a:off x="3726433" y="45793"/>
                  <a:ext cx="37526"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3" name="Freeform 80"/>
                <p:cNvSpPr/>
                <p:nvPr/>
              </p:nvSpPr>
              <p:spPr>
                <a:xfrm>
                  <a:off x="3746549" y="4167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4" name="Freeform 81"/>
                <p:cNvSpPr/>
                <p:nvPr/>
              </p:nvSpPr>
              <p:spPr>
                <a:xfrm>
                  <a:off x="32602" y="0"/>
                  <a:ext cx="19086" cy="127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5" name="Freeform 82"/>
                <p:cNvSpPr/>
                <p:nvPr/>
              </p:nvSpPr>
              <p:spPr>
                <a:xfrm>
                  <a:off x="0" y="2637"/>
                  <a:ext cx="1510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6" name="Freeform 83"/>
                <p:cNvSpPr/>
                <p:nvPr/>
              </p:nvSpPr>
              <p:spPr>
                <a:xfrm>
                  <a:off x="2568464" y="48533"/>
                  <a:ext cx="1669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7" name="Freeform 84"/>
                <p:cNvSpPr/>
                <p:nvPr/>
              </p:nvSpPr>
              <p:spPr>
                <a:xfrm>
                  <a:off x="2321966" y="4273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98" name="Freeform 85"/>
                <p:cNvSpPr/>
                <p:nvPr/>
              </p:nvSpPr>
              <p:spPr>
                <a:xfrm>
                  <a:off x="2114098" y="48595"/>
                  <a:ext cx="28145"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nvGrpSpPr>
              <p:cNvPr id="1174" name="Group 767"/>
              <p:cNvGrpSpPr/>
              <p:nvPr/>
            </p:nvGrpSpPr>
            <p:grpSpPr>
              <a:xfrm>
                <a:off x="32381" y="0"/>
                <a:ext cx="45098" cy="4115280"/>
                <a:chOff x="0" y="0"/>
                <a:chExt cx="45096" cy="4115279"/>
              </a:xfrm>
            </p:grpSpPr>
            <p:sp>
              <p:nvSpPr>
                <p:cNvPr id="1100" name="Freeform 768"/>
                <p:cNvSpPr/>
                <p:nvPr/>
              </p:nvSpPr>
              <p:spPr>
                <a:xfrm rot="5400000">
                  <a:off x="23254" y="4098712"/>
                  <a:ext cx="20434"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1" name="Freeform 769"/>
                <p:cNvSpPr/>
                <p:nvPr/>
              </p:nvSpPr>
              <p:spPr>
                <a:xfrm rot="5400000">
                  <a:off x="23895" y="4085444"/>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2" name="Freeform 770"/>
                <p:cNvSpPr/>
                <p:nvPr/>
              </p:nvSpPr>
              <p:spPr>
                <a:xfrm rot="5400000">
                  <a:off x="22520" y="4096877"/>
                  <a:ext cx="1545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3" name="Freeform 15"/>
                <p:cNvSpPr/>
                <p:nvPr/>
              </p:nvSpPr>
              <p:spPr>
                <a:xfrm rot="5400000">
                  <a:off x="24761" y="4016253"/>
                  <a:ext cx="16014"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4" name="Freeform 16"/>
                <p:cNvSpPr/>
                <p:nvPr/>
              </p:nvSpPr>
              <p:spPr>
                <a:xfrm rot="5400000">
                  <a:off x="22932" y="4006646"/>
                  <a:ext cx="15452"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5" name="Freeform 17"/>
                <p:cNvSpPr/>
                <p:nvPr/>
              </p:nvSpPr>
              <p:spPr>
                <a:xfrm rot="5400000">
                  <a:off x="11647" y="4089461"/>
                  <a:ext cx="30284"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6" name="Freeform 18"/>
                <p:cNvSpPr/>
                <p:nvPr/>
              </p:nvSpPr>
              <p:spPr>
                <a:xfrm rot="5400000">
                  <a:off x="27152" y="3950405"/>
                  <a:ext cx="15452"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7" name="Freeform 19"/>
                <p:cNvSpPr/>
                <p:nvPr/>
              </p:nvSpPr>
              <p:spPr>
                <a:xfrm rot="5400000">
                  <a:off x="19995" y="3896464"/>
                  <a:ext cx="31173"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8" name="Freeform 20"/>
                <p:cNvSpPr/>
                <p:nvPr/>
              </p:nvSpPr>
              <p:spPr>
                <a:xfrm rot="5400000">
                  <a:off x="27024" y="3874079"/>
                  <a:ext cx="1359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09" name="Freeform 21"/>
                <p:cNvSpPr/>
                <p:nvPr/>
              </p:nvSpPr>
              <p:spPr>
                <a:xfrm rot="5400000">
                  <a:off x="25011" y="396647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0" name="Freeform 22"/>
                <p:cNvSpPr/>
                <p:nvPr/>
              </p:nvSpPr>
              <p:spPr>
                <a:xfrm rot="5400000">
                  <a:off x="23507" y="3959985"/>
                  <a:ext cx="1359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1" name="Freeform 23"/>
                <p:cNvSpPr/>
                <p:nvPr/>
              </p:nvSpPr>
              <p:spPr>
                <a:xfrm rot="5400000">
                  <a:off x="24239" y="3980257"/>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1112" name="Freeform 24"/>
                <p:cNvSpPr/>
                <p:nvPr/>
              </p:nvSpPr>
              <p:spPr>
                <a:xfrm rot="5400000">
                  <a:off x="16755" y="4030464"/>
                  <a:ext cx="17255"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3" name="Freeform 25"/>
                <p:cNvSpPr/>
                <p:nvPr/>
              </p:nvSpPr>
              <p:spPr>
                <a:xfrm rot="5400000">
                  <a:off x="19543" y="3990268"/>
                  <a:ext cx="1730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4" name="Freeform 26"/>
                <p:cNvSpPr/>
                <p:nvPr/>
              </p:nvSpPr>
              <p:spPr>
                <a:xfrm rot="5400000">
                  <a:off x="20790" y="397759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5" name="Freeform 27"/>
                <p:cNvSpPr/>
                <p:nvPr/>
              </p:nvSpPr>
              <p:spPr>
                <a:xfrm rot="5400000">
                  <a:off x="15332" y="3886581"/>
                  <a:ext cx="29949"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6" name="Freeform 28"/>
                <p:cNvSpPr/>
                <p:nvPr/>
              </p:nvSpPr>
              <p:spPr>
                <a:xfrm rot="5400000">
                  <a:off x="23956" y="392877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7" name="Freeform 29"/>
                <p:cNvSpPr/>
                <p:nvPr/>
              </p:nvSpPr>
              <p:spPr>
                <a:xfrm rot="5400000">
                  <a:off x="23604" y="378662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8" name="Freeform 30"/>
                <p:cNvSpPr/>
                <p:nvPr/>
              </p:nvSpPr>
              <p:spPr>
                <a:xfrm rot="5400000">
                  <a:off x="20746" y="3908219"/>
                  <a:ext cx="17010"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19" name="Freeform 31"/>
                <p:cNvSpPr/>
                <p:nvPr/>
              </p:nvSpPr>
              <p:spPr>
                <a:xfrm rot="5400000">
                  <a:off x="25544" y="3849359"/>
                  <a:ext cx="12701"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0" name="Freeform 32"/>
                <p:cNvSpPr/>
                <p:nvPr/>
              </p:nvSpPr>
              <p:spPr>
                <a:xfrm rot="5400000">
                  <a:off x="25011" y="3926206"/>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1" name="Freeform 33"/>
                <p:cNvSpPr/>
                <p:nvPr/>
              </p:nvSpPr>
              <p:spPr>
                <a:xfrm rot="5400000">
                  <a:off x="24307" y="392228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2" name="Freeform 34"/>
                <p:cNvSpPr/>
                <p:nvPr/>
              </p:nvSpPr>
              <p:spPr>
                <a:xfrm rot="5400000">
                  <a:off x="-7463" y="3772280"/>
                  <a:ext cx="61470" cy="13365"/>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3" name="Freeform 35"/>
                <p:cNvSpPr/>
                <p:nvPr/>
              </p:nvSpPr>
              <p:spPr>
                <a:xfrm rot="5400000">
                  <a:off x="12820" y="3806097"/>
                  <a:ext cx="37083"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4" name="Freeform 36"/>
                <p:cNvSpPr/>
                <p:nvPr/>
              </p:nvSpPr>
              <p:spPr>
                <a:xfrm rot="5400000">
                  <a:off x="4353" y="3848129"/>
                  <a:ext cx="46983"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5" name="Freeform 37"/>
                <p:cNvSpPr/>
                <p:nvPr/>
              </p:nvSpPr>
              <p:spPr>
                <a:xfrm rot="5400000">
                  <a:off x="12701" y="4011188"/>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6" name="Freeform 38"/>
                <p:cNvSpPr/>
                <p:nvPr/>
              </p:nvSpPr>
              <p:spPr>
                <a:xfrm rot="5400000">
                  <a:off x="4004" y="4001870"/>
                  <a:ext cx="36426"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7" name="Freeform 39"/>
                <p:cNvSpPr/>
                <p:nvPr/>
              </p:nvSpPr>
              <p:spPr>
                <a:xfrm rot="5400000">
                  <a:off x="10059" y="3912898"/>
                  <a:ext cx="25724"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8" name="Freeform 40"/>
                <p:cNvSpPr/>
                <p:nvPr/>
              </p:nvSpPr>
              <p:spPr>
                <a:xfrm rot="5400000">
                  <a:off x="24296" y="3778286"/>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29" name="Freeform 41"/>
                <p:cNvSpPr/>
                <p:nvPr/>
              </p:nvSpPr>
              <p:spPr>
                <a:xfrm rot="5400000">
                  <a:off x="25714" y="374491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0" name="Freeform 42"/>
                <p:cNvSpPr/>
                <p:nvPr/>
              </p:nvSpPr>
              <p:spPr>
                <a:xfrm rot="5400000">
                  <a:off x="4964" y="181822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1" name="Freeform 43"/>
                <p:cNvSpPr/>
                <p:nvPr/>
              </p:nvSpPr>
              <p:spPr>
                <a:xfrm rot="5400000">
                  <a:off x="5668" y="1878380"/>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2" name="Freeform 44"/>
                <p:cNvSpPr/>
                <p:nvPr/>
              </p:nvSpPr>
              <p:spPr>
                <a:xfrm rot="5400000">
                  <a:off x="22915" y="2898593"/>
                  <a:ext cx="22740"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3" name="Freeform 45"/>
                <p:cNvSpPr/>
                <p:nvPr/>
              </p:nvSpPr>
              <p:spPr>
                <a:xfrm rot="5400000">
                  <a:off x="15515" y="234138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4" name="Freeform 46"/>
                <p:cNvSpPr/>
                <p:nvPr/>
              </p:nvSpPr>
              <p:spPr>
                <a:xfrm rot="5400000">
                  <a:off x="5657" y="2320369"/>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5" name="Freeform 47"/>
                <p:cNvSpPr/>
                <p:nvPr/>
              </p:nvSpPr>
              <p:spPr>
                <a:xfrm rot="5400000">
                  <a:off x="2854" y="1512393"/>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6" name="Freeform 48"/>
                <p:cNvSpPr/>
                <p:nvPr/>
              </p:nvSpPr>
              <p:spPr>
                <a:xfrm rot="5400000">
                  <a:off x="19057" y="3386768"/>
                  <a:ext cx="2410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7" name="Freeform 49"/>
                <p:cNvSpPr/>
                <p:nvPr/>
              </p:nvSpPr>
              <p:spPr>
                <a:xfrm rot="5400000">
                  <a:off x="27824" y="1840982"/>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8" name="Freeform 50"/>
                <p:cNvSpPr/>
                <p:nvPr/>
              </p:nvSpPr>
              <p:spPr>
                <a:xfrm rot="5400000">
                  <a:off x="18218" y="3360811"/>
                  <a:ext cx="27812"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39" name="Freeform 51"/>
                <p:cNvSpPr/>
                <p:nvPr/>
              </p:nvSpPr>
              <p:spPr>
                <a:xfrm rot="5400000">
                  <a:off x="8481" y="408669"/>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0" name="Freeform 52"/>
                <p:cNvSpPr/>
                <p:nvPr/>
              </p:nvSpPr>
              <p:spPr>
                <a:xfrm rot="5400000">
                  <a:off x="29750" y="94248"/>
                  <a:ext cx="13597"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1" name="Freeform 53"/>
                <p:cNvSpPr/>
                <p:nvPr/>
              </p:nvSpPr>
              <p:spPr>
                <a:xfrm rot="5400000">
                  <a:off x="25871" y="3612580"/>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2" name="Freeform 54"/>
                <p:cNvSpPr/>
                <p:nvPr/>
              </p:nvSpPr>
              <p:spPr>
                <a:xfrm rot="5400000">
                  <a:off x="16570" y="364510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3" name="Freeform 55"/>
                <p:cNvSpPr/>
                <p:nvPr/>
              </p:nvSpPr>
              <p:spPr>
                <a:xfrm rot="5400000">
                  <a:off x="12193" y="3274628"/>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4" name="Freeform 56"/>
                <p:cNvSpPr/>
                <p:nvPr/>
              </p:nvSpPr>
              <p:spPr>
                <a:xfrm rot="5400000">
                  <a:off x="25011" y="361729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5" name="Freeform 57"/>
                <p:cNvSpPr/>
                <p:nvPr/>
              </p:nvSpPr>
              <p:spPr>
                <a:xfrm rot="5400000">
                  <a:off x="25871" y="3623525"/>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6" name="Freeform 58"/>
                <p:cNvSpPr/>
                <p:nvPr/>
              </p:nvSpPr>
              <p:spPr>
                <a:xfrm rot="5400000">
                  <a:off x="25363" y="360678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7" name="Freeform 59"/>
                <p:cNvSpPr/>
                <p:nvPr/>
              </p:nvSpPr>
              <p:spPr>
                <a:xfrm rot="5400000">
                  <a:off x="12647" y="1000099"/>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8" name="Freeform 60"/>
                <p:cNvSpPr/>
                <p:nvPr/>
              </p:nvSpPr>
              <p:spPr>
                <a:xfrm rot="5400000">
                  <a:off x="4261" y="272208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49" name="Freeform 61"/>
                <p:cNvSpPr/>
                <p:nvPr/>
              </p:nvSpPr>
              <p:spPr>
                <a:xfrm rot="5400000">
                  <a:off x="95" y="2708487"/>
                  <a:ext cx="2595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0" name="Freeform 62"/>
                <p:cNvSpPr/>
                <p:nvPr/>
              </p:nvSpPr>
              <p:spPr>
                <a:xfrm rot="5400000">
                  <a:off x="-1838232" y="1862876"/>
                  <a:ext cx="3718892" cy="33163"/>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3"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1" name="Freeform 63"/>
                <p:cNvSpPr/>
                <p:nvPr/>
              </p:nvSpPr>
              <p:spPr>
                <a:xfrm rot="5400000">
                  <a:off x="7777" y="2327305"/>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2" name="Freeform 64"/>
                <p:cNvSpPr/>
                <p:nvPr/>
              </p:nvSpPr>
              <p:spPr>
                <a:xfrm rot="5400000">
                  <a:off x="4261" y="151786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3" name="Freeform 65"/>
                <p:cNvSpPr/>
                <p:nvPr/>
              </p:nvSpPr>
              <p:spPr>
                <a:xfrm rot="5400000">
                  <a:off x="3909" y="3172169"/>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4" name="Freeform 66"/>
                <p:cNvSpPr/>
                <p:nvPr/>
              </p:nvSpPr>
              <p:spPr>
                <a:xfrm rot="5400000">
                  <a:off x="24339" y="3678475"/>
                  <a:ext cx="1545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5" name="Freeform 67"/>
                <p:cNvSpPr/>
                <p:nvPr/>
              </p:nvSpPr>
              <p:spPr>
                <a:xfrm rot="5400000">
                  <a:off x="12350" y="3823488"/>
                  <a:ext cx="12701"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6" name="Freeform 68"/>
                <p:cNvSpPr/>
                <p:nvPr/>
              </p:nvSpPr>
              <p:spPr>
                <a:xfrm rot="5400000">
                  <a:off x="13431" y="3711598"/>
                  <a:ext cx="22367"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7" name="Freeform 69"/>
                <p:cNvSpPr/>
                <p:nvPr/>
              </p:nvSpPr>
              <p:spPr>
                <a:xfrm rot="5400000">
                  <a:off x="18133" y="3730233"/>
                  <a:ext cx="12701"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8" name="Freeform 70"/>
                <p:cNvSpPr/>
                <p:nvPr/>
              </p:nvSpPr>
              <p:spPr>
                <a:xfrm rot="5400000">
                  <a:off x="23125" y="3585541"/>
                  <a:ext cx="17042"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59" name="Freeform 71"/>
                <p:cNvSpPr/>
                <p:nvPr/>
              </p:nvSpPr>
              <p:spPr>
                <a:xfrm rot="5400000">
                  <a:off x="13053" y="370443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0" name="Freeform 72"/>
                <p:cNvSpPr/>
                <p:nvPr/>
              </p:nvSpPr>
              <p:spPr>
                <a:xfrm rot="5400000">
                  <a:off x="9362" y="3633542"/>
                  <a:ext cx="22501"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1" name="Freeform 73"/>
                <p:cNvSpPr/>
                <p:nvPr/>
              </p:nvSpPr>
              <p:spPr>
                <a:xfrm rot="5400000">
                  <a:off x="13351" y="3651900"/>
                  <a:ext cx="14215"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2" name="Freeform 74"/>
                <p:cNvSpPr/>
                <p:nvPr/>
              </p:nvSpPr>
              <p:spPr>
                <a:xfrm rot="5400000">
                  <a:off x="9035" y="3676621"/>
                  <a:ext cx="1792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3" name="Freeform 75"/>
                <p:cNvSpPr/>
                <p:nvPr/>
              </p:nvSpPr>
              <p:spPr>
                <a:xfrm rot="5400000">
                  <a:off x="10287" y="3424680"/>
                  <a:ext cx="20343"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4" name="Freeform 76"/>
                <p:cNvSpPr/>
                <p:nvPr/>
              </p:nvSpPr>
              <p:spPr>
                <a:xfrm rot="5400000">
                  <a:off x="8481" y="348750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5" name="Freeform 77"/>
                <p:cNvSpPr/>
                <p:nvPr/>
              </p:nvSpPr>
              <p:spPr>
                <a:xfrm rot="5400000">
                  <a:off x="1706" y="3432819"/>
                  <a:ext cx="21328"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6" name="Freeform 78"/>
                <p:cNvSpPr/>
                <p:nvPr/>
              </p:nvSpPr>
              <p:spPr>
                <a:xfrm rot="5400000">
                  <a:off x="14108" y="314944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7" name="Freeform 79"/>
                <p:cNvSpPr/>
                <p:nvPr/>
              </p:nvSpPr>
              <p:spPr>
                <a:xfrm rot="5400000">
                  <a:off x="-6365" y="2904902"/>
                  <a:ext cx="29166"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8" name="Freeform 80"/>
                <p:cNvSpPr/>
                <p:nvPr/>
              </p:nvSpPr>
              <p:spPr>
                <a:xfrm rot="5400000">
                  <a:off x="4613" y="2910890"/>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69" name="Freeform 81"/>
                <p:cNvSpPr/>
                <p:nvPr/>
              </p:nvSpPr>
              <p:spPr>
                <a:xfrm rot="5400000">
                  <a:off x="31330" y="26883"/>
                  <a:ext cx="1483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70" name="Freeform 82"/>
                <p:cNvSpPr/>
                <p:nvPr/>
              </p:nvSpPr>
              <p:spPr>
                <a:xfrm rot="5400000">
                  <a:off x="30638" y="-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71" name="Freeform 83"/>
                <p:cNvSpPr/>
                <p:nvPr/>
              </p:nvSpPr>
              <p:spPr>
                <a:xfrm rot="5400000">
                  <a:off x="-98" y="1996833"/>
                  <a:ext cx="1297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72" name="Freeform 84"/>
                <p:cNvSpPr/>
                <p:nvPr/>
              </p:nvSpPr>
              <p:spPr>
                <a:xfrm rot="5400000">
                  <a:off x="3909" y="180370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73" name="Freeform 85"/>
                <p:cNvSpPr/>
                <p:nvPr/>
              </p:nvSpPr>
              <p:spPr>
                <a:xfrm rot="5400000">
                  <a:off x="-4587" y="1648147"/>
                  <a:ext cx="21874"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grpSp>
          <p:nvGrpSpPr>
            <p:cNvPr id="1326" name="Group 615"/>
            <p:cNvGrpSpPr/>
            <p:nvPr/>
          </p:nvGrpSpPr>
          <p:grpSpPr>
            <a:xfrm>
              <a:off x="996652" y="461563"/>
              <a:ext cx="5294377" cy="4115280"/>
              <a:chOff x="0" y="0"/>
              <a:chExt cx="5294376" cy="4115279"/>
            </a:xfrm>
          </p:grpSpPr>
          <p:grpSp>
            <p:nvGrpSpPr>
              <p:cNvPr id="1250" name="Group 616"/>
              <p:cNvGrpSpPr/>
              <p:nvPr/>
            </p:nvGrpSpPr>
            <p:grpSpPr>
              <a:xfrm>
                <a:off x="-1" y="4034739"/>
                <a:ext cx="5294378" cy="61296"/>
                <a:chOff x="0" y="0"/>
                <a:chExt cx="5294376" cy="61295"/>
              </a:xfrm>
            </p:grpSpPr>
            <p:sp>
              <p:nvSpPr>
                <p:cNvPr id="1176" name="Freeform 692"/>
                <p:cNvSpPr/>
                <p:nvPr/>
              </p:nvSpPr>
              <p:spPr>
                <a:xfrm rot="10800000">
                  <a:off x="-1" y="40681"/>
                  <a:ext cx="26291"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77" name="Freeform 693"/>
                <p:cNvSpPr/>
                <p:nvPr/>
              </p:nvSpPr>
              <p:spPr>
                <a:xfrm rot="10800000">
                  <a:off x="23867" y="35843"/>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78" name="Freeform 694"/>
                <p:cNvSpPr/>
                <p:nvPr/>
              </p:nvSpPr>
              <p:spPr>
                <a:xfrm rot="10800000">
                  <a:off x="5566" y="35843"/>
                  <a:ext cx="1988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79" name="Freeform 15"/>
                <p:cNvSpPr/>
                <p:nvPr/>
              </p:nvSpPr>
              <p:spPr>
                <a:xfrm rot="10800000">
                  <a:off x="108941" y="39627"/>
                  <a:ext cx="20604"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0" name="Freeform 16"/>
                <p:cNvSpPr/>
                <p:nvPr/>
              </p:nvSpPr>
              <p:spPr>
                <a:xfrm rot="10800000">
                  <a:off x="121663" y="36461"/>
                  <a:ext cx="19881"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1" name="Freeform 17"/>
                <p:cNvSpPr/>
                <p:nvPr/>
              </p:nvSpPr>
              <p:spPr>
                <a:xfrm rot="10800000">
                  <a:off x="5566" y="30658"/>
                  <a:ext cx="38965"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2" name="Freeform 18"/>
                <p:cNvSpPr/>
                <p:nvPr/>
              </p:nvSpPr>
              <p:spPr>
                <a:xfrm rot="10800000">
                  <a:off x="194026" y="42791"/>
                  <a:ext cx="19881"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3" name="Freeform 19"/>
                <p:cNvSpPr/>
                <p:nvPr/>
              </p:nvSpPr>
              <p:spPr>
                <a:xfrm rot="10800000">
                  <a:off x="253316" y="43847"/>
                  <a:ext cx="40110"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4" name="Freeform 20"/>
                <p:cNvSpPr/>
                <p:nvPr/>
              </p:nvSpPr>
              <p:spPr>
                <a:xfrm rot="10800000">
                  <a:off x="293425" y="41209"/>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5" name="Freeform 21"/>
                <p:cNvSpPr/>
                <p:nvPr/>
              </p:nvSpPr>
              <p:spPr>
                <a:xfrm rot="10800000">
                  <a:off x="175737" y="37517"/>
                  <a:ext cx="1510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6" name="Freeform 22"/>
                <p:cNvSpPr/>
                <p:nvPr/>
              </p:nvSpPr>
              <p:spPr>
                <a:xfrm rot="10800000">
                  <a:off x="182893" y="35934"/>
                  <a:ext cx="1749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7" name="Freeform 23"/>
                <p:cNvSpPr/>
                <p:nvPr/>
              </p:nvSpPr>
              <p:spPr>
                <a:xfrm rot="10800000">
                  <a:off x="168194" y="43026"/>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1188" name="Freeform 24"/>
                <p:cNvSpPr/>
                <p:nvPr/>
              </p:nvSpPr>
              <p:spPr>
                <a:xfrm rot="10800000">
                  <a:off x="89856" y="28548"/>
                  <a:ext cx="22202"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89" name="Freeform 25"/>
                <p:cNvSpPr/>
                <p:nvPr/>
              </p:nvSpPr>
              <p:spPr>
                <a:xfrm rot="10800000">
                  <a:off x="141543" y="32768"/>
                  <a:ext cx="22267"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0" name="Freeform 26"/>
                <p:cNvSpPr/>
                <p:nvPr/>
              </p:nvSpPr>
              <p:spPr>
                <a:xfrm rot="10800000">
                  <a:off x="162628" y="3118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1" name="Freeform 27"/>
                <p:cNvSpPr/>
                <p:nvPr/>
              </p:nvSpPr>
              <p:spPr>
                <a:xfrm rot="10800000">
                  <a:off x="266819" y="35934"/>
                  <a:ext cx="38535"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2" name="Freeform 28"/>
                <p:cNvSpPr/>
                <p:nvPr/>
              </p:nvSpPr>
              <p:spPr>
                <a:xfrm rot="10800000">
                  <a:off x="225448" y="3593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3" name="Freeform 29"/>
                <p:cNvSpPr/>
                <p:nvPr/>
              </p:nvSpPr>
              <p:spPr>
                <a:xfrm rot="10800000">
                  <a:off x="408342" y="3540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4" name="Freeform 30"/>
                <p:cNvSpPr/>
                <p:nvPr/>
              </p:nvSpPr>
              <p:spPr>
                <a:xfrm rot="10800000">
                  <a:off x="247304" y="34351"/>
                  <a:ext cx="21885"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5" name="Freeform 31"/>
                <p:cNvSpPr/>
                <p:nvPr/>
              </p:nvSpPr>
              <p:spPr>
                <a:xfrm rot="10800000">
                  <a:off x="326027" y="38316"/>
                  <a:ext cx="15905"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6" name="Freeform 32"/>
                <p:cNvSpPr/>
                <p:nvPr/>
              </p:nvSpPr>
              <p:spPr>
                <a:xfrm rot="10800000">
                  <a:off x="228753" y="37517"/>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7" name="Freeform 33"/>
                <p:cNvSpPr/>
                <p:nvPr/>
              </p:nvSpPr>
              <p:spPr>
                <a:xfrm rot="10800000">
                  <a:off x="232990" y="36461"/>
                  <a:ext cx="14315"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8" name="Freeform 34"/>
                <p:cNvSpPr/>
                <p:nvPr/>
              </p:nvSpPr>
              <p:spPr>
                <a:xfrm rot="10800000">
                  <a:off x="393181" y="21709"/>
                  <a:ext cx="79092" cy="20048"/>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9" name="Freeform 35"/>
                <p:cNvSpPr/>
                <p:nvPr/>
              </p:nvSpPr>
              <p:spPr>
                <a:xfrm rot="10800000">
                  <a:off x="365787" y="37517"/>
                  <a:ext cx="47712"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0" name="Freeform 36"/>
                <p:cNvSpPr/>
                <p:nvPr/>
              </p:nvSpPr>
              <p:spPr>
                <a:xfrm rot="10800000">
                  <a:off x="305336" y="32241"/>
                  <a:ext cx="60452"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1" name="Freeform 37"/>
                <p:cNvSpPr/>
                <p:nvPr/>
              </p:nvSpPr>
              <p:spPr>
                <a:xfrm rot="10800000">
                  <a:off x="119408" y="19052"/>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2" name="Freeform 38"/>
                <p:cNvSpPr/>
                <p:nvPr/>
              </p:nvSpPr>
              <p:spPr>
                <a:xfrm rot="10800000">
                  <a:off x="114315" y="23800"/>
                  <a:ext cx="46868"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3" name="Freeform 39"/>
                <p:cNvSpPr/>
                <p:nvPr/>
              </p:nvSpPr>
              <p:spPr>
                <a:xfrm rot="10800000">
                  <a:off x="235677" y="24856"/>
                  <a:ext cx="33098"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4" name="Freeform 40"/>
                <p:cNvSpPr/>
                <p:nvPr/>
              </p:nvSpPr>
              <p:spPr>
                <a:xfrm rot="10800000">
                  <a:off x="415884" y="38043"/>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5" name="Freeform 41"/>
                <p:cNvSpPr/>
                <p:nvPr/>
              </p:nvSpPr>
              <p:spPr>
                <a:xfrm rot="10800000">
                  <a:off x="462017" y="3857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6" name="Freeform 42"/>
                <p:cNvSpPr/>
                <p:nvPr/>
              </p:nvSpPr>
              <p:spPr>
                <a:xfrm rot="10800000">
                  <a:off x="2941022" y="744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7" name="Freeform 43"/>
                <p:cNvSpPr/>
                <p:nvPr/>
              </p:nvSpPr>
              <p:spPr>
                <a:xfrm rot="10800000">
                  <a:off x="2863622" y="8502"/>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8" name="Freeform 44"/>
                <p:cNvSpPr/>
                <p:nvPr/>
              </p:nvSpPr>
              <p:spPr>
                <a:xfrm rot="10800000">
                  <a:off x="1542669" y="41902"/>
                  <a:ext cx="29258"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09" name="Freeform 45"/>
                <p:cNvSpPr/>
                <p:nvPr/>
              </p:nvSpPr>
              <p:spPr>
                <a:xfrm rot="10800000">
                  <a:off x="2267087" y="23273"/>
                  <a:ext cx="14314"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0" name="Freeform 46"/>
                <p:cNvSpPr/>
                <p:nvPr/>
              </p:nvSpPr>
              <p:spPr>
                <a:xfrm rot="10800000">
                  <a:off x="2291738" y="10085"/>
                  <a:ext cx="1908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1" name="Freeform 47"/>
                <p:cNvSpPr/>
                <p:nvPr/>
              </p:nvSpPr>
              <p:spPr>
                <a:xfrm rot="10800000">
                  <a:off x="3334525" y="4281"/>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2" name="Freeform 48"/>
                <p:cNvSpPr/>
                <p:nvPr/>
              </p:nvSpPr>
              <p:spPr>
                <a:xfrm rot="10800000">
                  <a:off x="913673" y="37137"/>
                  <a:ext cx="3101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3" name="Freeform 49"/>
                <p:cNvSpPr/>
                <p:nvPr/>
              </p:nvSpPr>
              <p:spPr>
                <a:xfrm rot="10800000">
                  <a:off x="2911741" y="41736"/>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4" name="Freeform 50"/>
                <p:cNvSpPr/>
                <p:nvPr/>
              </p:nvSpPr>
              <p:spPr>
                <a:xfrm rot="10800000">
                  <a:off x="944686" y="38661"/>
                  <a:ext cx="35784"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5" name="Freeform 51"/>
                <p:cNvSpPr/>
                <p:nvPr/>
              </p:nvSpPr>
              <p:spPr>
                <a:xfrm rot="10800000">
                  <a:off x="4754650" y="12722"/>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6" name="Freeform 52"/>
                <p:cNvSpPr/>
                <p:nvPr/>
              </p:nvSpPr>
              <p:spPr>
                <a:xfrm rot="10800000">
                  <a:off x="5156808" y="45297"/>
                  <a:ext cx="17495"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7" name="Freeform 53"/>
                <p:cNvSpPr/>
                <p:nvPr/>
              </p:nvSpPr>
              <p:spPr>
                <a:xfrm rot="10800000">
                  <a:off x="632284" y="38806"/>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8" name="Freeform 54"/>
                <p:cNvSpPr/>
                <p:nvPr/>
              </p:nvSpPr>
              <p:spPr>
                <a:xfrm rot="10800000">
                  <a:off x="590440" y="2485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19" name="Freeform 55"/>
                <p:cNvSpPr/>
                <p:nvPr/>
              </p:nvSpPr>
              <p:spPr>
                <a:xfrm rot="10800000">
                  <a:off x="1067117" y="18290"/>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0" name="Freeform 56"/>
                <p:cNvSpPr/>
                <p:nvPr/>
              </p:nvSpPr>
              <p:spPr>
                <a:xfrm rot="10800000">
                  <a:off x="626224" y="3751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1" name="Freeform 57"/>
                <p:cNvSpPr/>
                <p:nvPr/>
              </p:nvSpPr>
              <p:spPr>
                <a:xfrm rot="10800000">
                  <a:off x="618202" y="38806"/>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2" name="Freeform 58"/>
                <p:cNvSpPr/>
                <p:nvPr/>
              </p:nvSpPr>
              <p:spPr>
                <a:xfrm rot="10800000">
                  <a:off x="638537" y="38044"/>
                  <a:ext cx="15110"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3" name="Freeform 59"/>
                <p:cNvSpPr/>
                <p:nvPr/>
              </p:nvSpPr>
              <p:spPr>
                <a:xfrm rot="10800000">
                  <a:off x="3993677" y="18971"/>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4" name="Freeform 60"/>
                <p:cNvSpPr/>
                <p:nvPr/>
              </p:nvSpPr>
              <p:spPr>
                <a:xfrm rot="10800000">
                  <a:off x="1778056" y="639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5" name="Freeform 61"/>
                <p:cNvSpPr/>
                <p:nvPr/>
              </p:nvSpPr>
              <p:spPr>
                <a:xfrm rot="10800000">
                  <a:off x="1785202" y="10085"/>
                  <a:ext cx="33399"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6" name="Freeform 62"/>
                <p:cNvSpPr/>
                <p:nvPr/>
              </p:nvSpPr>
              <p:spPr>
                <a:xfrm rot="10800000">
                  <a:off x="484270" y="3774"/>
                  <a:ext cx="4784974" cy="49744"/>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2"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7" name="Freeform 63"/>
                <p:cNvSpPr/>
                <p:nvPr/>
              </p:nvSpPr>
              <p:spPr>
                <a:xfrm rot="10800000">
                  <a:off x="2286005" y="11666"/>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8" name="Freeform 64"/>
                <p:cNvSpPr/>
                <p:nvPr/>
              </p:nvSpPr>
              <p:spPr>
                <a:xfrm rot="10800000">
                  <a:off x="3327484" y="639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29" name="Freeform 65"/>
                <p:cNvSpPr/>
                <p:nvPr/>
              </p:nvSpPr>
              <p:spPr>
                <a:xfrm rot="10800000">
                  <a:off x="1198947" y="5864"/>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0" name="Freeform 66"/>
                <p:cNvSpPr/>
                <p:nvPr/>
              </p:nvSpPr>
              <p:spPr>
                <a:xfrm rot="10800000">
                  <a:off x="543910" y="38572"/>
                  <a:ext cx="1988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1" name="Freeform 67"/>
                <p:cNvSpPr/>
                <p:nvPr/>
              </p:nvSpPr>
              <p:spPr>
                <a:xfrm rot="10800000">
                  <a:off x="359425" y="18525"/>
                  <a:ext cx="15683"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2" name="Freeform 68"/>
                <p:cNvSpPr/>
                <p:nvPr/>
              </p:nvSpPr>
              <p:spPr>
                <a:xfrm rot="10800000">
                  <a:off x="496842" y="27396"/>
                  <a:ext cx="28779"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3" name="Freeform 69"/>
                <p:cNvSpPr/>
                <p:nvPr/>
              </p:nvSpPr>
              <p:spPr>
                <a:xfrm rot="10800000">
                  <a:off x="480697" y="27200"/>
                  <a:ext cx="13117"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4" name="Freeform 70"/>
                <p:cNvSpPr/>
                <p:nvPr/>
              </p:nvSpPr>
              <p:spPr>
                <a:xfrm rot="10800000">
                  <a:off x="662462" y="37943"/>
                  <a:ext cx="21927"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5" name="Freeform 71"/>
                <p:cNvSpPr/>
                <p:nvPr/>
              </p:nvSpPr>
              <p:spPr>
                <a:xfrm rot="10800000">
                  <a:off x="513693" y="19580"/>
                  <a:ext cx="13519"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6" name="Freeform 72"/>
                <p:cNvSpPr/>
                <p:nvPr/>
              </p:nvSpPr>
              <p:spPr>
                <a:xfrm rot="10800000">
                  <a:off x="597188" y="21393"/>
                  <a:ext cx="28951"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7" name="Freeform 73"/>
                <p:cNvSpPr/>
                <p:nvPr/>
              </p:nvSpPr>
              <p:spPr>
                <a:xfrm rot="10800000">
                  <a:off x="578898" y="21163"/>
                  <a:ext cx="1829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8" name="Freeform 74"/>
                <p:cNvSpPr/>
                <p:nvPr/>
              </p:nvSpPr>
              <p:spPr>
                <a:xfrm rot="10800000">
                  <a:off x="544705" y="17470"/>
                  <a:ext cx="2306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39" name="Freeform 75"/>
                <p:cNvSpPr/>
                <p:nvPr/>
              </p:nvSpPr>
              <p:spPr>
                <a:xfrm rot="10800000">
                  <a:off x="867312" y="21163"/>
                  <a:ext cx="26174"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0" name="Freeform 76"/>
                <p:cNvSpPr/>
                <p:nvPr/>
              </p:nvSpPr>
              <p:spPr>
                <a:xfrm rot="10800000">
                  <a:off x="793214" y="1272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1" name="Freeform 77"/>
                <p:cNvSpPr/>
                <p:nvPr/>
              </p:nvSpPr>
              <p:spPr>
                <a:xfrm rot="10800000">
                  <a:off x="856206" y="9029"/>
                  <a:ext cx="27442"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2" name="Freeform 78"/>
                <p:cNvSpPr/>
                <p:nvPr/>
              </p:nvSpPr>
              <p:spPr>
                <a:xfrm rot="10800000">
                  <a:off x="1228182" y="2116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3" name="Freeform 79"/>
                <p:cNvSpPr/>
                <p:nvPr/>
              </p:nvSpPr>
              <p:spPr>
                <a:xfrm rot="10800000">
                  <a:off x="1530417" y="2801"/>
                  <a:ext cx="37527"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4" name="Freeform 80"/>
                <p:cNvSpPr/>
                <p:nvPr/>
              </p:nvSpPr>
              <p:spPr>
                <a:xfrm rot="10800000">
                  <a:off x="1535126" y="691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5" name="Freeform 81"/>
                <p:cNvSpPr/>
                <p:nvPr/>
              </p:nvSpPr>
              <p:spPr>
                <a:xfrm rot="10800000">
                  <a:off x="5242688" y="48595"/>
                  <a:ext cx="19086"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6" name="Freeform 82"/>
                <p:cNvSpPr/>
                <p:nvPr/>
              </p:nvSpPr>
              <p:spPr>
                <a:xfrm rot="10800000">
                  <a:off x="5279267" y="45957"/>
                  <a:ext cx="15110"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7" name="Freeform 83"/>
                <p:cNvSpPr/>
                <p:nvPr/>
              </p:nvSpPr>
              <p:spPr>
                <a:xfrm rot="10800000">
                  <a:off x="2709213" y="62"/>
                  <a:ext cx="1669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8" name="Freeform 84"/>
                <p:cNvSpPr/>
                <p:nvPr/>
              </p:nvSpPr>
              <p:spPr>
                <a:xfrm rot="10800000">
                  <a:off x="2959709" y="586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49" name="Freeform 85"/>
                <p:cNvSpPr/>
                <p:nvPr/>
              </p:nvSpPr>
              <p:spPr>
                <a:xfrm rot="10800000">
                  <a:off x="3152133" y="0"/>
                  <a:ext cx="28145"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nvGrpSpPr>
              <p:cNvPr id="1325" name="Group 617"/>
              <p:cNvGrpSpPr/>
              <p:nvPr/>
            </p:nvGrpSpPr>
            <p:grpSpPr>
              <a:xfrm>
                <a:off x="5216898" y="0"/>
                <a:ext cx="45098" cy="4115280"/>
                <a:chOff x="0" y="0"/>
                <a:chExt cx="45096" cy="4115279"/>
              </a:xfrm>
            </p:grpSpPr>
            <p:sp>
              <p:nvSpPr>
                <p:cNvPr id="1251" name="Freeform 618"/>
                <p:cNvSpPr/>
                <p:nvPr/>
              </p:nvSpPr>
              <p:spPr>
                <a:xfrm rot="16200000">
                  <a:off x="1409" y="3866"/>
                  <a:ext cx="20433"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2" name="Freeform 619"/>
                <p:cNvSpPr/>
                <p:nvPr/>
              </p:nvSpPr>
              <p:spPr>
                <a:xfrm rot="16200000">
                  <a:off x="8500" y="17134"/>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3" name="Freeform 620"/>
                <p:cNvSpPr/>
                <p:nvPr/>
              </p:nvSpPr>
              <p:spPr>
                <a:xfrm rot="16200000">
                  <a:off x="7126" y="5701"/>
                  <a:ext cx="15451"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4" name="Freeform 621"/>
                <p:cNvSpPr/>
                <p:nvPr/>
              </p:nvSpPr>
              <p:spPr>
                <a:xfrm rot="16200000">
                  <a:off x="4322" y="86325"/>
                  <a:ext cx="16013"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5" name="Freeform 622"/>
                <p:cNvSpPr/>
                <p:nvPr/>
              </p:nvSpPr>
              <p:spPr>
                <a:xfrm rot="16200000">
                  <a:off x="6713" y="95932"/>
                  <a:ext cx="15452"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6" name="Freeform 623"/>
                <p:cNvSpPr/>
                <p:nvPr/>
              </p:nvSpPr>
              <p:spPr>
                <a:xfrm rot="16200000">
                  <a:off x="3166" y="13117"/>
                  <a:ext cx="30284"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7" name="Freeform 624"/>
                <p:cNvSpPr/>
                <p:nvPr/>
              </p:nvSpPr>
              <p:spPr>
                <a:xfrm rot="16200000">
                  <a:off x="2493" y="152173"/>
                  <a:ext cx="15452"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8" name="Freeform 625"/>
                <p:cNvSpPr/>
                <p:nvPr/>
              </p:nvSpPr>
              <p:spPr>
                <a:xfrm rot="16200000">
                  <a:off x="-6071" y="206114"/>
                  <a:ext cx="31173"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59" name="Freeform 626"/>
                <p:cNvSpPr/>
                <p:nvPr/>
              </p:nvSpPr>
              <p:spPr>
                <a:xfrm rot="16200000">
                  <a:off x="4475" y="228499"/>
                  <a:ext cx="1359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0" name="Freeform 627"/>
                <p:cNvSpPr/>
                <p:nvPr/>
              </p:nvSpPr>
              <p:spPr>
                <a:xfrm rot="16200000">
                  <a:off x="7385" y="13610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1" name="Freeform 628"/>
                <p:cNvSpPr/>
                <p:nvPr/>
              </p:nvSpPr>
              <p:spPr>
                <a:xfrm rot="16200000">
                  <a:off x="7992" y="142593"/>
                  <a:ext cx="13597"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2" name="Freeform 629"/>
                <p:cNvSpPr/>
                <p:nvPr/>
              </p:nvSpPr>
              <p:spPr>
                <a:xfrm rot="16200000">
                  <a:off x="8157" y="136291"/>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1263" name="Freeform 630"/>
                <p:cNvSpPr/>
                <p:nvPr/>
              </p:nvSpPr>
              <p:spPr>
                <a:xfrm rot="16200000">
                  <a:off x="11087" y="72114"/>
                  <a:ext cx="17255"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4" name="Freeform 631"/>
                <p:cNvSpPr/>
                <p:nvPr/>
              </p:nvSpPr>
              <p:spPr>
                <a:xfrm rot="16200000">
                  <a:off x="8248" y="112310"/>
                  <a:ext cx="1730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5" name="Freeform 632"/>
                <p:cNvSpPr/>
                <p:nvPr/>
              </p:nvSpPr>
              <p:spPr>
                <a:xfrm rot="16200000">
                  <a:off x="11606" y="124980"/>
                  <a:ext cx="12700"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6" name="Freeform 633"/>
                <p:cNvSpPr/>
                <p:nvPr/>
              </p:nvSpPr>
              <p:spPr>
                <a:xfrm rot="16200000">
                  <a:off x="-184" y="215997"/>
                  <a:ext cx="29949"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7" name="Freeform 634"/>
                <p:cNvSpPr/>
                <p:nvPr/>
              </p:nvSpPr>
              <p:spPr>
                <a:xfrm rot="16200000">
                  <a:off x="8440" y="17380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8" name="Freeform 635"/>
                <p:cNvSpPr/>
                <p:nvPr/>
              </p:nvSpPr>
              <p:spPr>
                <a:xfrm rot="16200000">
                  <a:off x="8792" y="31594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69" name="Freeform 636"/>
                <p:cNvSpPr/>
                <p:nvPr/>
              </p:nvSpPr>
              <p:spPr>
                <a:xfrm rot="16200000">
                  <a:off x="7341" y="194359"/>
                  <a:ext cx="17010"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0" name="Freeform 637"/>
                <p:cNvSpPr/>
                <p:nvPr/>
              </p:nvSpPr>
              <p:spPr>
                <a:xfrm rot="16200000">
                  <a:off x="6852" y="253219"/>
                  <a:ext cx="12701"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1" name="Freeform 638"/>
                <p:cNvSpPr/>
                <p:nvPr/>
              </p:nvSpPr>
              <p:spPr>
                <a:xfrm rot="16200000">
                  <a:off x="7385" y="176372"/>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2" name="Freeform 639"/>
                <p:cNvSpPr/>
                <p:nvPr/>
              </p:nvSpPr>
              <p:spPr>
                <a:xfrm rot="16200000">
                  <a:off x="8088" y="18029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3" name="Freeform 640"/>
                <p:cNvSpPr/>
                <p:nvPr/>
              </p:nvSpPr>
              <p:spPr>
                <a:xfrm rot="16200000">
                  <a:off x="-8911" y="329634"/>
                  <a:ext cx="61471" cy="13365"/>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4" name="Freeform 641"/>
                <p:cNvSpPr/>
                <p:nvPr/>
              </p:nvSpPr>
              <p:spPr>
                <a:xfrm rot="16200000">
                  <a:off x="-4806" y="296481"/>
                  <a:ext cx="37083"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5" name="Freeform 642"/>
                <p:cNvSpPr/>
                <p:nvPr/>
              </p:nvSpPr>
              <p:spPr>
                <a:xfrm rot="16200000">
                  <a:off x="-6240" y="254449"/>
                  <a:ext cx="46984"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6" name="Freeform 643"/>
                <p:cNvSpPr/>
                <p:nvPr/>
              </p:nvSpPr>
              <p:spPr>
                <a:xfrm rot="16200000">
                  <a:off x="19694" y="91389"/>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7" name="Freeform 644"/>
                <p:cNvSpPr/>
                <p:nvPr/>
              </p:nvSpPr>
              <p:spPr>
                <a:xfrm rot="16200000">
                  <a:off x="4667" y="100708"/>
                  <a:ext cx="36426"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8" name="Freeform 645"/>
                <p:cNvSpPr/>
                <p:nvPr/>
              </p:nvSpPr>
              <p:spPr>
                <a:xfrm rot="16200000">
                  <a:off x="9314" y="189680"/>
                  <a:ext cx="25724"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79" name="Freeform 646"/>
                <p:cNvSpPr/>
                <p:nvPr/>
              </p:nvSpPr>
              <p:spPr>
                <a:xfrm rot="16200000">
                  <a:off x="5968" y="324292"/>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0" name="Freeform 647"/>
                <p:cNvSpPr/>
                <p:nvPr/>
              </p:nvSpPr>
              <p:spPr>
                <a:xfrm rot="16200000">
                  <a:off x="6682" y="35766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1" name="Freeform 648"/>
                <p:cNvSpPr/>
                <p:nvPr/>
              </p:nvSpPr>
              <p:spPr>
                <a:xfrm rot="16200000">
                  <a:off x="27432" y="228435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2" name="Freeform 649"/>
                <p:cNvSpPr/>
                <p:nvPr/>
              </p:nvSpPr>
              <p:spPr>
                <a:xfrm rot="16200000">
                  <a:off x="26728" y="2224198"/>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3" name="Freeform 650"/>
                <p:cNvSpPr/>
                <p:nvPr/>
              </p:nvSpPr>
              <p:spPr>
                <a:xfrm rot="16200000">
                  <a:off x="-558" y="1203985"/>
                  <a:ext cx="22740"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4" name="Freeform 651"/>
                <p:cNvSpPr/>
                <p:nvPr/>
              </p:nvSpPr>
              <p:spPr>
                <a:xfrm rot="16200000">
                  <a:off x="16881" y="176119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5" name="Freeform 652"/>
                <p:cNvSpPr/>
                <p:nvPr/>
              </p:nvSpPr>
              <p:spPr>
                <a:xfrm rot="16200000">
                  <a:off x="24607" y="1782209"/>
                  <a:ext cx="1483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6" name="Freeform 653"/>
                <p:cNvSpPr/>
                <p:nvPr/>
              </p:nvSpPr>
              <p:spPr>
                <a:xfrm rot="16200000">
                  <a:off x="29542" y="2590185"/>
                  <a:ext cx="12701"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7" name="Freeform 654"/>
                <p:cNvSpPr/>
                <p:nvPr/>
              </p:nvSpPr>
              <p:spPr>
                <a:xfrm rot="16200000">
                  <a:off x="1937" y="715810"/>
                  <a:ext cx="2410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8" name="Freeform 655"/>
                <p:cNvSpPr/>
                <p:nvPr/>
              </p:nvSpPr>
              <p:spPr>
                <a:xfrm rot="16200000">
                  <a:off x="4572" y="2261596"/>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89" name="Freeform 656"/>
                <p:cNvSpPr/>
                <p:nvPr/>
              </p:nvSpPr>
              <p:spPr>
                <a:xfrm rot="16200000">
                  <a:off x="-933" y="741767"/>
                  <a:ext cx="27812"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0" name="Freeform 657"/>
                <p:cNvSpPr/>
                <p:nvPr/>
              </p:nvSpPr>
              <p:spPr>
                <a:xfrm rot="16200000">
                  <a:off x="23915" y="3693909"/>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1" name="Freeform 658"/>
                <p:cNvSpPr/>
                <p:nvPr/>
              </p:nvSpPr>
              <p:spPr>
                <a:xfrm rot="16200000">
                  <a:off x="1749" y="4008330"/>
                  <a:ext cx="13598"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2" name="Freeform 659"/>
                <p:cNvSpPr/>
                <p:nvPr/>
              </p:nvSpPr>
              <p:spPr>
                <a:xfrm rot="16200000">
                  <a:off x="6525" y="489998"/>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3" name="Freeform 660"/>
                <p:cNvSpPr/>
                <p:nvPr/>
              </p:nvSpPr>
              <p:spPr>
                <a:xfrm rot="16200000">
                  <a:off x="15826" y="45747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4" name="Freeform 661"/>
                <p:cNvSpPr/>
                <p:nvPr/>
              </p:nvSpPr>
              <p:spPr>
                <a:xfrm rot="16200000">
                  <a:off x="20202" y="827951"/>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5" name="Freeform 662"/>
                <p:cNvSpPr/>
                <p:nvPr/>
              </p:nvSpPr>
              <p:spPr>
                <a:xfrm rot="16200000">
                  <a:off x="7385" y="48528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6" name="Freeform 663"/>
                <p:cNvSpPr/>
                <p:nvPr/>
              </p:nvSpPr>
              <p:spPr>
                <a:xfrm rot="16200000">
                  <a:off x="6525" y="479053"/>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7" name="Freeform 664"/>
                <p:cNvSpPr/>
                <p:nvPr/>
              </p:nvSpPr>
              <p:spPr>
                <a:xfrm rot="16200000">
                  <a:off x="7033" y="49579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8" name="Freeform 665"/>
                <p:cNvSpPr/>
                <p:nvPr/>
              </p:nvSpPr>
              <p:spPr>
                <a:xfrm rot="16200000">
                  <a:off x="19749" y="3102479"/>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9" name="Freeform 666"/>
                <p:cNvSpPr/>
                <p:nvPr/>
              </p:nvSpPr>
              <p:spPr>
                <a:xfrm rot="16200000">
                  <a:off x="28135" y="138049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0" name="Freeform 667"/>
                <p:cNvSpPr/>
                <p:nvPr/>
              </p:nvSpPr>
              <p:spPr>
                <a:xfrm rot="16200000">
                  <a:off x="19044" y="1394091"/>
                  <a:ext cx="2595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1" name="Freeform 668"/>
                <p:cNvSpPr/>
                <p:nvPr/>
              </p:nvSpPr>
              <p:spPr>
                <a:xfrm rot="16200000">
                  <a:off x="-1835563" y="2219240"/>
                  <a:ext cx="3718892" cy="33163"/>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3"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2" name="Freeform 669"/>
                <p:cNvSpPr/>
                <p:nvPr/>
              </p:nvSpPr>
              <p:spPr>
                <a:xfrm rot="16200000">
                  <a:off x="24618" y="1775273"/>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3" name="Freeform 670"/>
                <p:cNvSpPr/>
                <p:nvPr/>
              </p:nvSpPr>
              <p:spPr>
                <a:xfrm rot="16200000">
                  <a:off x="28135" y="258471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4" name="Freeform 671"/>
                <p:cNvSpPr/>
                <p:nvPr/>
              </p:nvSpPr>
              <p:spPr>
                <a:xfrm rot="16200000">
                  <a:off x="28487" y="930409"/>
                  <a:ext cx="12701"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5" name="Freeform 672"/>
                <p:cNvSpPr/>
                <p:nvPr/>
              </p:nvSpPr>
              <p:spPr>
                <a:xfrm rot="16200000">
                  <a:off x="5306" y="424103"/>
                  <a:ext cx="15452"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6" name="Freeform 673"/>
                <p:cNvSpPr/>
                <p:nvPr/>
              </p:nvSpPr>
              <p:spPr>
                <a:xfrm rot="16200000">
                  <a:off x="20046" y="279090"/>
                  <a:ext cx="12701"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7" name="Freeform 674"/>
                <p:cNvSpPr/>
                <p:nvPr/>
              </p:nvSpPr>
              <p:spPr>
                <a:xfrm rot="16200000">
                  <a:off x="9298" y="390980"/>
                  <a:ext cx="22368"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8" name="Freeform 675"/>
                <p:cNvSpPr/>
                <p:nvPr/>
              </p:nvSpPr>
              <p:spPr>
                <a:xfrm rot="16200000">
                  <a:off x="14263" y="372345"/>
                  <a:ext cx="12701"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09" name="Freeform 676"/>
                <p:cNvSpPr/>
                <p:nvPr/>
              </p:nvSpPr>
              <p:spPr>
                <a:xfrm rot="16200000">
                  <a:off x="4930" y="517037"/>
                  <a:ext cx="17042"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0" name="Freeform 677"/>
                <p:cNvSpPr/>
                <p:nvPr/>
              </p:nvSpPr>
              <p:spPr>
                <a:xfrm rot="16200000">
                  <a:off x="19343" y="39814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1" name="Freeform 678"/>
                <p:cNvSpPr/>
                <p:nvPr/>
              </p:nvSpPr>
              <p:spPr>
                <a:xfrm rot="16200000">
                  <a:off x="13234" y="469036"/>
                  <a:ext cx="22501"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2" name="Freeform 679"/>
                <p:cNvSpPr/>
                <p:nvPr/>
              </p:nvSpPr>
              <p:spPr>
                <a:xfrm rot="16200000">
                  <a:off x="17530" y="450678"/>
                  <a:ext cx="14216"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3" name="Freeform 680"/>
                <p:cNvSpPr/>
                <p:nvPr/>
              </p:nvSpPr>
              <p:spPr>
                <a:xfrm rot="16200000">
                  <a:off x="18138" y="425957"/>
                  <a:ext cx="1792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4" name="Freeform 681"/>
                <p:cNvSpPr/>
                <p:nvPr/>
              </p:nvSpPr>
              <p:spPr>
                <a:xfrm rot="16200000">
                  <a:off x="14466" y="677898"/>
                  <a:ext cx="20344"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5" name="Freeform 682"/>
                <p:cNvSpPr/>
                <p:nvPr/>
              </p:nvSpPr>
              <p:spPr>
                <a:xfrm rot="16200000">
                  <a:off x="23915" y="615072"/>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6" name="Freeform 683"/>
                <p:cNvSpPr/>
                <p:nvPr/>
              </p:nvSpPr>
              <p:spPr>
                <a:xfrm rot="16200000">
                  <a:off x="22063" y="669758"/>
                  <a:ext cx="21328"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7" name="Freeform 684"/>
                <p:cNvSpPr/>
                <p:nvPr/>
              </p:nvSpPr>
              <p:spPr>
                <a:xfrm rot="16200000">
                  <a:off x="18288" y="95313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8" name="Freeform 685"/>
                <p:cNvSpPr/>
                <p:nvPr/>
              </p:nvSpPr>
              <p:spPr>
                <a:xfrm rot="16200000">
                  <a:off x="22296" y="1197676"/>
                  <a:ext cx="29166"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19" name="Freeform 686"/>
                <p:cNvSpPr/>
                <p:nvPr/>
              </p:nvSpPr>
              <p:spPr>
                <a:xfrm rot="16200000">
                  <a:off x="27783" y="1191688"/>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20" name="Freeform 687"/>
                <p:cNvSpPr/>
                <p:nvPr/>
              </p:nvSpPr>
              <p:spPr>
                <a:xfrm rot="16200000">
                  <a:off x="-1067" y="4075695"/>
                  <a:ext cx="1483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21" name="Freeform 688"/>
                <p:cNvSpPr/>
                <p:nvPr/>
              </p:nvSpPr>
              <p:spPr>
                <a:xfrm rot="16200000">
                  <a:off x="1758" y="410257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22" name="Freeform 689"/>
                <p:cNvSpPr/>
                <p:nvPr/>
              </p:nvSpPr>
              <p:spPr>
                <a:xfrm rot="16200000">
                  <a:off x="32216" y="2105745"/>
                  <a:ext cx="12979"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23" name="Freeform 690"/>
                <p:cNvSpPr/>
                <p:nvPr/>
              </p:nvSpPr>
              <p:spPr>
                <a:xfrm rot="16200000">
                  <a:off x="28487" y="229887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24" name="Freeform 691"/>
                <p:cNvSpPr/>
                <p:nvPr/>
              </p:nvSpPr>
              <p:spPr>
                <a:xfrm rot="16200000">
                  <a:off x="27809" y="2454431"/>
                  <a:ext cx="21875"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grpSp>
      </p:grpSp>
      <p:sp>
        <p:nvSpPr>
          <p:cNvPr id="1328" name="Title Text"/>
          <p:cNvSpPr txBox="1">
            <a:spLocks noGrp="1"/>
          </p:cNvSpPr>
          <p:nvPr>
            <p:ph type="title"/>
          </p:nvPr>
        </p:nvSpPr>
        <p:spPr>
          <a:xfrm>
            <a:off x="1522413" y="274638"/>
            <a:ext cx="9143999" cy="1020763"/>
          </a:xfrm>
          <a:prstGeom prst="rect">
            <a:avLst/>
          </a:prstGeom>
        </p:spPr>
        <p:txBody>
          <a:bodyPr/>
          <a:lstStyle/>
          <a:p>
            <a:r>
              <a:t>Title Text</a:t>
            </a:r>
          </a:p>
        </p:txBody>
      </p:sp>
      <p:sp>
        <p:nvSpPr>
          <p:cNvPr id="1329" name="Picture Placeholder 2"/>
          <p:cNvSpPr>
            <a:spLocks noGrp="1"/>
          </p:cNvSpPr>
          <p:nvPr>
            <p:ph type="pic" sz="half" idx="13"/>
          </p:nvPr>
        </p:nvSpPr>
        <p:spPr>
          <a:xfrm>
            <a:off x="1745838" y="1884310"/>
            <a:ext cx="5669280" cy="4041649"/>
          </a:xfrm>
          <a:prstGeom prst="rect">
            <a:avLst/>
          </a:prstGeom>
        </p:spPr>
        <p:txBody>
          <a:bodyPr lIns="91439" rIns="91439">
            <a:noAutofit/>
          </a:bodyPr>
          <a:lstStyle/>
          <a:p>
            <a:endParaRPr/>
          </a:p>
        </p:txBody>
      </p:sp>
      <p:sp>
        <p:nvSpPr>
          <p:cNvPr id="1330" name="Body Level One…"/>
          <p:cNvSpPr txBox="1">
            <a:spLocks noGrp="1"/>
          </p:cNvSpPr>
          <p:nvPr>
            <p:ph type="body" sz="quarter" idx="1"/>
          </p:nvPr>
        </p:nvSpPr>
        <p:spPr>
          <a:xfrm>
            <a:off x="7905959" y="3411747"/>
            <a:ext cx="2743201" cy="2743201"/>
          </a:xfrm>
          <a:prstGeom prst="rect">
            <a:avLst/>
          </a:prstGeom>
        </p:spPr>
        <p:txBody>
          <a:bodyPr anchor="b"/>
          <a:lstStyle>
            <a:lvl1pPr marL="0" indent="0">
              <a:spcBef>
                <a:spcPts val="1200"/>
              </a:spcBef>
              <a:buSzTx/>
              <a:buFontTx/>
              <a:buNone/>
              <a:defRPr sz="1600"/>
            </a:lvl1pPr>
            <a:lvl2pPr marL="0" indent="457200">
              <a:spcBef>
                <a:spcPts val="1200"/>
              </a:spcBef>
              <a:buSzTx/>
              <a:buFontTx/>
              <a:buNone/>
              <a:defRPr sz="1600"/>
            </a:lvl2pPr>
            <a:lvl3pPr marL="0" indent="914400">
              <a:spcBef>
                <a:spcPts val="1200"/>
              </a:spcBef>
              <a:buSzTx/>
              <a:buFontTx/>
              <a:buNone/>
              <a:defRPr sz="1600"/>
            </a:lvl3pPr>
            <a:lvl4pPr marL="0" indent="1371600">
              <a:spcBef>
                <a:spcPts val="1200"/>
              </a:spcBef>
              <a:buSzTx/>
              <a:buFontTx/>
              <a:buNone/>
              <a:defRPr sz="1600"/>
            </a:lvl4pPr>
            <a:lvl5pPr marL="0" indent="1828800">
              <a:spcBef>
                <a:spcPts val="12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3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grpSp>
        <p:nvGrpSpPr>
          <p:cNvPr id="1412" name="line"/>
          <p:cNvGrpSpPr/>
          <p:nvPr/>
        </p:nvGrpSpPr>
        <p:grpSpPr>
          <a:xfrm>
            <a:off x="1522412" y="1512433"/>
            <a:ext cx="10569577" cy="69395"/>
            <a:chOff x="0" y="0"/>
            <a:chExt cx="10569575" cy="69394"/>
          </a:xfrm>
        </p:grpSpPr>
        <p:sp>
          <p:nvSpPr>
            <p:cNvPr id="1338" name="Freeform 7"/>
            <p:cNvSpPr/>
            <p:nvPr/>
          </p:nvSpPr>
          <p:spPr>
            <a:xfrm>
              <a:off x="10517091" y="9232"/>
              <a:ext cx="52485"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39" name="Freeform 8"/>
            <p:cNvSpPr/>
            <p:nvPr/>
          </p:nvSpPr>
          <p:spPr>
            <a:xfrm>
              <a:off x="10499725" y="14876"/>
              <a:ext cx="19050"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0" name="Freeform 9"/>
            <p:cNvSpPr/>
            <p:nvPr/>
          </p:nvSpPr>
          <p:spPr>
            <a:xfrm>
              <a:off x="10518775" y="14877"/>
              <a:ext cx="39688"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1" name="Freeform 15"/>
            <p:cNvSpPr/>
            <p:nvPr/>
          </p:nvSpPr>
          <p:spPr>
            <a:xfrm>
              <a:off x="10310955" y="10462"/>
              <a:ext cx="41133"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2" name="Freeform 16"/>
            <p:cNvSpPr/>
            <p:nvPr/>
          </p:nvSpPr>
          <p:spPr>
            <a:xfrm>
              <a:off x="10287000" y="14155"/>
              <a:ext cx="39689"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3" name="Freeform 17"/>
            <p:cNvSpPr/>
            <p:nvPr/>
          </p:nvSpPr>
          <p:spPr>
            <a:xfrm>
              <a:off x="10480675" y="20925"/>
              <a:ext cx="77788"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4" name="Freeform 18"/>
            <p:cNvSpPr/>
            <p:nvPr/>
          </p:nvSpPr>
          <p:spPr>
            <a:xfrm>
              <a:off x="10142537" y="6770"/>
              <a:ext cx="39688"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5" name="Freeform 19"/>
            <p:cNvSpPr/>
            <p:nvPr/>
          </p:nvSpPr>
          <p:spPr>
            <a:xfrm>
              <a:off x="9983787" y="5539"/>
              <a:ext cx="80073"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6" name="Freeform 20"/>
            <p:cNvSpPr/>
            <p:nvPr/>
          </p:nvSpPr>
          <p:spPr>
            <a:xfrm>
              <a:off x="9948862" y="8616"/>
              <a:ext cx="34926"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7" name="Freeform 21"/>
            <p:cNvSpPr/>
            <p:nvPr/>
          </p:nvSpPr>
          <p:spPr>
            <a:xfrm>
              <a:off x="10188575" y="12924"/>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8" name="Freeform 22"/>
            <p:cNvSpPr/>
            <p:nvPr/>
          </p:nvSpPr>
          <p:spPr>
            <a:xfrm>
              <a:off x="10169525" y="14771"/>
              <a:ext cx="34925"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49" name="Freeform 23"/>
            <p:cNvSpPr/>
            <p:nvPr/>
          </p:nvSpPr>
          <p:spPr>
            <a:xfrm>
              <a:off x="10214767" y="21736"/>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1350" name="Freeform 24"/>
            <p:cNvSpPr/>
            <p:nvPr/>
          </p:nvSpPr>
          <p:spPr>
            <a:xfrm>
              <a:off x="10345866" y="23387"/>
              <a:ext cx="44321"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1" name="Freeform 25"/>
            <p:cNvSpPr/>
            <p:nvPr/>
          </p:nvSpPr>
          <p:spPr>
            <a:xfrm>
              <a:off x="10242550" y="18463"/>
              <a:ext cx="44450"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2" name="Freeform 26"/>
            <p:cNvSpPr/>
            <p:nvPr/>
          </p:nvSpPr>
          <p:spPr>
            <a:xfrm>
              <a:off x="10221912" y="20310"/>
              <a:ext cx="2063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3" name="Freeform 27"/>
            <p:cNvSpPr/>
            <p:nvPr/>
          </p:nvSpPr>
          <p:spPr>
            <a:xfrm>
              <a:off x="9959975" y="14771"/>
              <a:ext cx="76927"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4" name="Freeform 28"/>
            <p:cNvSpPr/>
            <p:nvPr/>
          </p:nvSpPr>
          <p:spPr>
            <a:xfrm>
              <a:off x="10100467" y="1477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5" name="Freeform 29"/>
            <p:cNvSpPr/>
            <p:nvPr/>
          </p:nvSpPr>
          <p:spPr>
            <a:xfrm>
              <a:off x="9735342" y="1538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6" name="Freeform 30"/>
            <p:cNvSpPr/>
            <p:nvPr/>
          </p:nvSpPr>
          <p:spPr>
            <a:xfrm>
              <a:off x="10032172" y="16617"/>
              <a:ext cx="43690"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7" name="Freeform 31"/>
            <p:cNvSpPr/>
            <p:nvPr/>
          </p:nvSpPr>
          <p:spPr>
            <a:xfrm>
              <a:off x="9886950" y="11992"/>
              <a:ext cx="31750"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8" name="Freeform 32"/>
            <p:cNvSpPr/>
            <p:nvPr/>
          </p:nvSpPr>
          <p:spPr>
            <a:xfrm>
              <a:off x="10093869" y="12924"/>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59" name="Freeform 33"/>
            <p:cNvSpPr/>
            <p:nvPr/>
          </p:nvSpPr>
          <p:spPr>
            <a:xfrm>
              <a:off x="10075862" y="14155"/>
              <a:ext cx="28576"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0" name="Freeform 34"/>
            <p:cNvSpPr/>
            <p:nvPr/>
          </p:nvSpPr>
          <p:spPr>
            <a:xfrm>
              <a:off x="9626741" y="21736"/>
              <a:ext cx="157895" cy="23389"/>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1" name="Freeform 35"/>
            <p:cNvSpPr/>
            <p:nvPr/>
          </p:nvSpPr>
          <p:spPr>
            <a:xfrm>
              <a:off x="9744075" y="12924"/>
              <a:ext cx="95250"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2" name="Freeform 36"/>
            <p:cNvSpPr/>
            <p:nvPr/>
          </p:nvSpPr>
          <p:spPr>
            <a:xfrm>
              <a:off x="9839325" y="19078"/>
              <a:ext cx="120684"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3" name="Freeform 37"/>
            <p:cNvSpPr/>
            <p:nvPr/>
          </p:nvSpPr>
          <p:spPr>
            <a:xfrm>
              <a:off x="10312163" y="34466"/>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4" name="Freeform 38"/>
            <p:cNvSpPr/>
            <p:nvPr/>
          </p:nvSpPr>
          <p:spPr>
            <a:xfrm>
              <a:off x="10247794" y="28927"/>
              <a:ext cx="93566"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5" name="Freeform 39"/>
            <p:cNvSpPr/>
            <p:nvPr/>
          </p:nvSpPr>
          <p:spPr>
            <a:xfrm>
              <a:off x="10033000" y="27695"/>
              <a:ext cx="66075"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6" name="Freeform 40"/>
            <p:cNvSpPr/>
            <p:nvPr/>
          </p:nvSpPr>
          <p:spPr>
            <a:xfrm>
              <a:off x="9701212" y="12309"/>
              <a:ext cx="38101"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7" name="Freeform 41"/>
            <p:cNvSpPr/>
            <p:nvPr/>
          </p:nvSpPr>
          <p:spPr>
            <a:xfrm>
              <a:off x="9623425" y="11693"/>
              <a:ext cx="22226"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8" name="Freeform 42"/>
            <p:cNvSpPr/>
            <p:nvPr/>
          </p:nvSpPr>
          <p:spPr>
            <a:xfrm>
              <a:off x="4675187" y="48005"/>
              <a:ext cx="2063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69" name="Freeform 43"/>
            <p:cNvSpPr/>
            <p:nvPr/>
          </p:nvSpPr>
          <p:spPr>
            <a:xfrm>
              <a:off x="4833675" y="46775"/>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0" name="Freeform 44"/>
            <p:cNvSpPr/>
            <p:nvPr/>
          </p:nvSpPr>
          <p:spPr>
            <a:xfrm>
              <a:off x="7431415" y="7808"/>
              <a:ext cx="58410"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1" name="Freeform 45"/>
            <p:cNvSpPr/>
            <p:nvPr/>
          </p:nvSpPr>
          <p:spPr>
            <a:xfrm>
              <a:off x="6015037" y="29542"/>
              <a:ext cx="28576"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2" name="Freeform 46"/>
            <p:cNvSpPr/>
            <p:nvPr/>
          </p:nvSpPr>
          <p:spPr>
            <a:xfrm>
              <a:off x="5956300" y="44928"/>
              <a:ext cx="38100"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3" name="Freeform 47"/>
            <p:cNvSpPr/>
            <p:nvPr/>
          </p:nvSpPr>
          <p:spPr>
            <a:xfrm>
              <a:off x="3887787" y="51699"/>
              <a:ext cx="24279" cy="12700"/>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4" name="Freeform 48"/>
            <p:cNvSpPr/>
            <p:nvPr/>
          </p:nvSpPr>
          <p:spPr>
            <a:xfrm>
              <a:off x="8683625" y="13367"/>
              <a:ext cx="61913"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5" name="Freeform 49"/>
            <p:cNvSpPr/>
            <p:nvPr/>
          </p:nvSpPr>
          <p:spPr>
            <a:xfrm>
              <a:off x="4735512" y="8001"/>
              <a:ext cx="16900"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6" name="Freeform 50"/>
            <p:cNvSpPr/>
            <p:nvPr/>
          </p:nvSpPr>
          <p:spPr>
            <a:xfrm>
              <a:off x="8612187" y="11589"/>
              <a:ext cx="71438"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7" name="Freeform 51"/>
            <p:cNvSpPr/>
            <p:nvPr/>
          </p:nvSpPr>
          <p:spPr>
            <a:xfrm>
              <a:off x="1058469" y="41851"/>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8" name="Freeform 52"/>
            <p:cNvSpPr/>
            <p:nvPr/>
          </p:nvSpPr>
          <p:spPr>
            <a:xfrm>
              <a:off x="239712" y="3846"/>
              <a:ext cx="34926"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79" name="Freeform 53"/>
            <p:cNvSpPr/>
            <p:nvPr/>
          </p:nvSpPr>
          <p:spPr>
            <a:xfrm>
              <a:off x="9288269" y="11419"/>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0" name="Freeform 54"/>
            <p:cNvSpPr/>
            <p:nvPr/>
          </p:nvSpPr>
          <p:spPr>
            <a:xfrm>
              <a:off x="9371805" y="27695"/>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1" name="Freeform 55"/>
            <p:cNvSpPr/>
            <p:nvPr/>
          </p:nvSpPr>
          <p:spPr>
            <a:xfrm>
              <a:off x="8420179" y="35355"/>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2" name="Freeform 56"/>
            <p:cNvSpPr/>
            <p:nvPr/>
          </p:nvSpPr>
          <p:spPr>
            <a:xfrm>
              <a:off x="9294812" y="12924"/>
              <a:ext cx="2381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3" name="Freeform 57"/>
            <p:cNvSpPr/>
            <p:nvPr/>
          </p:nvSpPr>
          <p:spPr>
            <a:xfrm>
              <a:off x="9313862" y="11419"/>
              <a:ext cx="1774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4" name="Freeform 58"/>
            <p:cNvSpPr/>
            <p:nvPr/>
          </p:nvSpPr>
          <p:spPr>
            <a:xfrm>
              <a:off x="9264650" y="12308"/>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5" name="Freeform 59"/>
            <p:cNvSpPr/>
            <p:nvPr/>
          </p:nvSpPr>
          <p:spPr>
            <a:xfrm>
              <a:off x="2577219" y="34561"/>
              <a:ext cx="1358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6" name="Freeform 60"/>
            <p:cNvSpPr/>
            <p:nvPr/>
          </p:nvSpPr>
          <p:spPr>
            <a:xfrm>
              <a:off x="7000874" y="4923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7" name="Freeform 61"/>
            <p:cNvSpPr/>
            <p:nvPr/>
          </p:nvSpPr>
          <p:spPr>
            <a:xfrm>
              <a:off x="6938961" y="43892"/>
              <a:ext cx="66676" cy="147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8" name="Freeform 62"/>
            <p:cNvSpPr/>
            <p:nvPr/>
          </p:nvSpPr>
          <p:spPr>
            <a:xfrm>
              <a:off x="50174" y="8015"/>
              <a:ext cx="9552614" cy="58035"/>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3"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89" name="Freeform 63"/>
            <p:cNvSpPr/>
            <p:nvPr/>
          </p:nvSpPr>
          <p:spPr>
            <a:xfrm>
              <a:off x="5986817" y="43083"/>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0" name="Freeform 64"/>
            <p:cNvSpPr/>
            <p:nvPr/>
          </p:nvSpPr>
          <p:spPr>
            <a:xfrm>
              <a:off x="3907631" y="4923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1" name="Freeform 65"/>
            <p:cNvSpPr/>
            <p:nvPr/>
          </p:nvSpPr>
          <p:spPr>
            <a:xfrm>
              <a:off x="8151067" y="49852"/>
              <a:ext cx="24559"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2" name="Freeform 66"/>
            <p:cNvSpPr/>
            <p:nvPr/>
          </p:nvSpPr>
          <p:spPr>
            <a:xfrm>
              <a:off x="9444037" y="11693"/>
              <a:ext cx="3968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3" name="Freeform 67"/>
            <p:cNvSpPr/>
            <p:nvPr/>
          </p:nvSpPr>
          <p:spPr>
            <a:xfrm>
              <a:off x="9820717" y="35081"/>
              <a:ext cx="31308"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4" name="Freeform 68"/>
            <p:cNvSpPr/>
            <p:nvPr/>
          </p:nvSpPr>
          <p:spPr>
            <a:xfrm>
              <a:off x="9520237" y="24731"/>
              <a:ext cx="57453"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5" name="Freeform 69"/>
            <p:cNvSpPr/>
            <p:nvPr/>
          </p:nvSpPr>
          <p:spPr>
            <a:xfrm>
              <a:off x="9583737" y="24960"/>
              <a:ext cx="26186"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6" name="Freeform 70"/>
            <p:cNvSpPr/>
            <p:nvPr/>
          </p:nvSpPr>
          <p:spPr>
            <a:xfrm>
              <a:off x="9203277" y="12426"/>
              <a:ext cx="43773"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7" name="Freeform 71"/>
            <p:cNvSpPr/>
            <p:nvPr/>
          </p:nvSpPr>
          <p:spPr>
            <a:xfrm>
              <a:off x="9517062" y="33850"/>
              <a:ext cx="2698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8" name="Freeform 72"/>
            <p:cNvSpPr/>
            <p:nvPr/>
          </p:nvSpPr>
          <p:spPr>
            <a:xfrm>
              <a:off x="9319566" y="31735"/>
              <a:ext cx="57797"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399" name="Freeform 73"/>
            <p:cNvSpPr/>
            <p:nvPr/>
          </p:nvSpPr>
          <p:spPr>
            <a:xfrm>
              <a:off x="9377362" y="32003"/>
              <a:ext cx="36513"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0" name="Freeform 74"/>
            <p:cNvSpPr/>
            <p:nvPr/>
          </p:nvSpPr>
          <p:spPr>
            <a:xfrm>
              <a:off x="9436100" y="36312"/>
              <a:ext cx="4603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1" name="Freeform 75"/>
            <p:cNvSpPr/>
            <p:nvPr/>
          </p:nvSpPr>
          <p:spPr>
            <a:xfrm>
              <a:off x="8785839" y="32003"/>
              <a:ext cx="52253"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2" name="Freeform 76"/>
            <p:cNvSpPr/>
            <p:nvPr/>
          </p:nvSpPr>
          <p:spPr>
            <a:xfrm>
              <a:off x="8961437" y="41851"/>
              <a:ext cx="2381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3" name="Freeform 77"/>
            <p:cNvSpPr/>
            <p:nvPr/>
          </p:nvSpPr>
          <p:spPr>
            <a:xfrm>
              <a:off x="8805481" y="46159"/>
              <a:ext cx="54783"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4" name="Freeform 78"/>
            <p:cNvSpPr/>
            <p:nvPr/>
          </p:nvSpPr>
          <p:spPr>
            <a:xfrm>
              <a:off x="8098631" y="3200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5" name="Freeform 79"/>
            <p:cNvSpPr/>
            <p:nvPr/>
          </p:nvSpPr>
          <p:spPr>
            <a:xfrm>
              <a:off x="7439368" y="53425"/>
              <a:ext cx="74917"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6" name="Freeform 80"/>
            <p:cNvSpPr/>
            <p:nvPr/>
          </p:nvSpPr>
          <p:spPr>
            <a:xfrm>
              <a:off x="7483475" y="48621"/>
              <a:ext cx="17463"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7" name="Freeform 81"/>
            <p:cNvSpPr/>
            <p:nvPr/>
          </p:nvSpPr>
          <p:spPr>
            <a:xfrm>
              <a:off x="65087" y="0"/>
              <a:ext cx="38101" cy="127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8" name="Freeform 82"/>
            <p:cNvSpPr/>
            <p:nvPr/>
          </p:nvSpPr>
          <p:spPr>
            <a:xfrm>
              <a:off x="0" y="3077"/>
              <a:ext cx="3016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09" name="Freeform 83"/>
            <p:cNvSpPr/>
            <p:nvPr/>
          </p:nvSpPr>
          <p:spPr>
            <a:xfrm>
              <a:off x="5127625" y="56621"/>
              <a:ext cx="33338"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10" name="Freeform 84"/>
            <p:cNvSpPr/>
            <p:nvPr/>
          </p:nvSpPr>
          <p:spPr>
            <a:xfrm>
              <a:off x="4640262" y="49852"/>
              <a:ext cx="15876"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11" name="Freeform 85"/>
            <p:cNvSpPr/>
            <p:nvPr/>
          </p:nvSpPr>
          <p:spPr>
            <a:xfrm>
              <a:off x="4220538" y="56694"/>
              <a:ext cx="56188"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sp>
        <p:nvSpPr>
          <p:cNvPr id="1413" name="Title Text"/>
          <p:cNvSpPr txBox="1">
            <a:spLocks noGrp="1"/>
          </p:cNvSpPr>
          <p:nvPr>
            <p:ph type="title"/>
          </p:nvPr>
        </p:nvSpPr>
        <p:spPr>
          <a:xfrm>
            <a:off x="1522413" y="274638"/>
            <a:ext cx="9143999" cy="1020763"/>
          </a:xfrm>
          <a:prstGeom prst="rect">
            <a:avLst/>
          </a:prstGeom>
        </p:spPr>
        <p:txBody>
          <a:bodyPr/>
          <a:lstStyle/>
          <a:p>
            <a:r>
              <a:t>Title Text</a:t>
            </a:r>
          </a:p>
        </p:txBody>
      </p:sp>
      <p:sp>
        <p:nvSpPr>
          <p:cNvPr id="1414" name="Body Level One…"/>
          <p:cNvSpPr txBox="1">
            <a:spLocks noGrp="1"/>
          </p:cNvSpPr>
          <p:nvPr>
            <p:ph type="body" idx="1"/>
          </p:nvPr>
        </p:nvSpPr>
        <p:spPr>
          <a:xfrm>
            <a:off x="1522413" y="1905000"/>
            <a:ext cx="9144001" cy="42672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grpSp>
        <p:nvGrpSpPr>
          <p:cNvPr id="1496" name="line"/>
          <p:cNvGrpSpPr/>
          <p:nvPr/>
        </p:nvGrpSpPr>
        <p:grpSpPr>
          <a:xfrm>
            <a:off x="10075183" y="258482"/>
            <a:ext cx="69395" cy="6492240"/>
            <a:chOff x="0" y="0"/>
            <a:chExt cx="69394" cy="6492239"/>
          </a:xfrm>
        </p:grpSpPr>
        <p:sp>
          <p:nvSpPr>
            <p:cNvPr id="1422" name="Freeform 10"/>
            <p:cNvSpPr/>
            <p:nvPr/>
          </p:nvSpPr>
          <p:spPr>
            <a:xfrm rot="5400000">
              <a:off x="37693" y="6469770"/>
              <a:ext cx="32238" cy="12701"/>
            </a:xfrm>
            <a:custGeom>
              <a:avLst/>
              <a:gdLst/>
              <a:ahLst/>
              <a:cxnLst>
                <a:cxn ang="0">
                  <a:pos x="wd2" y="hd2"/>
                </a:cxn>
                <a:cxn ang="5400000">
                  <a:pos x="wd2" y="hd2"/>
                </a:cxn>
                <a:cxn ang="10800000">
                  <a:pos x="wd2" y="hd2"/>
                </a:cxn>
                <a:cxn ang="16200000">
                  <a:pos x="wd2" y="hd2"/>
                </a:cxn>
              </a:cxnLst>
              <a:rect l="0" t="0" r="r" b="b"/>
              <a:pathLst>
                <a:path w="17853" h="21600" extrusionOk="0">
                  <a:moveTo>
                    <a:pt x="5925" y="21600"/>
                  </a:moveTo>
                  <a:lnTo>
                    <a:pt x="17853" y="10800"/>
                  </a:lnTo>
                  <a:cubicBezTo>
                    <a:pt x="15596" y="7200"/>
                    <a:pt x="4635" y="3600"/>
                    <a:pt x="8826" y="0"/>
                  </a:cubicBezTo>
                  <a:cubicBezTo>
                    <a:pt x="-3747" y="3600"/>
                    <a:pt x="-1168" y="10800"/>
                    <a:pt x="592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23" name="Freeform 11"/>
            <p:cNvSpPr/>
            <p:nvPr/>
          </p:nvSpPr>
          <p:spPr>
            <a:xfrm rot="5400000">
              <a:off x="41817" y="6448835"/>
              <a:ext cx="12701" cy="12701"/>
            </a:xfrm>
            <a:custGeom>
              <a:avLst/>
              <a:gdLst/>
              <a:ahLst/>
              <a:cxnLst>
                <a:cxn ang="0">
                  <a:pos x="wd2" y="hd2"/>
                </a:cxn>
                <a:cxn ang="5400000">
                  <a:pos x="wd2" y="hd2"/>
                </a:cxn>
                <a:cxn ang="10800000">
                  <a:pos x="wd2" y="hd2"/>
                </a:cxn>
                <a:cxn ang="16200000">
                  <a:pos x="wd2" y="hd2"/>
                </a:cxn>
              </a:cxnLst>
              <a:rect l="0" t="0" r="r" b="b"/>
              <a:pathLst>
                <a:path w="21600" h="17894" extrusionOk="0">
                  <a:moveTo>
                    <a:pt x="0" y="17894"/>
                  </a:moveTo>
                  <a:lnTo>
                    <a:pt x="21600" y="7094"/>
                  </a:lnTo>
                  <a:cubicBezTo>
                    <a:pt x="17280" y="-3706"/>
                    <a:pt x="11880" y="-3706"/>
                    <a:pt x="0" y="1789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24" name="Freeform 12"/>
            <p:cNvSpPr/>
            <p:nvPr/>
          </p:nvSpPr>
          <p:spPr>
            <a:xfrm rot="5400000">
              <a:off x="35978" y="6466875"/>
              <a:ext cx="24378" cy="12701"/>
            </a:xfrm>
            <a:custGeom>
              <a:avLst/>
              <a:gdLst/>
              <a:ahLst/>
              <a:cxnLst>
                <a:cxn ang="0">
                  <a:pos x="wd2" y="hd2"/>
                </a:cxn>
                <a:cxn ang="5400000">
                  <a:pos x="wd2" y="hd2"/>
                </a:cxn>
                <a:cxn ang="10800000">
                  <a:pos x="wd2" y="hd2"/>
                </a:cxn>
                <a:cxn ang="16200000">
                  <a:pos x="wd2" y="hd2"/>
                </a:cxn>
              </a:cxnLst>
              <a:rect l="0" t="0" r="r" b="b"/>
              <a:pathLst>
                <a:path w="21600" h="13708" extrusionOk="0">
                  <a:moveTo>
                    <a:pt x="21600" y="0"/>
                  </a:moveTo>
                  <a:lnTo>
                    <a:pt x="0" y="7200"/>
                  </a:lnTo>
                  <a:cubicBezTo>
                    <a:pt x="2634" y="10800"/>
                    <a:pt x="3161" y="21600"/>
                    <a:pt x="10010" y="3600"/>
                  </a:cubicBezTo>
                  <a:cubicBezTo>
                    <a:pt x="7902" y="10800"/>
                    <a:pt x="12117" y="3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25" name="Freeform 15"/>
            <p:cNvSpPr/>
            <p:nvPr/>
          </p:nvSpPr>
          <p:spPr>
            <a:xfrm rot="5400000">
              <a:off x="39949" y="6339668"/>
              <a:ext cx="25266" cy="12701"/>
            </a:xfrm>
            <a:custGeom>
              <a:avLst/>
              <a:gdLst/>
              <a:ahLst/>
              <a:cxnLst>
                <a:cxn ang="0">
                  <a:pos x="wd2" y="hd2"/>
                </a:cxn>
                <a:cxn ang="5400000">
                  <a:pos x="wd2" y="hd2"/>
                </a:cxn>
                <a:cxn ang="10800000">
                  <a:pos x="wd2" y="hd2"/>
                </a:cxn>
                <a:cxn ang="16200000">
                  <a:pos x="wd2" y="hd2"/>
                </a:cxn>
              </a:cxnLst>
              <a:rect l="0" t="0" r="r" b="b"/>
              <a:pathLst>
                <a:path w="20728" h="21600" extrusionOk="0">
                  <a:moveTo>
                    <a:pt x="88" y="0"/>
                  </a:moveTo>
                  <a:cubicBezTo>
                    <a:pt x="-872" y="3600"/>
                    <a:pt x="6328" y="14400"/>
                    <a:pt x="7768" y="21600"/>
                  </a:cubicBezTo>
                  <a:lnTo>
                    <a:pt x="20728" y="14400"/>
                  </a:lnTo>
                  <a:cubicBezTo>
                    <a:pt x="14008" y="10800"/>
                    <a:pt x="1048" y="7200"/>
                    <a:pt x="8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26" name="Freeform 16"/>
            <p:cNvSpPr/>
            <p:nvPr/>
          </p:nvSpPr>
          <p:spPr>
            <a:xfrm rot="5400000">
              <a:off x="36699" y="6324510"/>
              <a:ext cx="24380" cy="12701"/>
            </a:xfrm>
            <a:custGeom>
              <a:avLst/>
              <a:gdLst/>
              <a:ahLst/>
              <a:cxnLst>
                <a:cxn ang="0">
                  <a:pos x="wd2" y="hd2"/>
                </a:cxn>
                <a:cxn ang="5400000">
                  <a:pos x="wd2" y="hd2"/>
                </a:cxn>
                <a:cxn ang="10800000">
                  <a:pos x="wd2" y="hd2"/>
                </a:cxn>
                <a:cxn ang="16200000">
                  <a:pos x="wd2" y="hd2"/>
                </a:cxn>
              </a:cxnLst>
              <a:rect l="0" t="0" r="r" b="b"/>
              <a:pathLst>
                <a:path w="20770" h="21600" extrusionOk="0">
                  <a:moveTo>
                    <a:pt x="20618" y="0"/>
                  </a:moveTo>
                  <a:lnTo>
                    <a:pt x="0" y="21600"/>
                  </a:lnTo>
                  <a:cubicBezTo>
                    <a:pt x="18164" y="21600"/>
                    <a:pt x="21600" y="14400"/>
                    <a:pt x="2061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27" name="Freeform 17"/>
            <p:cNvSpPr/>
            <p:nvPr/>
          </p:nvSpPr>
          <p:spPr>
            <a:xfrm rot="5400000">
              <a:off x="18228" y="6455174"/>
              <a:ext cx="47781" cy="12701"/>
            </a:xfrm>
            <a:custGeom>
              <a:avLst/>
              <a:gdLst/>
              <a:ahLst/>
              <a:cxnLst>
                <a:cxn ang="0">
                  <a:pos x="wd2" y="hd2"/>
                </a:cxn>
                <a:cxn ang="5400000">
                  <a:pos x="wd2" y="hd2"/>
                </a:cxn>
                <a:cxn ang="10800000">
                  <a:pos x="wd2" y="hd2"/>
                </a:cxn>
                <a:cxn ang="16200000">
                  <a:pos x="wd2" y="hd2"/>
                </a:cxn>
              </a:cxnLst>
              <a:rect l="0" t="0" r="r" b="b"/>
              <a:pathLst>
                <a:path w="21600" h="21600" extrusionOk="0">
                  <a:moveTo>
                    <a:pt x="3688" y="21600"/>
                  </a:moveTo>
                  <a:lnTo>
                    <a:pt x="21600" y="0"/>
                  </a:lnTo>
                  <a:lnTo>
                    <a:pt x="0" y="21600"/>
                  </a:lnTo>
                  <a:lnTo>
                    <a:pt x="3688"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28" name="Freeform 18"/>
            <p:cNvSpPr/>
            <p:nvPr/>
          </p:nvSpPr>
          <p:spPr>
            <a:xfrm rot="5400000">
              <a:off x="44085" y="6235775"/>
              <a:ext cx="24378" cy="12701"/>
            </a:xfrm>
            <a:custGeom>
              <a:avLst/>
              <a:gdLst/>
              <a:ahLst/>
              <a:cxnLst>
                <a:cxn ang="0">
                  <a:pos x="wd2" y="hd2"/>
                </a:cxn>
                <a:cxn ang="5400000">
                  <a:pos x="wd2" y="hd2"/>
                </a:cxn>
                <a:cxn ang="10800000">
                  <a:pos x="wd2" y="hd2"/>
                </a:cxn>
                <a:cxn ang="16200000">
                  <a:pos x="wd2" y="hd2"/>
                </a:cxn>
              </a:cxnLst>
              <a:rect l="0" t="0" r="r" b="b"/>
              <a:pathLst>
                <a:path w="21600" h="21600" extrusionOk="0">
                  <a:moveTo>
                    <a:pt x="9771" y="17280"/>
                  </a:moveTo>
                  <a:lnTo>
                    <a:pt x="21600" y="0"/>
                  </a:lnTo>
                  <a:lnTo>
                    <a:pt x="0" y="21600"/>
                  </a:lnTo>
                  <a:lnTo>
                    <a:pt x="9771" y="1728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29" name="Freeform 19"/>
            <p:cNvSpPr/>
            <p:nvPr/>
          </p:nvSpPr>
          <p:spPr>
            <a:xfrm rot="5400000">
              <a:off x="32913" y="6150667"/>
              <a:ext cx="49184" cy="12701"/>
            </a:xfrm>
            <a:custGeom>
              <a:avLst/>
              <a:gdLst/>
              <a:ahLst/>
              <a:cxnLst>
                <a:cxn ang="0">
                  <a:pos x="wd2" y="hd2"/>
                </a:cxn>
                <a:cxn ang="5400000">
                  <a:pos x="wd2" y="hd2"/>
                </a:cxn>
                <a:cxn ang="10800000">
                  <a:pos x="wd2" y="hd2"/>
                </a:cxn>
                <a:cxn ang="16200000">
                  <a:pos x="wd2" y="hd2"/>
                </a:cxn>
              </a:cxnLst>
              <a:rect l="0" t="0" r="r" b="b"/>
              <a:pathLst>
                <a:path w="18784" h="21600" extrusionOk="0">
                  <a:moveTo>
                    <a:pt x="17853" y="21600"/>
                  </a:moveTo>
                  <a:cubicBezTo>
                    <a:pt x="21600" y="10800"/>
                    <a:pt x="12563" y="3600"/>
                    <a:pt x="16531" y="0"/>
                  </a:cubicBezTo>
                  <a:cubicBezTo>
                    <a:pt x="10359" y="0"/>
                    <a:pt x="4849" y="7200"/>
                    <a:pt x="0" y="18000"/>
                  </a:cubicBezTo>
                  <a:cubicBezTo>
                    <a:pt x="5290" y="10800"/>
                    <a:pt x="10800" y="14400"/>
                    <a:pt x="17853"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0" name="Freeform 20"/>
            <p:cNvSpPr/>
            <p:nvPr/>
          </p:nvSpPr>
          <p:spPr>
            <a:xfrm rot="5400000">
              <a:off x="43701" y="6115350"/>
              <a:ext cx="21453"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6600" y="14400"/>
                    <a:pt x="13800" y="7200"/>
                    <a:pt x="21600" y="0"/>
                  </a:cubicBezTo>
                  <a:cubicBezTo>
                    <a:pt x="14400" y="0"/>
                    <a:pt x="7200" y="72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1" name="Freeform 21"/>
            <p:cNvSpPr/>
            <p:nvPr/>
          </p:nvSpPr>
          <p:spPr>
            <a:xfrm rot="5400000">
              <a:off x="40856" y="6261128"/>
              <a:ext cx="1852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9575" y="17280"/>
                    <a:pt x="15525" y="4320"/>
                    <a:pt x="0" y="0"/>
                  </a:cubicBezTo>
                  <a:lnTo>
                    <a:pt x="10800" y="2160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2" name="Freeform 22"/>
            <p:cNvSpPr/>
            <p:nvPr/>
          </p:nvSpPr>
          <p:spPr>
            <a:xfrm rot="5400000">
              <a:off x="37547" y="6250890"/>
              <a:ext cx="2145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000" y="2160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3" name="Freeform 23"/>
            <p:cNvSpPr/>
            <p:nvPr/>
          </p:nvSpPr>
          <p:spPr>
            <a:xfrm rot="5400000">
              <a:off x="41942" y="6278839"/>
              <a:ext cx="12701" cy="1"/>
            </a:xfrm>
            <a:custGeom>
              <a:avLst/>
              <a:gdLst/>
              <a:ahLst/>
              <a:cxnLst>
                <a:cxn ang="0">
                  <a:pos x="wd2" y="hd2"/>
                </a:cxn>
                <a:cxn ang="5400000">
                  <a:pos x="wd2" y="hd2"/>
                </a:cxn>
                <a:cxn ang="10800000">
                  <a:pos x="wd2" y="hd2"/>
                </a:cxn>
                <a:cxn ang="16200000">
                  <a:pos x="wd2" y="hd2"/>
                </a:cxn>
              </a:cxnLst>
              <a:rect l="0" t="0" r="r" b="b"/>
              <a:pathLst>
                <a:path w="21600" extrusionOk="0">
                  <a:moveTo>
                    <a:pt x="21600" y="0"/>
                  </a:moveTo>
                  <a:lnTo>
                    <a:pt x="0" y="0"/>
                  </a:lnTo>
                  <a:cubicBezTo>
                    <a:pt x="8640" y="0"/>
                    <a:pt x="12960" y="0"/>
                    <a:pt x="21600" y="0"/>
                  </a:cubicBezTo>
                  <a:close/>
                </a:path>
              </a:pathLst>
            </a:custGeom>
            <a:noFill/>
            <a:ln w="12700" cap="flat">
              <a:noFill/>
              <a:miter lim="400000"/>
            </a:ln>
            <a:effectLst/>
          </p:spPr>
          <p:txBody>
            <a:bodyPr wrap="square" lIns="45719" tIns="45719" rIns="45719" bIns="45719" numCol="1" anchor="t">
              <a:noAutofit/>
            </a:bodyPr>
            <a:lstStyle/>
            <a:p>
              <a:endParaRPr/>
            </a:p>
          </p:txBody>
        </p:sp>
        <p:sp>
          <p:nvSpPr>
            <p:cNvPr id="1434" name="Freeform 24"/>
            <p:cNvSpPr/>
            <p:nvPr/>
          </p:nvSpPr>
          <p:spPr>
            <a:xfrm rot="5400000">
              <a:off x="26044" y="6362091"/>
              <a:ext cx="27225" cy="12701"/>
            </a:xfrm>
            <a:custGeom>
              <a:avLst/>
              <a:gdLst/>
              <a:ahLst/>
              <a:cxnLst>
                <a:cxn ang="0">
                  <a:pos x="wd2" y="hd2"/>
                </a:cxn>
                <a:cxn ang="5400000">
                  <a:pos x="wd2" y="hd2"/>
                </a:cxn>
                <a:cxn ang="10800000">
                  <a:pos x="wd2" y="hd2"/>
                </a:cxn>
                <a:cxn ang="16200000">
                  <a:pos x="wd2" y="hd2"/>
                </a:cxn>
              </a:cxnLst>
              <a:rect l="0" t="0" r="r" b="b"/>
              <a:pathLst>
                <a:path w="13401" h="21600" extrusionOk="0">
                  <a:moveTo>
                    <a:pt x="13401" y="0"/>
                  </a:moveTo>
                  <a:cubicBezTo>
                    <a:pt x="6489" y="7200"/>
                    <a:pt x="-8199" y="12000"/>
                    <a:pt x="5913" y="21600"/>
                  </a:cubicBezTo>
                  <a:cubicBezTo>
                    <a:pt x="10809" y="14400"/>
                    <a:pt x="2745" y="9600"/>
                    <a:pt x="13401"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5" name="Freeform 25"/>
            <p:cNvSpPr/>
            <p:nvPr/>
          </p:nvSpPr>
          <p:spPr>
            <a:xfrm rot="5400000">
              <a:off x="30928" y="6298670"/>
              <a:ext cx="27304"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20221" y="21600"/>
                  </a:lnTo>
                  <a:cubicBezTo>
                    <a:pt x="19762" y="16200"/>
                    <a:pt x="16085" y="5400"/>
                    <a:pt x="21600" y="0"/>
                  </a:cubicBez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6" name="Freeform 26"/>
            <p:cNvSpPr/>
            <p:nvPr/>
          </p:nvSpPr>
          <p:spPr>
            <a:xfrm rot="5400000">
              <a:off x="36383" y="6278679"/>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4909"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7" name="Freeform 27"/>
            <p:cNvSpPr/>
            <p:nvPr/>
          </p:nvSpPr>
          <p:spPr>
            <a:xfrm rot="5400000">
              <a:off x="24647" y="6135075"/>
              <a:ext cx="47253" cy="12701"/>
            </a:xfrm>
            <a:custGeom>
              <a:avLst/>
              <a:gdLst/>
              <a:ahLst/>
              <a:cxnLst>
                <a:cxn ang="0">
                  <a:pos x="wd2" y="hd2"/>
                </a:cxn>
                <a:cxn ang="5400000">
                  <a:pos x="wd2" y="hd2"/>
                </a:cxn>
                <a:cxn ang="10800000">
                  <a:pos x="wd2" y="hd2"/>
                </a:cxn>
                <a:cxn ang="16200000">
                  <a:pos x="wd2" y="hd2"/>
                </a:cxn>
              </a:cxnLst>
              <a:rect l="0" t="0" r="r" b="b"/>
              <a:pathLst>
                <a:path w="19383" h="21600" extrusionOk="0">
                  <a:moveTo>
                    <a:pt x="15120" y="0"/>
                  </a:moveTo>
                  <a:cubicBezTo>
                    <a:pt x="10560" y="10800"/>
                    <a:pt x="5520" y="10800"/>
                    <a:pt x="0" y="10800"/>
                  </a:cubicBezTo>
                  <a:cubicBezTo>
                    <a:pt x="6000" y="16200"/>
                    <a:pt x="12240" y="21600"/>
                    <a:pt x="18240" y="21600"/>
                  </a:cubicBezTo>
                  <a:cubicBezTo>
                    <a:pt x="18960" y="10800"/>
                    <a:pt x="21600" y="0"/>
                    <a:pt x="151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8" name="Freeform 28"/>
            <p:cNvSpPr/>
            <p:nvPr/>
          </p:nvSpPr>
          <p:spPr>
            <a:xfrm rot="5400000">
              <a:off x="41923" y="6201646"/>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2960" y="21600"/>
                    <a:pt x="21600" y="216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39" name="Freeform 29"/>
            <p:cNvSpPr/>
            <p:nvPr/>
          </p:nvSpPr>
          <p:spPr>
            <a:xfrm rot="5400000">
              <a:off x="41307" y="597737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80" y="21600"/>
                  </a:lnTo>
                  <a:cubicBezTo>
                    <a:pt x="17280" y="21600"/>
                    <a:pt x="17280" y="0"/>
                    <a:pt x="21600"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0" name="Freeform 30"/>
            <p:cNvSpPr/>
            <p:nvPr/>
          </p:nvSpPr>
          <p:spPr>
            <a:xfrm rot="5400000">
              <a:off x="33008" y="6169214"/>
              <a:ext cx="26837" cy="12701"/>
            </a:xfrm>
            <a:custGeom>
              <a:avLst/>
              <a:gdLst/>
              <a:ahLst/>
              <a:cxnLst>
                <a:cxn ang="0">
                  <a:pos x="wd2" y="hd2"/>
                </a:cxn>
                <a:cxn ang="5400000">
                  <a:pos x="wd2" y="hd2"/>
                </a:cxn>
                <a:cxn ang="10800000">
                  <a:pos x="wd2" y="hd2"/>
                </a:cxn>
                <a:cxn ang="16200000">
                  <a:pos x="wd2" y="hd2"/>
                </a:cxn>
              </a:cxnLst>
              <a:rect l="0" t="0" r="r" b="b"/>
              <a:pathLst>
                <a:path w="21231" h="21600" extrusionOk="0">
                  <a:moveTo>
                    <a:pt x="2388" y="21600"/>
                  </a:moveTo>
                  <a:cubicBezTo>
                    <a:pt x="11120" y="21600"/>
                    <a:pt x="16176" y="10800"/>
                    <a:pt x="21231" y="0"/>
                  </a:cubicBezTo>
                  <a:cubicBezTo>
                    <a:pt x="14797" y="0"/>
                    <a:pt x="7903" y="10800"/>
                    <a:pt x="550" y="10800"/>
                  </a:cubicBezTo>
                  <a:cubicBezTo>
                    <a:pt x="-369" y="10800"/>
                    <a:pt x="-369" y="21600"/>
                    <a:pt x="238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1" name="Freeform 31"/>
            <p:cNvSpPr/>
            <p:nvPr/>
          </p:nvSpPr>
          <p:spPr>
            <a:xfrm rot="5400000">
              <a:off x="41301" y="6076346"/>
              <a:ext cx="19503" cy="12701"/>
            </a:xfrm>
            <a:custGeom>
              <a:avLst/>
              <a:gdLst/>
              <a:ahLst/>
              <a:cxnLst>
                <a:cxn ang="0">
                  <a:pos x="wd2" y="hd2"/>
                </a:cxn>
                <a:cxn ang="5400000">
                  <a:pos x="wd2" y="hd2"/>
                </a:cxn>
                <a:cxn ang="10800000">
                  <a:pos x="wd2" y="hd2"/>
                </a:cxn>
                <a:cxn ang="16200000">
                  <a:pos x="wd2" y="hd2"/>
                </a:cxn>
              </a:cxnLst>
              <a:rect l="0" t="0" r="r" b="b"/>
              <a:pathLst>
                <a:path w="21600" h="16362" extrusionOk="0">
                  <a:moveTo>
                    <a:pt x="0" y="1962"/>
                  </a:moveTo>
                  <a:cubicBezTo>
                    <a:pt x="6545" y="9162"/>
                    <a:pt x="13745" y="16362"/>
                    <a:pt x="21600" y="16362"/>
                  </a:cubicBezTo>
                  <a:cubicBezTo>
                    <a:pt x="15055" y="9162"/>
                    <a:pt x="1964" y="-5238"/>
                    <a:pt x="0" y="196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2" name="Freeform 32"/>
            <p:cNvSpPr/>
            <p:nvPr/>
          </p:nvSpPr>
          <p:spPr>
            <a:xfrm rot="5400000">
              <a:off x="43769" y="6197593"/>
              <a:ext cx="12701" cy="12701"/>
            </a:xfrm>
            <a:custGeom>
              <a:avLst/>
              <a:gdLst/>
              <a:ahLst/>
              <a:cxnLst>
                <a:cxn ang="0">
                  <a:pos x="wd2" y="hd2"/>
                </a:cxn>
                <a:cxn ang="5400000">
                  <a:pos x="wd2" y="hd2"/>
                </a:cxn>
                <a:cxn ang="10800000">
                  <a:pos x="wd2" y="hd2"/>
                </a:cxn>
                <a:cxn ang="16200000">
                  <a:pos x="wd2" y="hd2"/>
                </a:cxn>
              </a:cxnLst>
              <a:rect l="0" t="0" r="r" b="b"/>
              <a:pathLst>
                <a:path w="17894" h="9600" extrusionOk="0">
                  <a:moveTo>
                    <a:pt x="7094" y="9600"/>
                  </a:moveTo>
                  <a:lnTo>
                    <a:pt x="17894" y="9600"/>
                  </a:lnTo>
                  <a:cubicBezTo>
                    <a:pt x="-3706" y="-12000"/>
                    <a:pt x="-3706" y="9600"/>
                    <a:pt x="7094"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3" name="Freeform 33"/>
            <p:cNvSpPr/>
            <p:nvPr/>
          </p:nvSpPr>
          <p:spPr>
            <a:xfrm rot="5400000">
              <a:off x="40112" y="6191408"/>
              <a:ext cx="17553" cy="12701"/>
            </a:xfrm>
            <a:custGeom>
              <a:avLst/>
              <a:gdLst/>
              <a:ahLst/>
              <a:cxnLst>
                <a:cxn ang="0">
                  <a:pos x="wd2" y="hd2"/>
                </a:cxn>
                <a:cxn ang="5400000">
                  <a:pos x="wd2" y="hd2"/>
                </a:cxn>
                <a:cxn ang="10800000">
                  <a:pos x="wd2" y="hd2"/>
                </a:cxn>
                <a:cxn ang="16200000">
                  <a:pos x="wd2" y="hd2"/>
                </a:cxn>
              </a:cxnLst>
              <a:rect l="0" t="0" r="r" b="b"/>
              <a:pathLst>
                <a:path w="21600" h="21600" extrusionOk="0">
                  <a:moveTo>
                    <a:pt x="17419" y="0"/>
                  </a:moveTo>
                  <a:cubicBezTo>
                    <a:pt x="10452" y="7200"/>
                    <a:pt x="5574" y="14400"/>
                    <a:pt x="0" y="21600"/>
                  </a:cubicBezTo>
                  <a:cubicBezTo>
                    <a:pt x="7665" y="21600"/>
                    <a:pt x="15329" y="14400"/>
                    <a:pt x="21600" y="14400"/>
                  </a:cubicBezTo>
                  <a:cubicBezTo>
                    <a:pt x="20206" y="7200"/>
                    <a:pt x="18813" y="7200"/>
                    <a:pt x="17419"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4" name="Freeform 34"/>
            <p:cNvSpPr/>
            <p:nvPr/>
          </p:nvSpPr>
          <p:spPr>
            <a:xfrm rot="5400000">
              <a:off x="-12529" y="5949913"/>
              <a:ext cx="96986" cy="23389"/>
            </a:xfrm>
            <a:custGeom>
              <a:avLst/>
              <a:gdLst/>
              <a:ahLst/>
              <a:cxnLst>
                <a:cxn ang="0">
                  <a:pos x="wd2" y="hd2"/>
                </a:cxn>
                <a:cxn ang="5400000">
                  <a:pos x="wd2" y="hd2"/>
                </a:cxn>
                <a:cxn ang="10800000">
                  <a:pos x="wd2" y="hd2"/>
                </a:cxn>
                <a:cxn ang="16200000">
                  <a:pos x="wd2" y="hd2"/>
                </a:cxn>
              </a:cxnLst>
              <a:rect l="0" t="0" r="r" b="b"/>
              <a:pathLst>
                <a:path w="18053" h="21600" extrusionOk="0">
                  <a:moveTo>
                    <a:pt x="5258" y="21600"/>
                  </a:moveTo>
                  <a:cubicBezTo>
                    <a:pt x="5586" y="18400"/>
                    <a:pt x="11040" y="15200"/>
                    <a:pt x="15731" y="19200"/>
                  </a:cubicBezTo>
                  <a:cubicBezTo>
                    <a:pt x="20313" y="16800"/>
                    <a:pt x="17368" y="5600"/>
                    <a:pt x="13331" y="0"/>
                  </a:cubicBezTo>
                  <a:cubicBezTo>
                    <a:pt x="13222" y="1600"/>
                    <a:pt x="13222" y="2400"/>
                    <a:pt x="8422" y="4800"/>
                  </a:cubicBezTo>
                  <a:cubicBezTo>
                    <a:pt x="10058" y="6400"/>
                    <a:pt x="19004" y="8800"/>
                    <a:pt x="14968" y="11200"/>
                  </a:cubicBezTo>
                  <a:cubicBezTo>
                    <a:pt x="8640" y="12800"/>
                    <a:pt x="9840" y="10400"/>
                    <a:pt x="6786" y="8800"/>
                  </a:cubicBezTo>
                  <a:cubicBezTo>
                    <a:pt x="9295" y="12800"/>
                    <a:pt x="-1287" y="14400"/>
                    <a:pt x="131" y="20000"/>
                  </a:cubicBezTo>
                  <a:lnTo>
                    <a:pt x="5586" y="18400"/>
                  </a:lnTo>
                  <a:cubicBezTo>
                    <a:pt x="5695" y="19200"/>
                    <a:pt x="3731" y="20800"/>
                    <a:pt x="5258"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5" name="Freeform 35"/>
            <p:cNvSpPr/>
            <p:nvPr/>
          </p:nvSpPr>
          <p:spPr>
            <a:xfrm rot="5400000">
              <a:off x="20866" y="6008089"/>
              <a:ext cx="58508" cy="12701"/>
            </a:xfrm>
            <a:custGeom>
              <a:avLst/>
              <a:gdLst/>
              <a:ahLst/>
              <a:cxnLst>
                <a:cxn ang="0">
                  <a:pos x="wd2" y="hd2"/>
                </a:cxn>
                <a:cxn ang="5400000">
                  <a:pos x="wd2" y="hd2"/>
                </a:cxn>
                <a:cxn ang="10800000">
                  <a:pos x="wd2" y="hd2"/>
                </a:cxn>
                <a:cxn ang="16200000">
                  <a:pos x="wd2" y="hd2"/>
                </a:cxn>
              </a:cxnLst>
              <a:rect l="0" t="0" r="r" b="b"/>
              <a:pathLst>
                <a:path w="21600" h="21600" extrusionOk="0">
                  <a:moveTo>
                    <a:pt x="17712" y="21600"/>
                  </a:moveTo>
                  <a:lnTo>
                    <a:pt x="21600" y="21600"/>
                  </a:lnTo>
                  <a:cubicBezTo>
                    <a:pt x="17064" y="18000"/>
                    <a:pt x="14040" y="14400"/>
                    <a:pt x="8208" y="0"/>
                  </a:cubicBezTo>
                  <a:cubicBezTo>
                    <a:pt x="1728" y="7200"/>
                    <a:pt x="432" y="14400"/>
                    <a:pt x="0" y="18000"/>
                  </a:cubicBezTo>
                  <a:lnTo>
                    <a:pt x="19008" y="21600"/>
                  </a:lnTo>
                  <a:lnTo>
                    <a:pt x="17712"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6" name="Freeform 36"/>
            <p:cNvSpPr/>
            <p:nvPr/>
          </p:nvSpPr>
          <p:spPr>
            <a:xfrm rot="5400000">
              <a:off x="6901" y="6074406"/>
              <a:ext cx="74129" cy="12701"/>
            </a:xfrm>
            <a:custGeom>
              <a:avLst/>
              <a:gdLst/>
              <a:ahLst/>
              <a:cxnLst>
                <a:cxn ang="0">
                  <a:pos x="wd2" y="hd2"/>
                </a:cxn>
                <a:cxn ang="5400000">
                  <a:pos x="wd2" y="hd2"/>
                </a:cxn>
                <a:cxn ang="10800000">
                  <a:pos x="wd2" y="hd2"/>
                </a:cxn>
                <a:cxn ang="16200000">
                  <a:pos x="wd2" y="hd2"/>
                </a:cxn>
              </a:cxnLst>
              <a:rect l="0" t="0" r="r" b="b"/>
              <a:pathLst>
                <a:path w="19318" h="21600" extrusionOk="0">
                  <a:moveTo>
                    <a:pt x="12169" y="4629"/>
                  </a:moveTo>
                  <a:cubicBezTo>
                    <a:pt x="10039" y="10800"/>
                    <a:pt x="3499" y="13886"/>
                    <a:pt x="7454" y="21600"/>
                  </a:cubicBezTo>
                  <a:cubicBezTo>
                    <a:pt x="15515" y="21600"/>
                    <a:pt x="13082" y="15429"/>
                    <a:pt x="17949" y="12343"/>
                  </a:cubicBezTo>
                  <a:cubicBezTo>
                    <a:pt x="5020" y="13886"/>
                    <a:pt x="21600" y="9257"/>
                    <a:pt x="12321" y="4629"/>
                  </a:cubicBezTo>
                  <a:cubicBezTo>
                    <a:pt x="14755" y="4629"/>
                    <a:pt x="17037" y="3086"/>
                    <a:pt x="19318" y="3086"/>
                  </a:cubicBezTo>
                  <a:cubicBezTo>
                    <a:pt x="16885" y="3086"/>
                    <a:pt x="14755" y="1543"/>
                    <a:pt x="12625" y="0"/>
                  </a:cubicBezTo>
                  <a:lnTo>
                    <a:pt x="12930" y="1543"/>
                  </a:lnTo>
                  <a:cubicBezTo>
                    <a:pt x="12930" y="1543"/>
                    <a:pt x="12930" y="1543"/>
                    <a:pt x="12930" y="1543"/>
                  </a:cubicBezTo>
                  <a:cubicBezTo>
                    <a:pt x="13538" y="1543"/>
                    <a:pt x="13690" y="1543"/>
                    <a:pt x="13082" y="1543"/>
                  </a:cubicBezTo>
                  <a:lnTo>
                    <a:pt x="12777" y="1543"/>
                  </a:lnTo>
                  <a:cubicBezTo>
                    <a:pt x="12625" y="3086"/>
                    <a:pt x="12473" y="3086"/>
                    <a:pt x="12169" y="4629"/>
                  </a:cubicBezTo>
                  <a:cubicBezTo>
                    <a:pt x="8518" y="3086"/>
                    <a:pt x="11561" y="3086"/>
                    <a:pt x="12777" y="1543"/>
                  </a:cubicBezTo>
                  <a:cubicBezTo>
                    <a:pt x="12777" y="1543"/>
                    <a:pt x="12930" y="1543"/>
                    <a:pt x="12930" y="1543"/>
                  </a:cubicBezTo>
                  <a:lnTo>
                    <a:pt x="0" y="4629"/>
                  </a:lnTo>
                  <a:cubicBezTo>
                    <a:pt x="2738" y="4629"/>
                    <a:pt x="6085" y="4629"/>
                    <a:pt x="12169" y="46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7" name="Freeform 37"/>
            <p:cNvSpPr/>
            <p:nvPr/>
          </p:nvSpPr>
          <p:spPr>
            <a:xfrm rot="5400000">
              <a:off x="22228" y="6331677"/>
              <a:ext cx="12701" cy="12701"/>
            </a:xfrm>
            <a:custGeom>
              <a:avLst/>
              <a:gdLst/>
              <a:ahLst/>
              <a:cxnLst>
                <a:cxn ang="0">
                  <a:pos x="wd2" y="hd2"/>
                </a:cxn>
                <a:cxn ang="5400000">
                  <a:pos x="wd2" y="hd2"/>
                </a:cxn>
                <a:cxn ang="10800000">
                  <a:pos x="wd2" y="hd2"/>
                </a:cxn>
                <a:cxn ang="16200000">
                  <a:pos x="wd2" y="hd2"/>
                </a:cxn>
              </a:cxnLst>
              <a:rect l="0" t="0" r="r" b="b"/>
              <a:pathLst>
                <a:path w="15475" h="21600" extrusionOk="0">
                  <a:moveTo>
                    <a:pt x="15475" y="21600"/>
                  </a:moveTo>
                  <a:cubicBezTo>
                    <a:pt x="9584" y="21600"/>
                    <a:pt x="9584" y="21600"/>
                    <a:pt x="9584" y="0"/>
                  </a:cubicBezTo>
                  <a:cubicBezTo>
                    <a:pt x="-2198" y="21600"/>
                    <a:pt x="-6125" y="21600"/>
                    <a:pt x="15475"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8" name="Freeform 38"/>
            <p:cNvSpPr/>
            <p:nvPr/>
          </p:nvSpPr>
          <p:spPr>
            <a:xfrm rot="5400000">
              <a:off x="5381" y="6316975"/>
              <a:ext cx="57472" cy="12701"/>
            </a:xfrm>
            <a:custGeom>
              <a:avLst/>
              <a:gdLst/>
              <a:ahLst/>
              <a:cxnLst>
                <a:cxn ang="0">
                  <a:pos x="wd2" y="hd2"/>
                </a:cxn>
                <a:cxn ang="5400000">
                  <a:pos x="wd2" y="hd2"/>
                </a:cxn>
                <a:cxn ang="10800000">
                  <a:pos x="wd2" y="hd2"/>
                </a:cxn>
                <a:cxn ang="16200000">
                  <a:pos x="wd2" y="hd2"/>
                </a:cxn>
              </a:cxnLst>
              <a:rect l="0" t="0" r="r" b="b"/>
              <a:pathLst>
                <a:path w="17204" h="21600" extrusionOk="0">
                  <a:moveTo>
                    <a:pt x="7534" y="19800"/>
                  </a:moveTo>
                  <a:cubicBezTo>
                    <a:pt x="8597" y="18000"/>
                    <a:pt x="9482" y="14400"/>
                    <a:pt x="13023" y="16200"/>
                  </a:cubicBezTo>
                  <a:cubicBezTo>
                    <a:pt x="16033" y="18000"/>
                    <a:pt x="13023" y="19800"/>
                    <a:pt x="13200" y="21600"/>
                  </a:cubicBezTo>
                  <a:cubicBezTo>
                    <a:pt x="15325" y="19800"/>
                    <a:pt x="20636" y="16200"/>
                    <a:pt x="13908" y="12600"/>
                  </a:cubicBezTo>
                  <a:lnTo>
                    <a:pt x="12846" y="14400"/>
                  </a:lnTo>
                  <a:cubicBezTo>
                    <a:pt x="6826" y="10800"/>
                    <a:pt x="-964" y="1800"/>
                    <a:pt x="98" y="0"/>
                  </a:cubicBezTo>
                  <a:cubicBezTo>
                    <a:pt x="1869" y="7200"/>
                    <a:pt x="3462" y="12600"/>
                    <a:pt x="7534" y="19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49" name="Freeform 39"/>
            <p:cNvSpPr/>
            <p:nvPr/>
          </p:nvSpPr>
          <p:spPr>
            <a:xfrm rot="5400000">
              <a:off x="15056" y="6176597"/>
              <a:ext cx="40586" cy="12701"/>
            </a:xfrm>
            <a:custGeom>
              <a:avLst/>
              <a:gdLst/>
              <a:ahLst/>
              <a:cxnLst>
                <a:cxn ang="0">
                  <a:pos x="wd2" y="hd2"/>
                </a:cxn>
                <a:cxn ang="5400000">
                  <a:pos x="wd2" y="hd2"/>
                </a:cxn>
                <a:cxn ang="10800000">
                  <a:pos x="wd2" y="hd2"/>
                </a:cxn>
                <a:cxn ang="16200000">
                  <a:pos x="wd2" y="hd2"/>
                </a:cxn>
              </a:cxnLst>
              <a:rect l="0" t="0" r="r" b="b"/>
              <a:pathLst>
                <a:path w="20432" h="21600" extrusionOk="0">
                  <a:moveTo>
                    <a:pt x="20432" y="0"/>
                  </a:moveTo>
                  <a:lnTo>
                    <a:pt x="0" y="7200"/>
                  </a:lnTo>
                  <a:lnTo>
                    <a:pt x="10508" y="21600"/>
                  </a:lnTo>
                  <a:lnTo>
                    <a:pt x="9924" y="14400"/>
                  </a:lnTo>
                  <a:cubicBezTo>
                    <a:pt x="21600" y="14400"/>
                    <a:pt x="18973" y="7200"/>
                    <a:pt x="2043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0" name="Freeform 40"/>
            <p:cNvSpPr/>
            <p:nvPr/>
          </p:nvSpPr>
          <p:spPr>
            <a:xfrm rot="5400000">
              <a:off x="39033" y="5964209"/>
              <a:ext cx="23403" cy="12701"/>
            </a:xfrm>
            <a:custGeom>
              <a:avLst/>
              <a:gdLst/>
              <a:ahLst/>
              <a:cxnLst>
                <a:cxn ang="0">
                  <a:pos x="wd2" y="hd2"/>
                </a:cxn>
                <a:cxn ang="5400000">
                  <a:pos x="wd2" y="hd2"/>
                </a:cxn>
                <a:cxn ang="10800000">
                  <a:pos x="wd2" y="hd2"/>
                </a:cxn>
                <a:cxn ang="16200000">
                  <a:pos x="wd2" y="hd2"/>
                </a:cxn>
              </a:cxnLst>
              <a:rect l="0" t="0" r="r" b="b"/>
              <a:pathLst>
                <a:path w="21600" h="21600" extrusionOk="0">
                  <a:moveTo>
                    <a:pt x="16740" y="15429"/>
                  </a:moveTo>
                  <a:lnTo>
                    <a:pt x="21600" y="0"/>
                  </a:lnTo>
                  <a:lnTo>
                    <a:pt x="0" y="21600"/>
                  </a:lnTo>
                  <a:lnTo>
                    <a:pt x="16740" y="15429"/>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1" name="Freeform 41"/>
            <p:cNvSpPr/>
            <p:nvPr/>
          </p:nvSpPr>
          <p:spPr>
            <a:xfrm rot="5400000">
              <a:off x="44525" y="5911553"/>
              <a:ext cx="13652" cy="12701"/>
            </a:xfrm>
            <a:custGeom>
              <a:avLst/>
              <a:gdLst/>
              <a:ahLst/>
              <a:cxnLst>
                <a:cxn ang="0">
                  <a:pos x="wd2" y="hd2"/>
                </a:cxn>
                <a:cxn ang="5400000">
                  <a:pos x="wd2" y="hd2"/>
                </a:cxn>
                <a:cxn ang="10800000">
                  <a:pos x="wd2" y="hd2"/>
                </a:cxn>
                <a:cxn ang="16200000">
                  <a:pos x="wd2" y="hd2"/>
                </a:cxn>
              </a:cxnLst>
              <a:rect l="0" t="0" r="r" b="b"/>
              <a:pathLst>
                <a:path w="21600" h="21600" extrusionOk="0">
                  <a:moveTo>
                    <a:pt x="18900" y="21600"/>
                  </a:moveTo>
                  <a:lnTo>
                    <a:pt x="21600" y="0"/>
                  </a:lnTo>
                  <a:lnTo>
                    <a:pt x="0" y="16200"/>
                  </a:lnTo>
                  <a:lnTo>
                    <a:pt x="189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2" name="Freeform 42"/>
            <p:cNvSpPr/>
            <p:nvPr/>
          </p:nvSpPr>
          <p:spPr>
            <a:xfrm rot="5400000">
              <a:off x="8688" y="287166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cubicBezTo>
                    <a:pt x="10286" y="0"/>
                    <a:pt x="16457"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3" name="Freeform 43"/>
            <p:cNvSpPr/>
            <p:nvPr/>
          </p:nvSpPr>
          <p:spPr>
            <a:xfrm rot="5400000">
              <a:off x="9919" y="2966579"/>
              <a:ext cx="12701" cy="12701"/>
            </a:xfrm>
            <a:custGeom>
              <a:avLst/>
              <a:gdLst/>
              <a:ahLst/>
              <a:cxnLst>
                <a:cxn ang="0">
                  <a:pos x="wd2" y="hd2"/>
                </a:cxn>
                <a:cxn ang="5400000">
                  <a:pos x="wd2" y="hd2"/>
                </a:cxn>
                <a:cxn ang="10800000">
                  <a:pos x="wd2" y="hd2"/>
                </a:cxn>
                <a:cxn ang="16200000">
                  <a:pos x="wd2" y="hd2"/>
                </a:cxn>
              </a:cxnLst>
              <a:rect l="0" t="0" r="r" b="b"/>
              <a:pathLst>
                <a:path w="15589" h="21600" extrusionOk="0">
                  <a:moveTo>
                    <a:pt x="6949" y="21600"/>
                  </a:moveTo>
                  <a:lnTo>
                    <a:pt x="15589" y="0"/>
                  </a:lnTo>
                  <a:cubicBezTo>
                    <a:pt x="469" y="10800"/>
                    <a:pt x="-6011" y="21600"/>
                    <a:pt x="6949"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4" name="Freeform 44"/>
            <p:cNvSpPr/>
            <p:nvPr/>
          </p:nvSpPr>
          <p:spPr>
            <a:xfrm rot="5400000">
              <a:off x="37297" y="4576249"/>
              <a:ext cx="35878" cy="12701"/>
            </a:xfrm>
            <a:custGeom>
              <a:avLst/>
              <a:gdLst/>
              <a:ahLst/>
              <a:cxnLst>
                <a:cxn ang="0">
                  <a:pos x="wd2" y="hd2"/>
                </a:cxn>
                <a:cxn ang="5400000">
                  <a:pos x="wd2" y="hd2"/>
                </a:cxn>
                <a:cxn ang="10800000">
                  <a:pos x="wd2" y="hd2"/>
                </a:cxn>
                <a:cxn ang="16200000">
                  <a:pos x="wd2" y="hd2"/>
                </a:cxn>
              </a:cxnLst>
              <a:rect l="0" t="0" r="r" b="b"/>
              <a:pathLst>
                <a:path w="20378" h="15529" extrusionOk="0">
                  <a:moveTo>
                    <a:pt x="20378" y="15529"/>
                  </a:moveTo>
                  <a:cubicBezTo>
                    <a:pt x="10076" y="5929"/>
                    <a:pt x="-1222" y="-6071"/>
                    <a:pt x="107" y="3529"/>
                  </a:cubicBezTo>
                  <a:lnTo>
                    <a:pt x="3098" y="13129"/>
                  </a:lnTo>
                  <a:cubicBezTo>
                    <a:pt x="10409" y="10729"/>
                    <a:pt x="15726" y="13129"/>
                    <a:pt x="20378" y="1552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5" name="Freeform 45"/>
            <p:cNvSpPr/>
            <p:nvPr/>
          </p:nvSpPr>
          <p:spPr>
            <a:xfrm rot="5400000">
              <a:off x="24726" y="3697093"/>
              <a:ext cx="17553" cy="127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6703" y="21600"/>
                  </a:lnTo>
                  <a:lnTo>
                    <a:pt x="21600" y="0"/>
                  </a:lnTo>
                  <a:lnTo>
                    <a:pt x="0" y="162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6" name="Freeform 46"/>
            <p:cNvSpPr/>
            <p:nvPr/>
          </p:nvSpPr>
          <p:spPr>
            <a:xfrm rot="5400000">
              <a:off x="6414" y="3663939"/>
              <a:ext cx="23404"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cubicBezTo>
                    <a:pt x="4860" y="7200"/>
                    <a:pt x="11880" y="144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7" name="Freeform 47"/>
            <p:cNvSpPr/>
            <p:nvPr/>
          </p:nvSpPr>
          <p:spPr>
            <a:xfrm rot="5400000">
              <a:off x="3889" y="2389134"/>
              <a:ext cx="14913" cy="12701"/>
            </a:xfrm>
            <a:custGeom>
              <a:avLst/>
              <a:gdLst/>
              <a:ahLst/>
              <a:cxnLst>
                <a:cxn ang="0">
                  <a:pos x="wd2" y="hd2"/>
                </a:cxn>
                <a:cxn ang="5400000">
                  <a:pos x="wd2" y="hd2"/>
                </a:cxn>
                <a:cxn ang="10800000">
                  <a:pos x="wd2" y="hd2"/>
                </a:cxn>
                <a:cxn ang="16200000">
                  <a:pos x="wd2" y="hd2"/>
                </a:cxn>
              </a:cxnLst>
              <a:rect l="0" t="0" r="r" b="b"/>
              <a:pathLst>
                <a:path w="14363" h="21600" extrusionOk="0">
                  <a:moveTo>
                    <a:pt x="13642" y="0"/>
                  </a:moveTo>
                  <a:lnTo>
                    <a:pt x="0" y="21600"/>
                  </a:lnTo>
                  <a:cubicBezTo>
                    <a:pt x="21600" y="21600"/>
                    <a:pt x="11937" y="12960"/>
                    <a:pt x="13642"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8" name="Freeform 48"/>
            <p:cNvSpPr/>
            <p:nvPr/>
          </p:nvSpPr>
          <p:spPr>
            <a:xfrm rot="5400000">
              <a:off x="30662" y="5346481"/>
              <a:ext cx="38030" cy="12701"/>
            </a:xfrm>
            <a:custGeom>
              <a:avLst/>
              <a:gdLst/>
              <a:ahLst/>
              <a:cxnLst>
                <a:cxn ang="0">
                  <a:pos x="wd2" y="hd2"/>
                </a:cxn>
                <a:cxn ang="5400000">
                  <a:pos x="wd2" y="hd2"/>
                </a:cxn>
                <a:cxn ang="10800000">
                  <a:pos x="wd2" y="hd2"/>
                </a:cxn>
                <a:cxn ang="16200000">
                  <a:pos x="wd2" y="hd2"/>
                </a:cxn>
              </a:cxnLst>
              <a:rect l="0" t="0" r="r" b="b"/>
              <a:pathLst>
                <a:path w="21600" h="14683" extrusionOk="0">
                  <a:moveTo>
                    <a:pt x="21600" y="10800"/>
                  </a:moveTo>
                  <a:cubicBezTo>
                    <a:pt x="12960" y="3600"/>
                    <a:pt x="5982" y="0"/>
                    <a:pt x="0" y="0"/>
                  </a:cubicBezTo>
                  <a:cubicBezTo>
                    <a:pt x="10634" y="7200"/>
                    <a:pt x="18942" y="21600"/>
                    <a:pt x="21600" y="108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59" name="Freeform 49"/>
            <p:cNvSpPr/>
            <p:nvPr/>
          </p:nvSpPr>
          <p:spPr>
            <a:xfrm rot="5400000">
              <a:off x="48692" y="2907574"/>
              <a:ext cx="12701" cy="12701"/>
            </a:xfrm>
            <a:custGeom>
              <a:avLst/>
              <a:gdLst/>
              <a:ahLst/>
              <a:cxnLst>
                <a:cxn ang="0">
                  <a:pos x="wd2" y="hd2"/>
                </a:cxn>
                <a:cxn ang="5400000">
                  <a:pos x="wd2" y="hd2"/>
                </a:cxn>
                <a:cxn ang="10800000">
                  <a:pos x="wd2" y="hd2"/>
                </a:cxn>
                <a:cxn ang="16200000">
                  <a:pos x="wd2" y="hd2"/>
                </a:cxn>
              </a:cxnLst>
              <a:rect l="0" t="0" r="r" b="b"/>
              <a:pathLst>
                <a:path w="19162" h="21600" extrusionOk="0">
                  <a:moveTo>
                    <a:pt x="18514" y="0"/>
                  </a:moveTo>
                  <a:cubicBezTo>
                    <a:pt x="5143" y="10800"/>
                    <a:pt x="0" y="21600"/>
                    <a:pt x="0" y="21600"/>
                  </a:cubicBezTo>
                  <a:cubicBezTo>
                    <a:pt x="13371" y="21600"/>
                    <a:pt x="21600" y="10800"/>
                    <a:pt x="18514"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0" name="Freeform 50"/>
            <p:cNvSpPr/>
            <p:nvPr/>
          </p:nvSpPr>
          <p:spPr>
            <a:xfrm rot="5400000">
              <a:off x="29514" y="5305526"/>
              <a:ext cx="43881" cy="12701"/>
            </a:xfrm>
            <a:custGeom>
              <a:avLst/>
              <a:gdLst/>
              <a:ahLst/>
              <a:cxnLst>
                <a:cxn ang="0">
                  <a:pos x="wd2" y="hd2"/>
                </a:cxn>
                <a:cxn ang="5400000">
                  <a:pos x="wd2" y="hd2"/>
                </a:cxn>
                <a:cxn ang="10800000">
                  <a:pos x="wd2" y="hd2"/>
                </a:cxn>
                <a:cxn ang="16200000">
                  <a:pos x="wd2" y="hd2"/>
                </a:cxn>
              </a:cxnLst>
              <a:rect l="0" t="0" r="r" b="b"/>
              <a:pathLst>
                <a:path w="21600" h="15624" extrusionOk="0">
                  <a:moveTo>
                    <a:pt x="0" y="10224"/>
                  </a:moveTo>
                  <a:lnTo>
                    <a:pt x="3744" y="15624"/>
                  </a:lnTo>
                  <a:cubicBezTo>
                    <a:pt x="9216" y="10224"/>
                    <a:pt x="14976" y="4824"/>
                    <a:pt x="21600" y="10224"/>
                  </a:cubicBezTo>
                  <a:cubicBezTo>
                    <a:pt x="14976" y="-576"/>
                    <a:pt x="7200" y="-5976"/>
                    <a:pt x="0" y="1022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1" name="Freeform 51"/>
            <p:cNvSpPr/>
            <p:nvPr/>
          </p:nvSpPr>
          <p:spPr>
            <a:xfrm rot="5400000">
              <a:off x="14842" y="647703"/>
              <a:ext cx="12701" cy="12701"/>
            </a:xfrm>
            <a:custGeom>
              <a:avLst/>
              <a:gdLst/>
              <a:ahLst/>
              <a:cxnLst>
                <a:cxn ang="0">
                  <a:pos x="wd2" y="hd2"/>
                </a:cxn>
                <a:cxn ang="5400000">
                  <a:pos x="wd2" y="hd2"/>
                </a:cxn>
                <a:cxn ang="10800000">
                  <a:pos x="wd2" y="hd2"/>
                </a:cxn>
                <a:cxn ang="16200000">
                  <a:pos x="wd2" y="hd2"/>
                </a:cxn>
              </a:cxnLst>
              <a:rect l="0" t="0" r="r" b="b"/>
              <a:pathLst>
                <a:path w="19417" h="21600" extrusionOk="0">
                  <a:moveTo>
                    <a:pt x="19417" y="21600"/>
                  </a:moveTo>
                  <a:lnTo>
                    <a:pt x="517" y="0"/>
                  </a:lnTo>
                  <a:cubicBezTo>
                    <a:pt x="-2183" y="21600"/>
                    <a:pt x="5917" y="21600"/>
                    <a:pt x="19417"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2" name="Freeform 52"/>
            <p:cNvSpPr/>
            <p:nvPr/>
          </p:nvSpPr>
          <p:spPr>
            <a:xfrm rot="5400000">
              <a:off x="48471" y="151616"/>
              <a:ext cx="21453" cy="12701"/>
            </a:xfrm>
            <a:custGeom>
              <a:avLst/>
              <a:gdLst/>
              <a:ahLst/>
              <a:cxnLst>
                <a:cxn ang="0">
                  <a:pos x="wd2" y="hd2"/>
                </a:cxn>
                <a:cxn ang="5400000">
                  <a:pos x="wd2" y="hd2"/>
                </a:cxn>
                <a:cxn ang="10800000">
                  <a:pos x="wd2" y="hd2"/>
                </a:cxn>
                <a:cxn ang="16200000">
                  <a:pos x="wd2" y="hd2"/>
                </a:cxn>
              </a:cxnLst>
              <a:rect l="0" t="0" r="r" b="b"/>
              <a:pathLst>
                <a:path w="21600" h="16200" extrusionOk="0">
                  <a:moveTo>
                    <a:pt x="0" y="16200"/>
                  </a:moveTo>
                  <a:cubicBezTo>
                    <a:pt x="5400" y="16200"/>
                    <a:pt x="13800" y="16200"/>
                    <a:pt x="21600" y="16200"/>
                  </a:cubicBezTo>
                  <a:cubicBezTo>
                    <a:pt x="17400" y="-5400"/>
                    <a:pt x="11400" y="-5400"/>
                    <a:pt x="0" y="162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3" name="Freeform 53"/>
            <p:cNvSpPr/>
            <p:nvPr/>
          </p:nvSpPr>
          <p:spPr>
            <a:xfrm rot="5400000">
              <a:off x="45274" y="5702762"/>
              <a:ext cx="12701" cy="12701"/>
            </a:xfrm>
            <a:custGeom>
              <a:avLst/>
              <a:gdLst/>
              <a:ahLst/>
              <a:cxnLst>
                <a:cxn ang="0">
                  <a:pos x="wd2" y="hd2"/>
                </a:cxn>
                <a:cxn ang="5400000">
                  <a:pos x="wd2" y="hd2"/>
                </a:cxn>
                <a:cxn ang="10800000">
                  <a:pos x="wd2" y="hd2"/>
                </a:cxn>
                <a:cxn ang="16200000">
                  <a:pos x="wd2" y="hd2"/>
                </a:cxn>
              </a:cxnLst>
              <a:rect l="0" t="0" r="r" b="b"/>
              <a:pathLst>
                <a:path w="10361" h="9600" extrusionOk="0">
                  <a:moveTo>
                    <a:pt x="0" y="9600"/>
                  </a:moveTo>
                  <a:cubicBezTo>
                    <a:pt x="21600" y="9600"/>
                    <a:pt x="32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4" name="Freeform 54"/>
            <p:cNvSpPr/>
            <p:nvPr/>
          </p:nvSpPr>
          <p:spPr>
            <a:xfrm rot="5400000">
              <a:off x="28998" y="5754074"/>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0"/>
                    <a:pt x="2700" y="14400"/>
                    <a:pt x="0" y="21600"/>
                  </a:cubicBezTo>
                  <a:cubicBezTo>
                    <a:pt x="5400" y="14400"/>
                    <a:pt x="10800" y="720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5" name="Freeform 55"/>
            <p:cNvSpPr/>
            <p:nvPr/>
          </p:nvSpPr>
          <p:spPr>
            <a:xfrm rot="5400000">
              <a:off x="21339" y="5169548"/>
              <a:ext cx="12701" cy="12701"/>
            </a:xfrm>
            <a:custGeom>
              <a:avLst/>
              <a:gdLst/>
              <a:ahLst/>
              <a:cxnLst>
                <a:cxn ang="0">
                  <a:pos x="wd2" y="hd2"/>
                </a:cxn>
                <a:cxn ang="5400000">
                  <a:pos x="wd2" y="hd2"/>
                </a:cxn>
                <a:cxn ang="10800000">
                  <a:pos x="wd2" y="hd2"/>
                </a:cxn>
                <a:cxn ang="16200000">
                  <a:pos x="wd2" y="hd2"/>
                </a:cxn>
              </a:cxnLst>
              <a:rect l="0" t="0" r="r" b="b"/>
              <a:pathLst>
                <a:path w="15120" h="9600" extrusionOk="0">
                  <a:moveTo>
                    <a:pt x="4320" y="0"/>
                  </a:moveTo>
                  <a:lnTo>
                    <a:pt x="0" y="0"/>
                  </a:lnTo>
                  <a:cubicBezTo>
                    <a:pt x="21600" y="21600"/>
                    <a:pt x="17280" y="0"/>
                    <a:pt x="43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6" name="Freeform 56"/>
            <p:cNvSpPr/>
            <p:nvPr/>
          </p:nvSpPr>
          <p:spPr>
            <a:xfrm rot="5400000">
              <a:off x="42806" y="5710194"/>
              <a:ext cx="1462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5552" y="0"/>
                    <a:pt x="8640" y="0"/>
                    <a:pt x="0" y="0"/>
                  </a:cubicBezTo>
                  <a:cubicBezTo>
                    <a:pt x="4320" y="0"/>
                    <a:pt x="10368" y="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7" name="Freeform 57"/>
            <p:cNvSpPr/>
            <p:nvPr/>
          </p:nvSpPr>
          <p:spPr>
            <a:xfrm rot="5400000">
              <a:off x="45274" y="5720031"/>
              <a:ext cx="12701" cy="12701"/>
            </a:xfrm>
            <a:custGeom>
              <a:avLst/>
              <a:gdLst/>
              <a:ahLst/>
              <a:cxnLst>
                <a:cxn ang="0">
                  <a:pos x="wd2" y="hd2"/>
                </a:cxn>
                <a:cxn ang="5400000">
                  <a:pos x="wd2" y="hd2"/>
                </a:cxn>
                <a:cxn ang="10800000">
                  <a:pos x="wd2" y="hd2"/>
                </a:cxn>
                <a:cxn ang="16200000">
                  <a:pos x="wd2" y="hd2"/>
                </a:cxn>
              </a:cxnLst>
              <a:rect l="0" t="0" r="r" b="b"/>
              <a:pathLst>
                <a:path w="20115" h="9600" extrusionOk="0">
                  <a:moveTo>
                    <a:pt x="0" y="9600"/>
                  </a:moveTo>
                  <a:lnTo>
                    <a:pt x="19440" y="9600"/>
                  </a:lnTo>
                  <a:cubicBezTo>
                    <a:pt x="21600" y="9600"/>
                    <a:pt x="19440" y="-120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8" name="Freeform 58"/>
            <p:cNvSpPr/>
            <p:nvPr/>
          </p:nvSpPr>
          <p:spPr>
            <a:xfrm rot="5400000">
              <a:off x="41472" y="5693617"/>
              <a:ext cx="18527" cy="127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7665" y="0"/>
                    <a:pt x="14632" y="0"/>
                    <a:pt x="21600" y="21600"/>
                  </a:cubicBezTo>
                  <a:cubicBezTo>
                    <a:pt x="19510" y="0"/>
                    <a:pt x="18116" y="0"/>
                    <a:pt x="18813" y="0"/>
                  </a:cubicBezTo>
                  <a:lnTo>
                    <a:pt x="0" y="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69" name="Freeform 59"/>
            <p:cNvSpPr/>
            <p:nvPr/>
          </p:nvSpPr>
          <p:spPr>
            <a:xfrm rot="5400000">
              <a:off x="22133" y="1580847"/>
              <a:ext cx="12701" cy="12701"/>
            </a:xfrm>
            <a:custGeom>
              <a:avLst/>
              <a:gdLst/>
              <a:ahLst/>
              <a:cxnLst>
                <a:cxn ang="0">
                  <a:pos x="wd2" y="hd2"/>
                </a:cxn>
                <a:cxn ang="5400000">
                  <a:pos x="wd2" y="hd2"/>
                </a:cxn>
                <a:cxn ang="10800000">
                  <a:pos x="wd2" y="hd2"/>
                </a:cxn>
                <a:cxn ang="16200000">
                  <a:pos x="wd2" y="hd2"/>
                </a:cxn>
              </a:cxnLst>
              <a:rect l="0" t="0" r="r" b="b"/>
              <a:pathLst>
                <a:path w="14213" h="12471" extrusionOk="0">
                  <a:moveTo>
                    <a:pt x="14213" y="0"/>
                  </a:moveTo>
                  <a:lnTo>
                    <a:pt x="10456" y="0"/>
                  </a:lnTo>
                  <a:cubicBezTo>
                    <a:pt x="-7387" y="21600"/>
                    <a:pt x="126" y="10800"/>
                    <a:pt x="14213"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0" name="Freeform 60"/>
            <p:cNvSpPr/>
            <p:nvPr/>
          </p:nvSpPr>
          <p:spPr>
            <a:xfrm rot="5400000">
              <a:off x="7457" y="429775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7200" y="21600"/>
                  </a:moveTo>
                  <a:lnTo>
                    <a:pt x="21600" y="0"/>
                  </a:lnTo>
                  <a:lnTo>
                    <a:pt x="0" y="0"/>
                  </a:lnTo>
                  <a:lnTo>
                    <a:pt x="72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1" name="Freeform 61"/>
            <p:cNvSpPr/>
            <p:nvPr/>
          </p:nvSpPr>
          <p:spPr>
            <a:xfrm rot="5400000">
              <a:off x="-2361" y="4275269"/>
              <a:ext cx="40955" cy="147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391" y="13976"/>
                    <a:pt x="14713" y="15247"/>
                    <a:pt x="21600" y="16518"/>
                  </a:cubicBezTo>
                  <a:lnTo>
                    <a:pt x="14400"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2" name="Freeform 62"/>
            <p:cNvSpPr/>
            <p:nvPr/>
          </p:nvSpPr>
          <p:spPr>
            <a:xfrm rot="5400000">
              <a:off x="-2901430" y="2935593"/>
              <a:ext cx="5867584" cy="58035"/>
            </a:xfrm>
            <a:custGeom>
              <a:avLst/>
              <a:gdLst/>
              <a:ahLst/>
              <a:cxnLst>
                <a:cxn ang="0">
                  <a:pos x="wd2" y="hd2"/>
                </a:cxn>
                <a:cxn ang="5400000">
                  <a:pos x="wd2" y="hd2"/>
                </a:cxn>
                <a:cxn ang="10800000">
                  <a:pos x="wd2" y="hd2"/>
                </a:cxn>
                <a:cxn ang="16200000">
                  <a:pos x="wd2" y="hd2"/>
                </a:cxn>
              </a:cxnLst>
              <a:rect l="0" t="0" r="r" b="b"/>
              <a:pathLst>
                <a:path w="21576" h="19584" extrusionOk="0">
                  <a:moveTo>
                    <a:pt x="5293" y="1440"/>
                  </a:moveTo>
                  <a:lnTo>
                    <a:pt x="5321" y="1728"/>
                  </a:lnTo>
                  <a:cubicBezTo>
                    <a:pt x="5259" y="2304"/>
                    <a:pt x="5276" y="1728"/>
                    <a:pt x="5293" y="1440"/>
                  </a:cubicBezTo>
                  <a:close/>
                  <a:moveTo>
                    <a:pt x="20553" y="5184"/>
                  </a:moveTo>
                  <a:cubicBezTo>
                    <a:pt x="20568" y="4896"/>
                    <a:pt x="20566" y="4608"/>
                    <a:pt x="20562" y="4608"/>
                  </a:cubicBezTo>
                  <a:cubicBezTo>
                    <a:pt x="20551" y="4896"/>
                    <a:pt x="20519" y="4896"/>
                    <a:pt x="20482" y="4896"/>
                  </a:cubicBezTo>
                  <a:cubicBezTo>
                    <a:pt x="20493" y="5184"/>
                    <a:pt x="20512" y="5472"/>
                    <a:pt x="20553" y="5184"/>
                  </a:cubicBezTo>
                  <a:close/>
                  <a:moveTo>
                    <a:pt x="20411" y="4608"/>
                  </a:moveTo>
                  <a:lnTo>
                    <a:pt x="20409" y="4608"/>
                  </a:lnTo>
                  <a:cubicBezTo>
                    <a:pt x="20340" y="4032"/>
                    <a:pt x="20364" y="4320"/>
                    <a:pt x="20411" y="4608"/>
                  </a:cubicBezTo>
                  <a:close/>
                  <a:moveTo>
                    <a:pt x="13707" y="12384"/>
                  </a:moveTo>
                  <a:cubicBezTo>
                    <a:pt x="13683" y="12960"/>
                    <a:pt x="13649" y="12672"/>
                    <a:pt x="13608" y="12096"/>
                  </a:cubicBezTo>
                  <a:cubicBezTo>
                    <a:pt x="13638" y="12096"/>
                    <a:pt x="13670" y="12096"/>
                    <a:pt x="13707" y="12384"/>
                  </a:cubicBezTo>
                  <a:close/>
                  <a:moveTo>
                    <a:pt x="11299" y="15264"/>
                  </a:moveTo>
                  <a:cubicBezTo>
                    <a:pt x="11269" y="15552"/>
                    <a:pt x="11209" y="16416"/>
                    <a:pt x="11185" y="15552"/>
                  </a:cubicBezTo>
                  <a:cubicBezTo>
                    <a:pt x="11222" y="13824"/>
                    <a:pt x="11248" y="14688"/>
                    <a:pt x="11299" y="15264"/>
                  </a:cubicBezTo>
                  <a:close/>
                  <a:moveTo>
                    <a:pt x="9716" y="15552"/>
                  </a:moveTo>
                  <a:lnTo>
                    <a:pt x="9822" y="16704"/>
                  </a:lnTo>
                  <a:cubicBezTo>
                    <a:pt x="9695" y="18432"/>
                    <a:pt x="9602" y="17856"/>
                    <a:pt x="9701" y="19584"/>
                  </a:cubicBezTo>
                  <a:cubicBezTo>
                    <a:pt x="9716" y="15552"/>
                    <a:pt x="10113" y="19296"/>
                    <a:pt x="10128" y="15264"/>
                  </a:cubicBezTo>
                  <a:lnTo>
                    <a:pt x="10199" y="16128"/>
                  </a:lnTo>
                  <a:cubicBezTo>
                    <a:pt x="10177" y="16128"/>
                    <a:pt x="10175" y="16416"/>
                    <a:pt x="10156" y="16416"/>
                  </a:cubicBezTo>
                  <a:cubicBezTo>
                    <a:pt x="10291" y="18144"/>
                    <a:pt x="10257" y="13536"/>
                    <a:pt x="10431" y="14112"/>
                  </a:cubicBezTo>
                  <a:cubicBezTo>
                    <a:pt x="10492" y="14400"/>
                    <a:pt x="10535" y="14976"/>
                    <a:pt x="10494" y="15552"/>
                  </a:cubicBezTo>
                  <a:lnTo>
                    <a:pt x="10630" y="14400"/>
                  </a:lnTo>
                  <a:cubicBezTo>
                    <a:pt x="10668" y="14688"/>
                    <a:pt x="10660" y="15264"/>
                    <a:pt x="10619" y="15264"/>
                  </a:cubicBezTo>
                  <a:lnTo>
                    <a:pt x="10828" y="14976"/>
                  </a:lnTo>
                  <a:lnTo>
                    <a:pt x="10826" y="14976"/>
                  </a:lnTo>
                  <a:cubicBezTo>
                    <a:pt x="10856" y="14400"/>
                    <a:pt x="10922" y="13536"/>
                    <a:pt x="10955" y="12960"/>
                  </a:cubicBezTo>
                  <a:cubicBezTo>
                    <a:pt x="11006" y="13536"/>
                    <a:pt x="10929" y="13536"/>
                    <a:pt x="10942" y="14112"/>
                  </a:cubicBezTo>
                  <a:lnTo>
                    <a:pt x="11056" y="12960"/>
                  </a:lnTo>
                  <a:cubicBezTo>
                    <a:pt x="11103" y="14112"/>
                    <a:pt x="11009" y="14976"/>
                    <a:pt x="10929" y="14976"/>
                  </a:cubicBezTo>
                  <a:cubicBezTo>
                    <a:pt x="11037" y="19008"/>
                    <a:pt x="11024" y="13824"/>
                    <a:pt x="11256" y="16416"/>
                  </a:cubicBezTo>
                  <a:lnTo>
                    <a:pt x="11146" y="16704"/>
                  </a:lnTo>
                  <a:cubicBezTo>
                    <a:pt x="11217" y="19008"/>
                    <a:pt x="11301" y="18144"/>
                    <a:pt x="11424" y="19584"/>
                  </a:cubicBezTo>
                  <a:cubicBezTo>
                    <a:pt x="11394" y="19008"/>
                    <a:pt x="11179" y="16128"/>
                    <a:pt x="11304" y="15264"/>
                  </a:cubicBezTo>
                  <a:cubicBezTo>
                    <a:pt x="11338" y="15552"/>
                    <a:pt x="11385" y="15552"/>
                    <a:pt x="11452" y="14976"/>
                  </a:cubicBezTo>
                  <a:cubicBezTo>
                    <a:pt x="11452" y="16128"/>
                    <a:pt x="11517" y="15840"/>
                    <a:pt x="11601" y="15840"/>
                  </a:cubicBezTo>
                  <a:lnTo>
                    <a:pt x="11594" y="17856"/>
                  </a:lnTo>
                  <a:cubicBezTo>
                    <a:pt x="11683" y="17280"/>
                    <a:pt x="11676" y="16416"/>
                    <a:pt x="11728" y="15552"/>
                  </a:cubicBezTo>
                  <a:cubicBezTo>
                    <a:pt x="11827" y="15552"/>
                    <a:pt x="11848" y="16992"/>
                    <a:pt x="11870" y="18432"/>
                  </a:cubicBezTo>
                  <a:cubicBezTo>
                    <a:pt x="12029" y="18720"/>
                    <a:pt x="11762" y="16128"/>
                    <a:pt x="11950" y="15840"/>
                  </a:cubicBezTo>
                  <a:cubicBezTo>
                    <a:pt x="12081" y="16416"/>
                    <a:pt x="12174" y="15840"/>
                    <a:pt x="12331" y="14688"/>
                  </a:cubicBezTo>
                  <a:cubicBezTo>
                    <a:pt x="12423" y="15264"/>
                    <a:pt x="12316" y="15840"/>
                    <a:pt x="12348" y="16416"/>
                  </a:cubicBezTo>
                  <a:lnTo>
                    <a:pt x="12430" y="14976"/>
                  </a:lnTo>
                  <a:cubicBezTo>
                    <a:pt x="12449" y="14976"/>
                    <a:pt x="12443" y="15264"/>
                    <a:pt x="12441" y="15552"/>
                  </a:cubicBezTo>
                  <a:cubicBezTo>
                    <a:pt x="12510" y="14976"/>
                    <a:pt x="12445" y="13824"/>
                    <a:pt x="12555" y="13248"/>
                  </a:cubicBezTo>
                  <a:cubicBezTo>
                    <a:pt x="12583" y="11232"/>
                    <a:pt x="12777" y="16416"/>
                    <a:pt x="12910" y="14112"/>
                  </a:cubicBezTo>
                  <a:cubicBezTo>
                    <a:pt x="12942" y="14688"/>
                    <a:pt x="12895" y="15264"/>
                    <a:pt x="12904" y="15840"/>
                  </a:cubicBezTo>
                  <a:cubicBezTo>
                    <a:pt x="13089" y="14400"/>
                    <a:pt x="13063" y="14976"/>
                    <a:pt x="13214" y="12960"/>
                  </a:cubicBezTo>
                  <a:lnTo>
                    <a:pt x="13341" y="14112"/>
                  </a:lnTo>
                  <a:cubicBezTo>
                    <a:pt x="13248" y="12672"/>
                    <a:pt x="13369" y="10944"/>
                    <a:pt x="13474" y="9792"/>
                  </a:cubicBezTo>
                  <a:cubicBezTo>
                    <a:pt x="13440" y="8928"/>
                    <a:pt x="13412" y="8352"/>
                    <a:pt x="13393" y="8064"/>
                  </a:cubicBezTo>
                  <a:lnTo>
                    <a:pt x="13561" y="7200"/>
                  </a:lnTo>
                  <a:cubicBezTo>
                    <a:pt x="13582" y="7488"/>
                    <a:pt x="13565" y="8064"/>
                    <a:pt x="13537" y="8928"/>
                  </a:cubicBezTo>
                  <a:lnTo>
                    <a:pt x="13567" y="8352"/>
                  </a:lnTo>
                  <a:cubicBezTo>
                    <a:pt x="13627" y="9216"/>
                    <a:pt x="13597" y="10368"/>
                    <a:pt x="13554" y="11232"/>
                  </a:cubicBezTo>
                  <a:lnTo>
                    <a:pt x="13494" y="10080"/>
                  </a:lnTo>
                  <a:cubicBezTo>
                    <a:pt x="13451" y="11232"/>
                    <a:pt x="13412" y="12384"/>
                    <a:pt x="13421" y="13536"/>
                  </a:cubicBezTo>
                  <a:cubicBezTo>
                    <a:pt x="13431" y="13248"/>
                    <a:pt x="13453" y="13248"/>
                    <a:pt x="13477" y="12960"/>
                  </a:cubicBezTo>
                  <a:cubicBezTo>
                    <a:pt x="13466" y="13248"/>
                    <a:pt x="13459" y="13536"/>
                    <a:pt x="13464" y="13824"/>
                  </a:cubicBezTo>
                  <a:cubicBezTo>
                    <a:pt x="13470" y="14112"/>
                    <a:pt x="13487" y="13536"/>
                    <a:pt x="13515" y="13248"/>
                  </a:cubicBezTo>
                  <a:lnTo>
                    <a:pt x="13552" y="15264"/>
                  </a:lnTo>
                  <a:lnTo>
                    <a:pt x="13563" y="14400"/>
                  </a:lnTo>
                  <a:lnTo>
                    <a:pt x="13782" y="15840"/>
                  </a:lnTo>
                  <a:cubicBezTo>
                    <a:pt x="13942" y="13824"/>
                    <a:pt x="14077" y="10656"/>
                    <a:pt x="14329" y="9792"/>
                  </a:cubicBezTo>
                  <a:cubicBezTo>
                    <a:pt x="14267" y="11520"/>
                    <a:pt x="14316" y="12384"/>
                    <a:pt x="14312" y="14112"/>
                  </a:cubicBezTo>
                  <a:cubicBezTo>
                    <a:pt x="14243" y="12384"/>
                    <a:pt x="14118" y="14976"/>
                    <a:pt x="13989" y="14688"/>
                  </a:cubicBezTo>
                  <a:cubicBezTo>
                    <a:pt x="14056" y="14688"/>
                    <a:pt x="14041" y="15552"/>
                    <a:pt x="14024" y="15840"/>
                  </a:cubicBezTo>
                  <a:lnTo>
                    <a:pt x="14256" y="14400"/>
                  </a:lnTo>
                  <a:cubicBezTo>
                    <a:pt x="14250" y="15840"/>
                    <a:pt x="14306" y="15264"/>
                    <a:pt x="14366" y="16128"/>
                  </a:cubicBezTo>
                  <a:cubicBezTo>
                    <a:pt x="14319" y="12960"/>
                    <a:pt x="14538" y="14112"/>
                    <a:pt x="14633" y="13248"/>
                  </a:cubicBezTo>
                  <a:cubicBezTo>
                    <a:pt x="14637" y="14112"/>
                    <a:pt x="14616" y="15264"/>
                    <a:pt x="14499" y="14976"/>
                  </a:cubicBezTo>
                  <a:cubicBezTo>
                    <a:pt x="14627" y="17280"/>
                    <a:pt x="14665" y="11520"/>
                    <a:pt x="14790" y="13536"/>
                  </a:cubicBezTo>
                  <a:cubicBezTo>
                    <a:pt x="14760" y="13536"/>
                    <a:pt x="14745" y="13248"/>
                    <a:pt x="14734" y="13824"/>
                  </a:cubicBezTo>
                  <a:cubicBezTo>
                    <a:pt x="14801" y="12960"/>
                    <a:pt x="14960" y="13824"/>
                    <a:pt x="14924" y="14688"/>
                  </a:cubicBezTo>
                  <a:lnTo>
                    <a:pt x="14896" y="14688"/>
                  </a:lnTo>
                  <a:cubicBezTo>
                    <a:pt x="15081" y="14976"/>
                    <a:pt x="15462" y="14688"/>
                    <a:pt x="15490" y="12384"/>
                  </a:cubicBezTo>
                  <a:cubicBezTo>
                    <a:pt x="15492" y="12672"/>
                    <a:pt x="15466" y="15264"/>
                    <a:pt x="15456" y="15840"/>
                  </a:cubicBezTo>
                  <a:lnTo>
                    <a:pt x="15787" y="7488"/>
                  </a:lnTo>
                  <a:cubicBezTo>
                    <a:pt x="15759" y="9792"/>
                    <a:pt x="15871" y="14688"/>
                    <a:pt x="15716" y="15840"/>
                  </a:cubicBezTo>
                  <a:cubicBezTo>
                    <a:pt x="15761" y="16128"/>
                    <a:pt x="15815" y="16704"/>
                    <a:pt x="15910" y="15840"/>
                  </a:cubicBezTo>
                  <a:cubicBezTo>
                    <a:pt x="15880" y="15552"/>
                    <a:pt x="15835" y="12672"/>
                    <a:pt x="15876" y="12672"/>
                  </a:cubicBezTo>
                  <a:cubicBezTo>
                    <a:pt x="15990" y="14976"/>
                    <a:pt x="15955" y="13824"/>
                    <a:pt x="16095" y="15840"/>
                  </a:cubicBezTo>
                  <a:cubicBezTo>
                    <a:pt x="16048" y="15552"/>
                    <a:pt x="16100" y="12096"/>
                    <a:pt x="16171" y="12384"/>
                  </a:cubicBezTo>
                  <a:cubicBezTo>
                    <a:pt x="16160" y="12672"/>
                    <a:pt x="16177" y="15552"/>
                    <a:pt x="16151" y="15840"/>
                  </a:cubicBezTo>
                  <a:lnTo>
                    <a:pt x="16330" y="12672"/>
                  </a:lnTo>
                  <a:cubicBezTo>
                    <a:pt x="16285" y="13248"/>
                    <a:pt x="16321" y="15552"/>
                    <a:pt x="16362" y="16416"/>
                  </a:cubicBezTo>
                  <a:cubicBezTo>
                    <a:pt x="16343" y="15840"/>
                    <a:pt x="16515" y="16416"/>
                    <a:pt x="16563" y="16128"/>
                  </a:cubicBezTo>
                  <a:lnTo>
                    <a:pt x="16487" y="15552"/>
                  </a:lnTo>
                  <a:cubicBezTo>
                    <a:pt x="16690" y="16128"/>
                    <a:pt x="16687" y="10944"/>
                    <a:pt x="16888" y="11232"/>
                  </a:cubicBezTo>
                  <a:cubicBezTo>
                    <a:pt x="16864" y="11808"/>
                    <a:pt x="16827" y="15264"/>
                    <a:pt x="16929" y="15840"/>
                  </a:cubicBezTo>
                  <a:cubicBezTo>
                    <a:pt x="16976" y="14112"/>
                    <a:pt x="17135" y="7776"/>
                    <a:pt x="17312" y="6336"/>
                  </a:cubicBezTo>
                  <a:lnTo>
                    <a:pt x="17346" y="7488"/>
                  </a:lnTo>
                  <a:lnTo>
                    <a:pt x="17482" y="6336"/>
                  </a:lnTo>
                  <a:cubicBezTo>
                    <a:pt x="17398" y="8928"/>
                    <a:pt x="17161" y="14112"/>
                    <a:pt x="17030" y="16128"/>
                  </a:cubicBezTo>
                  <a:cubicBezTo>
                    <a:pt x="17105" y="16992"/>
                    <a:pt x="17051" y="17280"/>
                    <a:pt x="17166" y="17280"/>
                  </a:cubicBezTo>
                  <a:cubicBezTo>
                    <a:pt x="17204" y="18144"/>
                    <a:pt x="17103" y="18720"/>
                    <a:pt x="17071" y="18720"/>
                  </a:cubicBezTo>
                  <a:lnTo>
                    <a:pt x="17334" y="19296"/>
                  </a:lnTo>
                  <a:cubicBezTo>
                    <a:pt x="17321" y="17280"/>
                    <a:pt x="17534" y="17280"/>
                    <a:pt x="17525" y="15840"/>
                  </a:cubicBezTo>
                  <a:lnTo>
                    <a:pt x="17239" y="17568"/>
                  </a:lnTo>
                  <a:cubicBezTo>
                    <a:pt x="17228" y="15840"/>
                    <a:pt x="17405" y="12096"/>
                    <a:pt x="17590" y="12672"/>
                  </a:cubicBezTo>
                  <a:cubicBezTo>
                    <a:pt x="17637" y="13248"/>
                    <a:pt x="17555" y="16128"/>
                    <a:pt x="17560" y="16704"/>
                  </a:cubicBezTo>
                  <a:cubicBezTo>
                    <a:pt x="17583" y="16128"/>
                    <a:pt x="17736" y="15552"/>
                    <a:pt x="17753" y="15840"/>
                  </a:cubicBezTo>
                  <a:lnTo>
                    <a:pt x="17674" y="16992"/>
                  </a:lnTo>
                  <a:cubicBezTo>
                    <a:pt x="17777" y="17856"/>
                    <a:pt x="17844" y="14400"/>
                    <a:pt x="17969" y="16416"/>
                  </a:cubicBezTo>
                  <a:cubicBezTo>
                    <a:pt x="18012" y="16416"/>
                    <a:pt x="18096" y="19008"/>
                    <a:pt x="18104" y="17856"/>
                  </a:cubicBezTo>
                  <a:cubicBezTo>
                    <a:pt x="18033" y="15552"/>
                    <a:pt x="18021" y="8640"/>
                    <a:pt x="18068" y="6912"/>
                  </a:cubicBezTo>
                  <a:cubicBezTo>
                    <a:pt x="18083" y="6912"/>
                    <a:pt x="18292" y="8928"/>
                    <a:pt x="18341" y="10080"/>
                  </a:cubicBezTo>
                  <a:cubicBezTo>
                    <a:pt x="18412" y="11808"/>
                    <a:pt x="18236" y="14400"/>
                    <a:pt x="18296" y="15840"/>
                  </a:cubicBezTo>
                  <a:cubicBezTo>
                    <a:pt x="18298" y="15264"/>
                    <a:pt x="18337" y="14688"/>
                    <a:pt x="18354" y="14400"/>
                  </a:cubicBezTo>
                  <a:cubicBezTo>
                    <a:pt x="18400" y="14976"/>
                    <a:pt x="18335" y="16128"/>
                    <a:pt x="18434" y="15840"/>
                  </a:cubicBezTo>
                  <a:cubicBezTo>
                    <a:pt x="18449" y="13824"/>
                    <a:pt x="18634" y="16128"/>
                    <a:pt x="18479" y="14112"/>
                  </a:cubicBezTo>
                  <a:cubicBezTo>
                    <a:pt x="18576" y="13824"/>
                    <a:pt x="18583" y="14688"/>
                    <a:pt x="18695" y="14688"/>
                  </a:cubicBezTo>
                  <a:cubicBezTo>
                    <a:pt x="18658" y="13248"/>
                    <a:pt x="18796" y="10368"/>
                    <a:pt x="18893" y="9792"/>
                  </a:cubicBezTo>
                  <a:cubicBezTo>
                    <a:pt x="18886" y="10080"/>
                    <a:pt x="18908" y="10944"/>
                    <a:pt x="18919" y="11232"/>
                  </a:cubicBezTo>
                  <a:cubicBezTo>
                    <a:pt x="19117" y="11520"/>
                    <a:pt x="19222" y="12384"/>
                    <a:pt x="19405" y="12384"/>
                  </a:cubicBezTo>
                  <a:cubicBezTo>
                    <a:pt x="19422" y="12960"/>
                    <a:pt x="19511" y="13536"/>
                    <a:pt x="19474" y="14400"/>
                  </a:cubicBezTo>
                  <a:cubicBezTo>
                    <a:pt x="19500" y="14112"/>
                    <a:pt x="19524" y="13248"/>
                    <a:pt x="19580" y="13248"/>
                  </a:cubicBezTo>
                  <a:cubicBezTo>
                    <a:pt x="19689" y="14976"/>
                    <a:pt x="19455" y="13536"/>
                    <a:pt x="19539" y="15552"/>
                  </a:cubicBezTo>
                  <a:cubicBezTo>
                    <a:pt x="19545" y="14400"/>
                    <a:pt x="19685" y="14112"/>
                    <a:pt x="19765" y="13248"/>
                  </a:cubicBezTo>
                  <a:cubicBezTo>
                    <a:pt x="19741" y="11520"/>
                    <a:pt x="19580" y="12960"/>
                    <a:pt x="19498" y="13536"/>
                  </a:cubicBezTo>
                  <a:cubicBezTo>
                    <a:pt x="19498" y="11232"/>
                    <a:pt x="19638" y="8640"/>
                    <a:pt x="19829" y="7488"/>
                  </a:cubicBezTo>
                  <a:cubicBezTo>
                    <a:pt x="19982" y="6912"/>
                    <a:pt x="19896" y="9216"/>
                    <a:pt x="19922" y="8928"/>
                  </a:cubicBezTo>
                  <a:cubicBezTo>
                    <a:pt x="20209" y="9216"/>
                    <a:pt x="20168" y="4608"/>
                    <a:pt x="20404" y="6336"/>
                  </a:cubicBezTo>
                  <a:cubicBezTo>
                    <a:pt x="20499" y="8064"/>
                    <a:pt x="20409" y="9504"/>
                    <a:pt x="20430" y="10656"/>
                  </a:cubicBezTo>
                  <a:cubicBezTo>
                    <a:pt x="20305" y="11232"/>
                    <a:pt x="20239" y="9504"/>
                    <a:pt x="20155" y="9504"/>
                  </a:cubicBezTo>
                  <a:lnTo>
                    <a:pt x="20258" y="10368"/>
                  </a:lnTo>
                  <a:cubicBezTo>
                    <a:pt x="20219" y="10944"/>
                    <a:pt x="20135" y="11232"/>
                    <a:pt x="20090" y="10944"/>
                  </a:cubicBezTo>
                  <a:cubicBezTo>
                    <a:pt x="20170" y="12384"/>
                    <a:pt x="20575" y="11232"/>
                    <a:pt x="20796" y="12672"/>
                  </a:cubicBezTo>
                  <a:cubicBezTo>
                    <a:pt x="20835" y="12096"/>
                    <a:pt x="20904" y="11520"/>
                    <a:pt x="20872" y="10944"/>
                  </a:cubicBezTo>
                  <a:lnTo>
                    <a:pt x="20801" y="10944"/>
                  </a:lnTo>
                  <a:cubicBezTo>
                    <a:pt x="20736" y="9792"/>
                    <a:pt x="20934" y="9216"/>
                    <a:pt x="20844" y="8640"/>
                  </a:cubicBezTo>
                  <a:cubicBezTo>
                    <a:pt x="20939" y="7776"/>
                    <a:pt x="21044" y="6336"/>
                    <a:pt x="21175" y="7200"/>
                  </a:cubicBezTo>
                  <a:lnTo>
                    <a:pt x="21201" y="8928"/>
                  </a:lnTo>
                  <a:cubicBezTo>
                    <a:pt x="21197" y="8352"/>
                    <a:pt x="21115" y="8064"/>
                    <a:pt x="21076" y="8352"/>
                  </a:cubicBezTo>
                  <a:cubicBezTo>
                    <a:pt x="21132" y="7776"/>
                    <a:pt x="21279" y="10944"/>
                    <a:pt x="21339" y="8640"/>
                  </a:cubicBezTo>
                  <a:lnTo>
                    <a:pt x="21247" y="7200"/>
                  </a:lnTo>
                  <a:cubicBezTo>
                    <a:pt x="21341" y="6336"/>
                    <a:pt x="21458" y="4608"/>
                    <a:pt x="21576" y="5184"/>
                  </a:cubicBezTo>
                  <a:cubicBezTo>
                    <a:pt x="21522" y="3456"/>
                    <a:pt x="21548" y="5472"/>
                    <a:pt x="21466" y="3168"/>
                  </a:cubicBezTo>
                  <a:cubicBezTo>
                    <a:pt x="21537" y="5760"/>
                    <a:pt x="21165" y="3168"/>
                    <a:pt x="21281" y="5760"/>
                  </a:cubicBezTo>
                  <a:cubicBezTo>
                    <a:pt x="21197" y="3456"/>
                    <a:pt x="21135" y="4896"/>
                    <a:pt x="21023" y="2592"/>
                  </a:cubicBezTo>
                  <a:cubicBezTo>
                    <a:pt x="21025" y="3168"/>
                    <a:pt x="21061" y="3744"/>
                    <a:pt x="20964" y="3456"/>
                  </a:cubicBezTo>
                  <a:cubicBezTo>
                    <a:pt x="20958" y="3744"/>
                    <a:pt x="20949" y="4032"/>
                    <a:pt x="20941" y="4032"/>
                  </a:cubicBezTo>
                  <a:lnTo>
                    <a:pt x="20934" y="4032"/>
                  </a:lnTo>
                  <a:lnTo>
                    <a:pt x="20941" y="4032"/>
                  </a:lnTo>
                  <a:cubicBezTo>
                    <a:pt x="20936" y="4032"/>
                    <a:pt x="20936" y="4320"/>
                    <a:pt x="20943" y="4032"/>
                  </a:cubicBezTo>
                  <a:cubicBezTo>
                    <a:pt x="20967" y="4320"/>
                    <a:pt x="20986" y="4608"/>
                    <a:pt x="20992" y="4896"/>
                  </a:cubicBezTo>
                  <a:cubicBezTo>
                    <a:pt x="20943" y="6336"/>
                    <a:pt x="20788" y="6336"/>
                    <a:pt x="20734" y="6912"/>
                  </a:cubicBezTo>
                  <a:cubicBezTo>
                    <a:pt x="20676" y="6624"/>
                    <a:pt x="20760" y="6336"/>
                    <a:pt x="20728" y="5760"/>
                  </a:cubicBezTo>
                  <a:lnTo>
                    <a:pt x="20648" y="6624"/>
                  </a:lnTo>
                  <a:cubicBezTo>
                    <a:pt x="20641" y="5472"/>
                    <a:pt x="20493" y="4608"/>
                    <a:pt x="20631" y="3744"/>
                  </a:cubicBezTo>
                  <a:lnTo>
                    <a:pt x="20508" y="3744"/>
                  </a:lnTo>
                  <a:cubicBezTo>
                    <a:pt x="20435" y="2880"/>
                    <a:pt x="20333" y="2592"/>
                    <a:pt x="20273" y="3168"/>
                  </a:cubicBezTo>
                  <a:cubicBezTo>
                    <a:pt x="20215" y="2880"/>
                    <a:pt x="20125" y="4608"/>
                    <a:pt x="20176" y="3456"/>
                  </a:cubicBezTo>
                  <a:lnTo>
                    <a:pt x="19982" y="4320"/>
                  </a:lnTo>
                  <a:lnTo>
                    <a:pt x="19980" y="4032"/>
                  </a:lnTo>
                  <a:cubicBezTo>
                    <a:pt x="19789" y="3744"/>
                    <a:pt x="19586" y="6048"/>
                    <a:pt x="19366" y="3744"/>
                  </a:cubicBezTo>
                  <a:cubicBezTo>
                    <a:pt x="19302" y="4032"/>
                    <a:pt x="19237" y="4320"/>
                    <a:pt x="19127" y="4032"/>
                  </a:cubicBezTo>
                  <a:lnTo>
                    <a:pt x="19108" y="2880"/>
                  </a:lnTo>
                  <a:cubicBezTo>
                    <a:pt x="19024" y="3168"/>
                    <a:pt x="18858" y="1728"/>
                    <a:pt x="18824" y="2880"/>
                  </a:cubicBezTo>
                  <a:cubicBezTo>
                    <a:pt x="18733" y="0"/>
                    <a:pt x="18421" y="2016"/>
                    <a:pt x="18277" y="1440"/>
                  </a:cubicBezTo>
                  <a:lnTo>
                    <a:pt x="18270" y="2880"/>
                  </a:lnTo>
                  <a:cubicBezTo>
                    <a:pt x="18171" y="2880"/>
                    <a:pt x="18074" y="3168"/>
                    <a:pt x="17949" y="3744"/>
                  </a:cubicBezTo>
                  <a:lnTo>
                    <a:pt x="17958" y="5184"/>
                  </a:lnTo>
                  <a:cubicBezTo>
                    <a:pt x="17850" y="6048"/>
                    <a:pt x="17682" y="4032"/>
                    <a:pt x="17512" y="4320"/>
                  </a:cubicBezTo>
                  <a:cubicBezTo>
                    <a:pt x="17525" y="3744"/>
                    <a:pt x="17568" y="3744"/>
                    <a:pt x="17598" y="4032"/>
                  </a:cubicBezTo>
                  <a:cubicBezTo>
                    <a:pt x="17396" y="1152"/>
                    <a:pt x="17170" y="6048"/>
                    <a:pt x="16987" y="4032"/>
                  </a:cubicBezTo>
                  <a:cubicBezTo>
                    <a:pt x="16942" y="4320"/>
                    <a:pt x="16907" y="4320"/>
                    <a:pt x="16877" y="4032"/>
                  </a:cubicBezTo>
                  <a:cubicBezTo>
                    <a:pt x="16881" y="4032"/>
                    <a:pt x="16883" y="4032"/>
                    <a:pt x="16888" y="3744"/>
                  </a:cubicBezTo>
                  <a:lnTo>
                    <a:pt x="16868" y="3744"/>
                  </a:lnTo>
                  <a:lnTo>
                    <a:pt x="16806" y="3168"/>
                  </a:lnTo>
                  <a:cubicBezTo>
                    <a:pt x="16823" y="3456"/>
                    <a:pt x="16843" y="3744"/>
                    <a:pt x="16858" y="3744"/>
                  </a:cubicBezTo>
                  <a:cubicBezTo>
                    <a:pt x="16823" y="3744"/>
                    <a:pt x="16769" y="4032"/>
                    <a:pt x="16718" y="4320"/>
                  </a:cubicBezTo>
                  <a:lnTo>
                    <a:pt x="16694" y="2880"/>
                  </a:lnTo>
                  <a:lnTo>
                    <a:pt x="16683" y="2880"/>
                  </a:lnTo>
                  <a:cubicBezTo>
                    <a:pt x="16631" y="2304"/>
                    <a:pt x="16642" y="3456"/>
                    <a:pt x="16668" y="4608"/>
                  </a:cubicBezTo>
                  <a:cubicBezTo>
                    <a:pt x="16642" y="4896"/>
                    <a:pt x="16619" y="5184"/>
                    <a:pt x="16599" y="5472"/>
                  </a:cubicBezTo>
                  <a:cubicBezTo>
                    <a:pt x="16558" y="3168"/>
                    <a:pt x="16461" y="6336"/>
                    <a:pt x="16405" y="3744"/>
                  </a:cubicBezTo>
                  <a:cubicBezTo>
                    <a:pt x="16369" y="4896"/>
                    <a:pt x="16140" y="4608"/>
                    <a:pt x="16112" y="7200"/>
                  </a:cubicBezTo>
                  <a:cubicBezTo>
                    <a:pt x="16110" y="6624"/>
                    <a:pt x="16095" y="6624"/>
                    <a:pt x="16123" y="6624"/>
                  </a:cubicBezTo>
                  <a:cubicBezTo>
                    <a:pt x="16065" y="6336"/>
                    <a:pt x="16007" y="6048"/>
                    <a:pt x="15955" y="6624"/>
                  </a:cubicBezTo>
                  <a:lnTo>
                    <a:pt x="15929" y="4896"/>
                  </a:lnTo>
                  <a:lnTo>
                    <a:pt x="15802" y="7200"/>
                  </a:lnTo>
                  <a:cubicBezTo>
                    <a:pt x="15725" y="6048"/>
                    <a:pt x="15693" y="5472"/>
                    <a:pt x="15770" y="4032"/>
                  </a:cubicBezTo>
                  <a:cubicBezTo>
                    <a:pt x="15583" y="6048"/>
                    <a:pt x="15617" y="4896"/>
                    <a:pt x="15460" y="6912"/>
                  </a:cubicBezTo>
                  <a:lnTo>
                    <a:pt x="15469" y="5760"/>
                  </a:lnTo>
                  <a:cubicBezTo>
                    <a:pt x="15410" y="5760"/>
                    <a:pt x="15320" y="7200"/>
                    <a:pt x="15286" y="6336"/>
                  </a:cubicBezTo>
                  <a:cubicBezTo>
                    <a:pt x="15161" y="4032"/>
                    <a:pt x="14661" y="5760"/>
                    <a:pt x="14336" y="3744"/>
                  </a:cubicBezTo>
                  <a:cubicBezTo>
                    <a:pt x="14398" y="7200"/>
                    <a:pt x="14185" y="2016"/>
                    <a:pt x="14172" y="4896"/>
                  </a:cubicBezTo>
                  <a:cubicBezTo>
                    <a:pt x="14153" y="4032"/>
                    <a:pt x="14108" y="3456"/>
                    <a:pt x="14159" y="2880"/>
                  </a:cubicBezTo>
                  <a:cubicBezTo>
                    <a:pt x="13993" y="3456"/>
                    <a:pt x="13912" y="1440"/>
                    <a:pt x="13797" y="3744"/>
                  </a:cubicBezTo>
                  <a:cubicBezTo>
                    <a:pt x="13778" y="2880"/>
                    <a:pt x="13832" y="2592"/>
                    <a:pt x="13815" y="2016"/>
                  </a:cubicBezTo>
                  <a:cubicBezTo>
                    <a:pt x="13802" y="2016"/>
                    <a:pt x="13763" y="2592"/>
                    <a:pt x="13746" y="2304"/>
                  </a:cubicBezTo>
                  <a:cubicBezTo>
                    <a:pt x="13729" y="1728"/>
                    <a:pt x="13769" y="1440"/>
                    <a:pt x="13795" y="1152"/>
                  </a:cubicBezTo>
                  <a:cubicBezTo>
                    <a:pt x="13627" y="1152"/>
                    <a:pt x="13610" y="3744"/>
                    <a:pt x="13597" y="6048"/>
                  </a:cubicBezTo>
                  <a:cubicBezTo>
                    <a:pt x="13511" y="4896"/>
                    <a:pt x="13468" y="5184"/>
                    <a:pt x="13405" y="6624"/>
                  </a:cubicBezTo>
                  <a:cubicBezTo>
                    <a:pt x="13377" y="5760"/>
                    <a:pt x="13326" y="4896"/>
                    <a:pt x="13431" y="4896"/>
                  </a:cubicBezTo>
                  <a:cubicBezTo>
                    <a:pt x="13373" y="4608"/>
                    <a:pt x="13070" y="3456"/>
                    <a:pt x="13065" y="5472"/>
                  </a:cubicBezTo>
                  <a:cubicBezTo>
                    <a:pt x="13046" y="4896"/>
                    <a:pt x="12981" y="5184"/>
                    <a:pt x="12966" y="5472"/>
                  </a:cubicBezTo>
                  <a:cubicBezTo>
                    <a:pt x="12833" y="5184"/>
                    <a:pt x="12822" y="5184"/>
                    <a:pt x="12690" y="5184"/>
                  </a:cubicBezTo>
                  <a:lnTo>
                    <a:pt x="12727" y="5472"/>
                  </a:lnTo>
                  <a:cubicBezTo>
                    <a:pt x="12675" y="7776"/>
                    <a:pt x="12619" y="6048"/>
                    <a:pt x="12514" y="6336"/>
                  </a:cubicBezTo>
                  <a:lnTo>
                    <a:pt x="12516" y="6048"/>
                  </a:lnTo>
                  <a:cubicBezTo>
                    <a:pt x="12275" y="4320"/>
                    <a:pt x="12413" y="6912"/>
                    <a:pt x="12176" y="4896"/>
                  </a:cubicBezTo>
                  <a:lnTo>
                    <a:pt x="12189" y="6336"/>
                  </a:lnTo>
                  <a:cubicBezTo>
                    <a:pt x="12165" y="9216"/>
                    <a:pt x="11978" y="4320"/>
                    <a:pt x="11840" y="5472"/>
                  </a:cubicBezTo>
                  <a:lnTo>
                    <a:pt x="11889" y="6336"/>
                  </a:lnTo>
                  <a:cubicBezTo>
                    <a:pt x="11814" y="7488"/>
                    <a:pt x="11678" y="2304"/>
                    <a:pt x="11603" y="1728"/>
                  </a:cubicBezTo>
                  <a:cubicBezTo>
                    <a:pt x="11586" y="1440"/>
                    <a:pt x="11629" y="1440"/>
                    <a:pt x="11652" y="1152"/>
                  </a:cubicBezTo>
                  <a:cubicBezTo>
                    <a:pt x="11454" y="-288"/>
                    <a:pt x="11627" y="2880"/>
                    <a:pt x="11478" y="3456"/>
                  </a:cubicBezTo>
                  <a:cubicBezTo>
                    <a:pt x="11450" y="2304"/>
                    <a:pt x="11513" y="864"/>
                    <a:pt x="11413" y="576"/>
                  </a:cubicBezTo>
                  <a:cubicBezTo>
                    <a:pt x="11364" y="0"/>
                    <a:pt x="11125" y="3744"/>
                    <a:pt x="10989" y="1728"/>
                  </a:cubicBezTo>
                  <a:cubicBezTo>
                    <a:pt x="11019" y="2592"/>
                    <a:pt x="11049" y="3456"/>
                    <a:pt x="10981" y="4032"/>
                  </a:cubicBezTo>
                  <a:cubicBezTo>
                    <a:pt x="10875" y="4032"/>
                    <a:pt x="10696" y="864"/>
                    <a:pt x="10602" y="3456"/>
                  </a:cubicBezTo>
                  <a:cubicBezTo>
                    <a:pt x="10589" y="3168"/>
                    <a:pt x="10582" y="2880"/>
                    <a:pt x="10582" y="2592"/>
                  </a:cubicBezTo>
                  <a:cubicBezTo>
                    <a:pt x="10502" y="3456"/>
                    <a:pt x="10322" y="3744"/>
                    <a:pt x="10272" y="4896"/>
                  </a:cubicBezTo>
                  <a:cubicBezTo>
                    <a:pt x="10199" y="288"/>
                    <a:pt x="9772" y="7200"/>
                    <a:pt x="9775" y="2592"/>
                  </a:cubicBezTo>
                  <a:lnTo>
                    <a:pt x="9527" y="2880"/>
                  </a:lnTo>
                  <a:lnTo>
                    <a:pt x="9533" y="2304"/>
                  </a:lnTo>
                  <a:cubicBezTo>
                    <a:pt x="9376" y="2016"/>
                    <a:pt x="9320" y="3168"/>
                    <a:pt x="9264" y="4320"/>
                  </a:cubicBezTo>
                  <a:cubicBezTo>
                    <a:pt x="9228" y="3744"/>
                    <a:pt x="9256" y="3456"/>
                    <a:pt x="9258" y="3168"/>
                  </a:cubicBezTo>
                  <a:cubicBezTo>
                    <a:pt x="9027" y="2304"/>
                    <a:pt x="9004" y="2304"/>
                    <a:pt x="8810" y="4608"/>
                  </a:cubicBezTo>
                  <a:lnTo>
                    <a:pt x="8790" y="3168"/>
                  </a:lnTo>
                  <a:cubicBezTo>
                    <a:pt x="8737" y="4032"/>
                    <a:pt x="8457" y="864"/>
                    <a:pt x="8231" y="2304"/>
                  </a:cubicBezTo>
                  <a:cubicBezTo>
                    <a:pt x="8233" y="2304"/>
                    <a:pt x="8237" y="2016"/>
                    <a:pt x="8254" y="1728"/>
                  </a:cubicBezTo>
                  <a:cubicBezTo>
                    <a:pt x="8000" y="3456"/>
                    <a:pt x="7645" y="-2016"/>
                    <a:pt x="7552" y="2880"/>
                  </a:cubicBezTo>
                  <a:lnTo>
                    <a:pt x="7382" y="4032"/>
                  </a:lnTo>
                  <a:cubicBezTo>
                    <a:pt x="7600" y="4608"/>
                    <a:pt x="7350" y="6336"/>
                    <a:pt x="7440" y="7200"/>
                  </a:cubicBezTo>
                  <a:cubicBezTo>
                    <a:pt x="7354" y="7488"/>
                    <a:pt x="7218" y="5760"/>
                    <a:pt x="7324" y="5472"/>
                  </a:cubicBezTo>
                  <a:lnTo>
                    <a:pt x="7341" y="5760"/>
                  </a:lnTo>
                  <a:cubicBezTo>
                    <a:pt x="7380" y="2880"/>
                    <a:pt x="7070" y="4608"/>
                    <a:pt x="7076" y="2592"/>
                  </a:cubicBezTo>
                  <a:cubicBezTo>
                    <a:pt x="6648" y="2880"/>
                    <a:pt x="6230" y="1152"/>
                    <a:pt x="5829" y="864"/>
                  </a:cubicBezTo>
                  <a:lnTo>
                    <a:pt x="5877" y="3168"/>
                  </a:lnTo>
                  <a:lnTo>
                    <a:pt x="5737" y="2880"/>
                  </a:lnTo>
                  <a:cubicBezTo>
                    <a:pt x="5700" y="2304"/>
                    <a:pt x="5687" y="1152"/>
                    <a:pt x="5786" y="1440"/>
                  </a:cubicBezTo>
                  <a:cubicBezTo>
                    <a:pt x="5735" y="288"/>
                    <a:pt x="5618" y="2304"/>
                    <a:pt x="5616" y="2880"/>
                  </a:cubicBezTo>
                  <a:cubicBezTo>
                    <a:pt x="5420" y="2016"/>
                    <a:pt x="5694" y="576"/>
                    <a:pt x="5633" y="576"/>
                  </a:cubicBezTo>
                  <a:lnTo>
                    <a:pt x="5569" y="576"/>
                  </a:lnTo>
                  <a:cubicBezTo>
                    <a:pt x="5504" y="1440"/>
                    <a:pt x="5498" y="2304"/>
                    <a:pt x="5377" y="2304"/>
                  </a:cubicBezTo>
                  <a:cubicBezTo>
                    <a:pt x="5302" y="1728"/>
                    <a:pt x="5338" y="864"/>
                    <a:pt x="5308" y="864"/>
                  </a:cubicBezTo>
                  <a:cubicBezTo>
                    <a:pt x="5310" y="864"/>
                    <a:pt x="5300" y="576"/>
                    <a:pt x="5263" y="864"/>
                  </a:cubicBezTo>
                  <a:lnTo>
                    <a:pt x="5086" y="576"/>
                  </a:lnTo>
                  <a:lnTo>
                    <a:pt x="5157" y="2304"/>
                  </a:lnTo>
                  <a:cubicBezTo>
                    <a:pt x="5080" y="3168"/>
                    <a:pt x="4992" y="2304"/>
                    <a:pt x="5073" y="4032"/>
                  </a:cubicBezTo>
                  <a:cubicBezTo>
                    <a:pt x="4953" y="1152"/>
                    <a:pt x="4417" y="2880"/>
                    <a:pt x="4343" y="2016"/>
                  </a:cubicBezTo>
                  <a:cubicBezTo>
                    <a:pt x="4234" y="3168"/>
                    <a:pt x="4126" y="3168"/>
                    <a:pt x="3990" y="2880"/>
                  </a:cubicBezTo>
                  <a:cubicBezTo>
                    <a:pt x="4025" y="3456"/>
                    <a:pt x="4044" y="5184"/>
                    <a:pt x="3930" y="4896"/>
                  </a:cubicBezTo>
                  <a:cubicBezTo>
                    <a:pt x="3971" y="1152"/>
                    <a:pt x="3717" y="3168"/>
                    <a:pt x="3624" y="576"/>
                  </a:cubicBezTo>
                  <a:cubicBezTo>
                    <a:pt x="3708" y="2304"/>
                    <a:pt x="3297" y="864"/>
                    <a:pt x="3428" y="3456"/>
                  </a:cubicBezTo>
                  <a:cubicBezTo>
                    <a:pt x="3331" y="3168"/>
                    <a:pt x="3422" y="2016"/>
                    <a:pt x="3348" y="1152"/>
                  </a:cubicBezTo>
                  <a:cubicBezTo>
                    <a:pt x="3120" y="2592"/>
                    <a:pt x="2842" y="288"/>
                    <a:pt x="2560" y="576"/>
                  </a:cubicBezTo>
                  <a:cubicBezTo>
                    <a:pt x="2556" y="1152"/>
                    <a:pt x="2603" y="1728"/>
                    <a:pt x="2543" y="2592"/>
                  </a:cubicBezTo>
                  <a:lnTo>
                    <a:pt x="2392" y="288"/>
                  </a:lnTo>
                  <a:cubicBezTo>
                    <a:pt x="2336" y="576"/>
                    <a:pt x="2341" y="2880"/>
                    <a:pt x="2239" y="1152"/>
                  </a:cubicBezTo>
                  <a:cubicBezTo>
                    <a:pt x="2254" y="1728"/>
                    <a:pt x="2276" y="2304"/>
                    <a:pt x="2237" y="2304"/>
                  </a:cubicBezTo>
                  <a:cubicBezTo>
                    <a:pt x="1682" y="0"/>
                    <a:pt x="1104" y="4320"/>
                    <a:pt x="540" y="0"/>
                  </a:cubicBezTo>
                  <a:cubicBezTo>
                    <a:pt x="616" y="576"/>
                    <a:pt x="566" y="864"/>
                    <a:pt x="508" y="864"/>
                  </a:cubicBezTo>
                  <a:cubicBezTo>
                    <a:pt x="545" y="1152"/>
                    <a:pt x="506" y="2016"/>
                    <a:pt x="514" y="2880"/>
                  </a:cubicBezTo>
                  <a:lnTo>
                    <a:pt x="277" y="864"/>
                  </a:lnTo>
                  <a:cubicBezTo>
                    <a:pt x="234" y="2880"/>
                    <a:pt x="26" y="864"/>
                    <a:pt x="0" y="2880"/>
                  </a:cubicBezTo>
                  <a:lnTo>
                    <a:pt x="75" y="2304"/>
                  </a:lnTo>
                  <a:cubicBezTo>
                    <a:pt x="-24" y="4608"/>
                    <a:pt x="215" y="7200"/>
                    <a:pt x="200" y="10080"/>
                  </a:cubicBezTo>
                  <a:cubicBezTo>
                    <a:pt x="312" y="7488"/>
                    <a:pt x="493" y="13824"/>
                    <a:pt x="676" y="10368"/>
                  </a:cubicBezTo>
                  <a:cubicBezTo>
                    <a:pt x="717" y="10944"/>
                    <a:pt x="641" y="11232"/>
                    <a:pt x="663" y="11808"/>
                  </a:cubicBezTo>
                  <a:cubicBezTo>
                    <a:pt x="708" y="10656"/>
                    <a:pt x="764" y="10368"/>
                    <a:pt x="868" y="10944"/>
                  </a:cubicBezTo>
                  <a:lnTo>
                    <a:pt x="857" y="11232"/>
                  </a:lnTo>
                  <a:cubicBezTo>
                    <a:pt x="1148" y="10944"/>
                    <a:pt x="1272" y="12096"/>
                    <a:pt x="1600" y="12960"/>
                  </a:cubicBezTo>
                  <a:lnTo>
                    <a:pt x="1574" y="11520"/>
                  </a:lnTo>
                  <a:cubicBezTo>
                    <a:pt x="1645" y="11808"/>
                    <a:pt x="1660" y="12096"/>
                    <a:pt x="1692" y="12384"/>
                  </a:cubicBezTo>
                  <a:cubicBezTo>
                    <a:pt x="1774" y="10368"/>
                    <a:pt x="1496" y="12384"/>
                    <a:pt x="1570" y="10080"/>
                  </a:cubicBezTo>
                  <a:cubicBezTo>
                    <a:pt x="1662" y="12960"/>
                    <a:pt x="2065" y="10080"/>
                    <a:pt x="2127" y="13248"/>
                  </a:cubicBezTo>
                  <a:cubicBezTo>
                    <a:pt x="2235" y="13536"/>
                    <a:pt x="2095" y="11808"/>
                    <a:pt x="2203" y="11808"/>
                  </a:cubicBezTo>
                  <a:lnTo>
                    <a:pt x="2233" y="12672"/>
                  </a:lnTo>
                  <a:lnTo>
                    <a:pt x="2259" y="11520"/>
                  </a:lnTo>
                  <a:cubicBezTo>
                    <a:pt x="2330" y="11808"/>
                    <a:pt x="2366" y="12960"/>
                    <a:pt x="2369" y="13536"/>
                  </a:cubicBezTo>
                  <a:cubicBezTo>
                    <a:pt x="2351" y="13536"/>
                    <a:pt x="2319" y="13824"/>
                    <a:pt x="2302" y="13824"/>
                  </a:cubicBezTo>
                  <a:cubicBezTo>
                    <a:pt x="2392" y="14976"/>
                    <a:pt x="2560" y="13536"/>
                    <a:pt x="2593" y="13824"/>
                  </a:cubicBezTo>
                  <a:lnTo>
                    <a:pt x="2487" y="13248"/>
                  </a:lnTo>
                  <a:cubicBezTo>
                    <a:pt x="2782" y="12384"/>
                    <a:pt x="3142" y="13824"/>
                    <a:pt x="3428" y="12096"/>
                  </a:cubicBezTo>
                  <a:lnTo>
                    <a:pt x="3407" y="11232"/>
                  </a:lnTo>
                  <a:cubicBezTo>
                    <a:pt x="3624" y="10080"/>
                    <a:pt x="3581" y="12096"/>
                    <a:pt x="3818" y="11520"/>
                  </a:cubicBezTo>
                  <a:lnTo>
                    <a:pt x="3809" y="11808"/>
                  </a:lnTo>
                  <a:cubicBezTo>
                    <a:pt x="3859" y="10944"/>
                    <a:pt x="3921" y="10656"/>
                    <a:pt x="3988" y="10944"/>
                  </a:cubicBezTo>
                  <a:cubicBezTo>
                    <a:pt x="3928" y="11520"/>
                    <a:pt x="4100" y="12384"/>
                    <a:pt x="4023" y="13248"/>
                  </a:cubicBezTo>
                  <a:cubicBezTo>
                    <a:pt x="4257" y="11808"/>
                    <a:pt x="4139" y="12096"/>
                    <a:pt x="4294" y="9792"/>
                  </a:cubicBezTo>
                  <a:lnTo>
                    <a:pt x="4330" y="10944"/>
                  </a:lnTo>
                  <a:cubicBezTo>
                    <a:pt x="4382" y="9792"/>
                    <a:pt x="4386" y="9504"/>
                    <a:pt x="4507" y="9216"/>
                  </a:cubicBezTo>
                  <a:cubicBezTo>
                    <a:pt x="4408" y="10080"/>
                    <a:pt x="4582" y="10656"/>
                    <a:pt x="4473" y="12096"/>
                  </a:cubicBezTo>
                  <a:cubicBezTo>
                    <a:pt x="4725" y="14400"/>
                    <a:pt x="4845" y="9792"/>
                    <a:pt x="4959" y="13248"/>
                  </a:cubicBezTo>
                  <a:cubicBezTo>
                    <a:pt x="5076" y="10080"/>
                    <a:pt x="4744" y="11520"/>
                    <a:pt x="4809" y="10944"/>
                  </a:cubicBezTo>
                  <a:cubicBezTo>
                    <a:pt x="4755" y="9792"/>
                    <a:pt x="4903" y="8640"/>
                    <a:pt x="4981" y="8928"/>
                  </a:cubicBezTo>
                  <a:cubicBezTo>
                    <a:pt x="5061" y="8928"/>
                    <a:pt x="5116" y="12672"/>
                    <a:pt x="5319" y="12672"/>
                  </a:cubicBezTo>
                  <a:cubicBezTo>
                    <a:pt x="5297" y="12672"/>
                    <a:pt x="5297" y="12960"/>
                    <a:pt x="5276" y="12960"/>
                  </a:cubicBezTo>
                  <a:cubicBezTo>
                    <a:pt x="5351" y="13824"/>
                    <a:pt x="5424" y="11808"/>
                    <a:pt x="5517" y="13248"/>
                  </a:cubicBezTo>
                  <a:cubicBezTo>
                    <a:pt x="5569" y="11520"/>
                    <a:pt x="5636" y="13248"/>
                    <a:pt x="5651" y="10944"/>
                  </a:cubicBezTo>
                  <a:lnTo>
                    <a:pt x="5468" y="11520"/>
                  </a:lnTo>
                  <a:cubicBezTo>
                    <a:pt x="5571" y="10944"/>
                    <a:pt x="5670" y="8352"/>
                    <a:pt x="5842" y="9504"/>
                  </a:cubicBezTo>
                  <a:cubicBezTo>
                    <a:pt x="5829" y="10080"/>
                    <a:pt x="5778" y="10656"/>
                    <a:pt x="5741" y="10944"/>
                  </a:cubicBezTo>
                  <a:cubicBezTo>
                    <a:pt x="5793" y="11808"/>
                    <a:pt x="5838" y="10656"/>
                    <a:pt x="5892" y="11232"/>
                  </a:cubicBezTo>
                  <a:cubicBezTo>
                    <a:pt x="5877" y="13536"/>
                    <a:pt x="5668" y="11808"/>
                    <a:pt x="5556" y="13536"/>
                  </a:cubicBezTo>
                  <a:cubicBezTo>
                    <a:pt x="5610" y="14400"/>
                    <a:pt x="5767" y="11808"/>
                    <a:pt x="5711" y="14400"/>
                  </a:cubicBezTo>
                  <a:cubicBezTo>
                    <a:pt x="5791" y="11232"/>
                    <a:pt x="5909" y="14688"/>
                    <a:pt x="6045" y="12384"/>
                  </a:cubicBezTo>
                  <a:lnTo>
                    <a:pt x="6036" y="13824"/>
                  </a:lnTo>
                  <a:cubicBezTo>
                    <a:pt x="6058" y="13536"/>
                    <a:pt x="6103" y="12960"/>
                    <a:pt x="6142" y="12960"/>
                  </a:cubicBezTo>
                  <a:lnTo>
                    <a:pt x="6071" y="14688"/>
                  </a:lnTo>
                  <a:cubicBezTo>
                    <a:pt x="6180" y="13248"/>
                    <a:pt x="6282" y="16128"/>
                    <a:pt x="6387" y="15264"/>
                  </a:cubicBezTo>
                  <a:cubicBezTo>
                    <a:pt x="6167" y="15264"/>
                    <a:pt x="6338" y="13536"/>
                    <a:pt x="6245" y="12672"/>
                  </a:cubicBezTo>
                  <a:cubicBezTo>
                    <a:pt x="6518" y="10944"/>
                    <a:pt x="6402" y="16416"/>
                    <a:pt x="6708" y="15840"/>
                  </a:cubicBezTo>
                  <a:cubicBezTo>
                    <a:pt x="6667" y="15840"/>
                    <a:pt x="6553" y="14688"/>
                    <a:pt x="6618" y="14112"/>
                  </a:cubicBezTo>
                  <a:cubicBezTo>
                    <a:pt x="6676" y="14400"/>
                    <a:pt x="6751" y="14976"/>
                    <a:pt x="6788" y="15840"/>
                  </a:cubicBezTo>
                  <a:cubicBezTo>
                    <a:pt x="6990" y="15552"/>
                    <a:pt x="6757" y="14400"/>
                    <a:pt x="6844" y="13536"/>
                  </a:cubicBezTo>
                  <a:cubicBezTo>
                    <a:pt x="6913" y="15264"/>
                    <a:pt x="6943" y="12960"/>
                    <a:pt x="7031" y="12384"/>
                  </a:cubicBezTo>
                  <a:lnTo>
                    <a:pt x="7031" y="13824"/>
                  </a:lnTo>
                  <a:cubicBezTo>
                    <a:pt x="7264" y="14688"/>
                    <a:pt x="7093" y="10944"/>
                    <a:pt x="7300" y="12096"/>
                  </a:cubicBezTo>
                  <a:lnTo>
                    <a:pt x="7214" y="13824"/>
                  </a:lnTo>
                  <a:lnTo>
                    <a:pt x="7322" y="13536"/>
                  </a:lnTo>
                  <a:lnTo>
                    <a:pt x="7298" y="14976"/>
                  </a:lnTo>
                  <a:cubicBezTo>
                    <a:pt x="7416" y="13824"/>
                    <a:pt x="7453" y="14112"/>
                    <a:pt x="7569" y="14688"/>
                  </a:cubicBezTo>
                  <a:cubicBezTo>
                    <a:pt x="7541" y="13536"/>
                    <a:pt x="7584" y="12096"/>
                    <a:pt x="7686" y="12096"/>
                  </a:cubicBezTo>
                  <a:cubicBezTo>
                    <a:pt x="7757" y="12960"/>
                    <a:pt x="7647" y="13536"/>
                    <a:pt x="7793" y="13248"/>
                  </a:cubicBezTo>
                  <a:cubicBezTo>
                    <a:pt x="7759" y="14112"/>
                    <a:pt x="7724" y="15264"/>
                    <a:pt x="7660" y="13824"/>
                  </a:cubicBezTo>
                  <a:cubicBezTo>
                    <a:pt x="7653" y="14400"/>
                    <a:pt x="7628" y="14688"/>
                    <a:pt x="7621" y="15264"/>
                  </a:cubicBezTo>
                  <a:cubicBezTo>
                    <a:pt x="7696" y="16128"/>
                    <a:pt x="7811" y="15552"/>
                    <a:pt x="7862" y="15552"/>
                  </a:cubicBezTo>
                  <a:cubicBezTo>
                    <a:pt x="7843" y="15552"/>
                    <a:pt x="7819" y="15264"/>
                    <a:pt x="7806" y="15264"/>
                  </a:cubicBezTo>
                  <a:lnTo>
                    <a:pt x="8017" y="13248"/>
                  </a:lnTo>
                  <a:cubicBezTo>
                    <a:pt x="8050" y="13824"/>
                    <a:pt x="8024" y="14112"/>
                    <a:pt x="7998" y="14688"/>
                  </a:cubicBezTo>
                  <a:cubicBezTo>
                    <a:pt x="8039" y="14400"/>
                    <a:pt x="8069" y="13824"/>
                    <a:pt x="8131" y="13824"/>
                  </a:cubicBezTo>
                  <a:cubicBezTo>
                    <a:pt x="8116" y="14976"/>
                    <a:pt x="8119" y="16128"/>
                    <a:pt x="8030" y="16704"/>
                  </a:cubicBezTo>
                  <a:lnTo>
                    <a:pt x="8231" y="15264"/>
                  </a:lnTo>
                  <a:cubicBezTo>
                    <a:pt x="8243" y="15840"/>
                    <a:pt x="8334" y="16704"/>
                    <a:pt x="8308" y="17280"/>
                  </a:cubicBezTo>
                  <a:cubicBezTo>
                    <a:pt x="8418" y="17856"/>
                    <a:pt x="8579" y="14976"/>
                    <a:pt x="8728" y="15840"/>
                  </a:cubicBezTo>
                  <a:cubicBezTo>
                    <a:pt x="8734" y="15840"/>
                    <a:pt x="8750" y="15552"/>
                    <a:pt x="8782" y="15264"/>
                  </a:cubicBezTo>
                  <a:cubicBezTo>
                    <a:pt x="8920" y="15840"/>
                    <a:pt x="9042" y="17280"/>
                    <a:pt x="9206" y="15552"/>
                  </a:cubicBezTo>
                  <a:lnTo>
                    <a:pt x="9299" y="17568"/>
                  </a:lnTo>
                  <a:cubicBezTo>
                    <a:pt x="9428" y="17280"/>
                    <a:pt x="9174" y="14976"/>
                    <a:pt x="9387" y="14400"/>
                  </a:cubicBezTo>
                  <a:cubicBezTo>
                    <a:pt x="9538" y="13824"/>
                    <a:pt x="9443" y="16128"/>
                    <a:pt x="9497" y="16704"/>
                  </a:cubicBezTo>
                  <a:cubicBezTo>
                    <a:pt x="9572" y="15840"/>
                    <a:pt x="9704" y="13536"/>
                    <a:pt x="9841" y="15264"/>
                  </a:cubicBezTo>
                  <a:cubicBezTo>
                    <a:pt x="9796" y="15840"/>
                    <a:pt x="9760" y="15264"/>
                    <a:pt x="9716" y="15552"/>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3" name="Freeform 63"/>
            <p:cNvSpPr/>
            <p:nvPr/>
          </p:nvSpPr>
          <p:spPr>
            <a:xfrm rot="5400000">
              <a:off x="13611" y="3674884"/>
              <a:ext cx="12701" cy="12701"/>
            </a:xfrm>
            <a:custGeom>
              <a:avLst/>
              <a:gdLst/>
              <a:ahLst/>
              <a:cxnLst>
                <a:cxn ang="0">
                  <a:pos x="wd2" y="hd2"/>
                </a:cxn>
                <a:cxn ang="5400000">
                  <a:pos x="wd2" y="hd2"/>
                </a:cxn>
                <a:cxn ang="10800000">
                  <a:pos x="wd2" y="hd2"/>
                </a:cxn>
                <a:cxn ang="16200000">
                  <a:pos x="wd2" y="hd2"/>
                </a:cxn>
              </a:cxnLst>
              <a:rect l="0" t="0" r="r" b="b"/>
              <a:pathLst>
                <a:path w="17130" h="21600" extrusionOk="0">
                  <a:moveTo>
                    <a:pt x="17130" y="21600"/>
                  </a:moveTo>
                  <a:cubicBezTo>
                    <a:pt x="9930" y="14400"/>
                    <a:pt x="8130" y="7200"/>
                    <a:pt x="6330" y="0"/>
                  </a:cubicBezTo>
                  <a:cubicBezTo>
                    <a:pt x="-2670" y="7200"/>
                    <a:pt x="-4470" y="14400"/>
                    <a:pt x="1713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4" name="Freeform 64"/>
            <p:cNvSpPr/>
            <p:nvPr/>
          </p:nvSpPr>
          <p:spPr>
            <a:xfrm rot="5400000">
              <a:off x="7457" y="2397767"/>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960" y="0"/>
                  </a:lnTo>
                  <a:cubicBezTo>
                    <a:pt x="4320" y="21600"/>
                    <a:pt x="4320" y="21600"/>
                    <a:pt x="0" y="21600"/>
                  </a:cubicBez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5" name="Freeform 65"/>
            <p:cNvSpPr/>
            <p:nvPr/>
          </p:nvSpPr>
          <p:spPr>
            <a:xfrm rot="5400000">
              <a:off x="5649" y="5007891"/>
              <a:ext cx="15085" cy="12701"/>
            </a:xfrm>
            <a:custGeom>
              <a:avLst/>
              <a:gdLst/>
              <a:ahLst/>
              <a:cxnLst>
                <a:cxn ang="0">
                  <a:pos x="wd2" y="hd2"/>
                </a:cxn>
                <a:cxn ang="5400000">
                  <a:pos x="wd2" y="hd2"/>
                </a:cxn>
                <a:cxn ang="10800000">
                  <a:pos x="wd2" y="hd2"/>
                </a:cxn>
                <a:cxn ang="16200000">
                  <a:pos x="wd2" y="hd2"/>
                </a:cxn>
              </a:cxnLst>
              <a:rect l="0" t="0" r="r" b="b"/>
              <a:pathLst>
                <a:path w="20884" h="21600" extrusionOk="0">
                  <a:moveTo>
                    <a:pt x="20884" y="21600"/>
                  </a:moveTo>
                  <a:cubicBezTo>
                    <a:pt x="9684" y="14400"/>
                    <a:pt x="4084" y="7200"/>
                    <a:pt x="84" y="0"/>
                  </a:cubicBezTo>
                  <a:cubicBezTo>
                    <a:pt x="-716" y="7200"/>
                    <a:pt x="4084" y="14400"/>
                    <a:pt x="20884"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6" name="Freeform 66"/>
            <p:cNvSpPr/>
            <p:nvPr/>
          </p:nvSpPr>
          <p:spPr>
            <a:xfrm rot="5400000">
              <a:off x="39162" y="5806729"/>
              <a:ext cx="2437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200"/>
                  </a:lnTo>
                  <a:cubicBezTo>
                    <a:pt x="10286" y="7200"/>
                    <a:pt x="13886" y="14400"/>
                    <a:pt x="19543" y="21600"/>
                  </a:cubicBezTo>
                  <a:cubicBezTo>
                    <a:pt x="19029" y="14400"/>
                    <a:pt x="14914" y="0"/>
                    <a:pt x="2160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7" name="Freeform 67"/>
            <p:cNvSpPr/>
            <p:nvPr/>
          </p:nvSpPr>
          <p:spPr>
            <a:xfrm rot="5400000">
              <a:off x="18347" y="6035528"/>
              <a:ext cx="19231" cy="12701"/>
            </a:xfrm>
            <a:custGeom>
              <a:avLst/>
              <a:gdLst/>
              <a:ahLst/>
              <a:cxnLst>
                <a:cxn ang="0">
                  <a:pos x="wd2" y="hd2"/>
                </a:cxn>
                <a:cxn ang="5400000">
                  <a:pos x="wd2" y="hd2"/>
                </a:cxn>
                <a:cxn ang="10800000">
                  <a:pos x="wd2" y="hd2"/>
                </a:cxn>
                <a:cxn ang="16200000">
                  <a:pos x="wd2" y="hd2"/>
                </a:cxn>
              </a:cxnLst>
              <a:rect l="0" t="0" r="r" b="b"/>
              <a:pathLst>
                <a:path w="15213" h="21600" extrusionOk="0">
                  <a:moveTo>
                    <a:pt x="6291" y="21600"/>
                  </a:moveTo>
                  <a:cubicBezTo>
                    <a:pt x="9109" y="14400"/>
                    <a:pt x="12396" y="21600"/>
                    <a:pt x="15213" y="14400"/>
                  </a:cubicBezTo>
                  <a:lnTo>
                    <a:pt x="14274" y="0"/>
                  </a:lnTo>
                  <a:cubicBezTo>
                    <a:pt x="2065" y="0"/>
                    <a:pt x="-6387" y="14400"/>
                    <a:pt x="6291"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8" name="Freeform 68"/>
            <p:cNvSpPr/>
            <p:nvPr/>
          </p:nvSpPr>
          <p:spPr>
            <a:xfrm rot="5400000">
              <a:off x="20668" y="5858990"/>
              <a:ext cx="35290" cy="12701"/>
            </a:xfrm>
            <a:custGeom>
              <a:avLst/>
              <a:gdLst/>
              <a:ahLst/>
              <a:cxnLst>
                <a:cxn ang="0">
                  <a:pos x="wd2" y="hd2"/>
                </a:cxn>
                <a:cxn ang="5400000">
                  <a:pos x="wd2" y="hd2"/>
                </a:cxn>
                <a:cxn ang="10800000">
                  <a:pos x="wd2" y="hd2"/>
                </a:cxn>
                <a:cxn ang="16200000">
                  <a:pos x="wd2" y="hd2"/>
                </a:cxn>
              </a:cxnLst>
              <a:rect l="0" t="0" r="r" b="b"/>
              <a:pathLst>
                <a:path w="20571" h="13988" extrusionOk="0">
                  <a:moveTo>
                    <a:pt x="0" y="5056"/>
                  </a:moveTo>
                  <a:cubicBezTo>
                    <a:pt x="1029" y="17399"/>
                    <a:pt x="10286" y="14313"/>
                    <a:pt x="20571" y="11228"/>
                  </a:cubicBezTo>
                  <a:lnTo>
                    <a:pt x="18514" y="11228"/>
                  </a:lnTo>
                  <a:cubicBezTo>
                    <a:pt x="21600" y="-4201"/>
                    <a:pt x="10629" y="-1115"/>
                    <a:pt x="0" y="5056"/>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79" name="Freeform 69"/>
            <p:cNvSpPr/>
            <p:nvPr/>
          </p:nvSpPr>
          <p:spPr>
            <a:xfrm rot="5400000">
              <a:off x="30041" y="5888392"/>
              <a:ext cx="16085" cy="12701"/>
            </a:xfrm>
            <a:custGeom>
              <a:avLst/>
              <a:gdLst/>
              <a:ahLst/>
              <a:cxnLst>
                <a:cxn ang="0">
                  <a:pos x="wd2" y="hd2"/>
                </a:cxn>
                <a:cxn ang="5400000">
                  <a:pos x="wd2" y="hd2"/>
                </a:cxn>
                <a:cxn ang="10800000">
                  <a:pos x="wd2" y="hd2"/>
                </a:cxn>
                <a:cxn ang="16200000">
                  <a:pos x="wd2" y="hd2"/>
                </a:cxn>
              </a:cxnLst>
              <a:rect l="0" t="0" r="r" b="b"/>
              <a:pathLst>
                <a:path w="19793" h="9600" extrusionOk="0">
                  <a:moveTo>
                    <a:pt x="0" y="9600"/>
                  </a:moveTo>
                  <a:cubicBezTo>
                    <a:pt x="6968" y="9600"/>
                    <a:pt x="13239" y="9600"/>
                    <a:pt x="19510" y="9600"/>
                  </a:cubicBezTo>
                  <a:cubicBezTo>
                    <a:pt x="21600" y="-12000"/>
                    <a:pt x="11845" y="9600"/>
                    <a:pt x="0" y="9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0" name="Freeform 70"/>
            <p:cNvSpPr/>
            <p:nvPr/>
          </p:nvSpPr>
          <p:spPr>
            <a:xfrm rot="5400000">
              <a:off x="37174" y="5660100"/>
              <a:ext cx="26888" cy="12701"/>
            </a:xfrm>
            <a:custGeom>
              <a:avLst/>
              <a:gdLst/>
              <a:ahLst/>
              <a:cxnLst>
                <a:cxn ang="0">
                  <a:pos x="wd2" y="hd2"/>
                </a:cxn>
                <a:cxn ang="5400000">
                  <a:pos x="wd2" y="hd2"/>
                </a:cxn>
                <a:cxn ang="10800000">
                  <a:pos x="wd2" y="hd2"/>
                </a:cxn>
                <a:cxn ang="16200000">
                  <a:pos x="wd2" y="hd2"/>
                </a:cxn>
              </a:cxnLst>
              <a:rect l="0" t="0" r="r" b="b"/>
              <a:pathLst>
                <a:path w="9163" h="9351" extrusionOk="0">
                  <a:moveTo>
                    <a:pt x="5509" y="8469"/>
                  </a:moveTo>
                  <a:cubicBezTo>
                    <a:pt x="8283" y="10269"/>
                    <a:pt x="7292" y="-531"/>
                    <a:pt x="8878" y="3069"/>
                  </a:cubicBezTo>
                  <a:cubicBezTo>
                    <a:pt x="11850" y="-7731"/>
                    <a:pt x="-9750" y="13869"/>
                    <a:pt x="5509" y="8469"/>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1" name="Freeform 71"/>
            <p:cNvSpPr/>
            <p:nvPr/>
          </p:nvSpPr>
          <p:spPr>
            <a:xfrm rot="5400000">
              <a:off x="20905" y="5847684"/>
              <a:ext cx="1657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2800" y="0"/>
                  </a:lnTo>
                  <a:lnTo>
                    <a:pt x="0" y="1728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2" name="Freeform 72"/>
            <p:cNvSpPr/>
            <p:nvPr/>
          </p:nvSpPr>
          <p:spPr>
            <a:xfrm rot="5400000">
              <a:off x="13558" y="5735836"/>
              <a:ext cx="35502" cy="12701"/>
            </a:xfrm>
            <a:custGeom>
              <a:avLst/>
              <a:gdLst/>
              <a:ahLst/>
              <a:cxnLst>
                <a:cxn ang="0">
                  <a:pos x="wd2" y="hd2"/>
                </a:cxn>
                <a:cxn ang="5400000">
                  <a:pos x="wd2" y="hd2"/>
                </a:cxn>
                <a:cxn ang="10800000">
                  <a:pos x="wd2" y="hd2"/>
                </a:cxn>
                <a:cxn ang="16200000">
                  <a:pos x="wd2" y="hd2"/>
                </a:cxn>
              </a:cxnLst>
              <a:rect l="0" t="0" r="r" b="b"/>
              <a:pathLst>
                <a:path w="21254" h="15514" extrusionOk="0">
                  <a:moveTo>
                    <a:pt x="8" y="8314"/>
                  </a:moveTo>
                  <a:lnTo>
                    <a:pt x="17005" y="15514"/>
                  </a:lnTo>
                  <a:cubicBezTo>
                    <a:pt x="16651" y="8314"/>
                    <a:pt x="18775" y="8314"/>
                    <a:pt x="21254" y="8314"/>
                  </a:cubicBezTo>
                  <a:cubicBezTo>
                    <a:pt x="10985" y="1114"/>
                    <a:pt x="-346" y="-6086"/>
                    <a:pt x="8" y="8314"/>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3" name="Freeform 73"/>
            <p:cNvSpPr/>
            <p:nvPr/>
          </p:nvSpPr>
          <p:spPr>
            <a:xfrm rot="5400000">
              <a:off x="19826" y="5764800"/>
              <a:ext cx="22428"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8526" y="21600"/>
                    <a:pt x="17053" y="21600"/>
                    <a:pt x="21600" y="0"/>
                  </a:cubicBezTo>
                  <a:cubicBezTo>
                    <a:pt x="17053" y="0"/>
                    <a:pt x="6821" y="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4" name="Freeform 74"/>
            <p:cNvSpPr/>
            <p:nvPr/>
          </p:nvSpPr>
          <p:spPr>
            <a:xfrm rot="5400000">
              <a:off x="12593" y="5803804"/>
              <a:ext cx="2827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166" y="0"/>
                  </a:lnTo>
                  <a:lnTo>
                    <a:pt x="0" y="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5" name="Freeform 75"/>
            <p:cNvSpPr/>
            <p:nvPr/>
          </p:nvSpPr>
          <p:spPr>
            <a:xfrm rot="5400000">
              <a:off x="14992" y="5406298"/>
              <a:ext cx="32097" cy="12701"/>
            </a:xfrm>
            <a:custGeom>
              <a:avLst/>
              <a:gdLst/>
              <a:ahLst/>
              <a:cxnLst>
                <a:cxn ang="0">
                  <a:pos x="wd2" y="hd2"/>
                </a:cxn>
                <a:cxn ang="5400000">
                  <a:pos x="wd2" y="hd2"/>
                </a:cxn>
                <a:cxn ang="10800000">
                  <a:pos x="wd2" y="hd2"/>
                </a:cxn>
                <a:cxn ang="16200000">
                  <a:pos x="wd2" y="hd2"/>
                </a:cxn>
              </a:cxnLst>
              <a:rect l="0" t="0" r="r" b="b"/>
              <a:pathLst>
                <a:path w="18230" h="21600" extrusionOk="0">
                  <a:moveTo>
                    <a:pt x="17620" y="0"/>
                  </a:moveTo>
                  <a:lnTo>
                    <a:pt x="340" y="5400"/>
                  </a:lnTo>
                  <a:cubicBezTo>
                    <a:pt x="-1322" y="16200"/>
                    <a:pt x="3330" y="21600"/>
                    <a:pt x="9644" y="21600"/>
                  </a:cubicBezTo>
                  <a:cubicBezTo>
                    <a:pt x="13632" y="10800"/>
                    <a:pt x="20278" y="10800"/>
                    <a:pt x="17620"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6" name="Freeform 76"/>
            <p:cNvSpPr/>
            <p:nvPr/>
          </p:nvSpPr>
          <p:spPr>
            <a:xfrm rot="5400000">
              <a:off x="13879" y="5505422"/>
              <a:ext cx="14627"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cubicBezTo>
                    <a:pt x="9504" y="9257"/>
                    <a:pt x="8640" y="6171"/>
                    <a:pt x="1728" y="0"/>
                  </a:cubicBezTo>
                  <a:lnTo>
                    <a:pt x="0" y="21600"/>
                  </a:lnTo>
                  <a:lnTo>
                    <a:pt x="21600" y="12343"/>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7" name="Freeform 77"/>
            <p:cNvSpPr/>
            <p:nvPr/>
          </p:nvSpPr>
          <p:spPr>
            <a:xfrm rot="5400000">
              <a:off x="60" y="5419140"/>
              <a:ext cx="33650" cy="12701"/>
            </a:xfrm>
            <a:custGeom>
              <a:avLst/>
              <a:gdLst/>
              <a:ahLst/>
              <a:cxnLst>
                <a:cxn ang="0">
                  <a:pos x="wd2" y="hd2"/>
                </a:cxn>
                <a:cxn ang="5400000">
                  <a:pos x="wd2" y="hd2"/>
                </a:cxn>
                <a:cxn ang="10800000">
                  <a:pos x="wd2" y="hd2"/>
                </a:cxn>
                <a:cxn ang="16200000">
                  <a:pos x="wd2" y="hd2"/>
                </a:cxn>
              </a:cxnLst>
              <a:rect l="0" t="0" r="r" b="b"/>
              <a:pathLst>
                <a:path w="10073" h="21600" extrusionOk="0">
                  <a:moveTo>
                    <a:pt x="6528" y="0"/>
                  </a:moveTo>
                  <a:cubicBezTo>
                    <a:pt x="5650" y="5400"/>
                    <a:pt x="-6643" y="21600"/>
                    <a:pt x="4947" y="21600"/>
                  </a:cubicBezTo>
                  <a:cubicBezTo>
                    <a:pt x="5825" y="10800"/>
                    <a:pt x="14957" y="5400"/>
                    <a:pt x="6528" y="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8" name="Freeform 78"/>
            <p:cNvSpPr/>
            <p:nvPr/>
          </p:nvSpPr>
          <p:spPr>
            <a:xfrm rot="5400000">
              <a:off x="24690" y="497204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9938" y="0"/>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89" name="Freeform 79"/>
            <p:cNvSpPr/>
            <p:nvPr/>
          </p:nvSpPr>
          <p:spPr>
            <a:xfrm rot="5400000">
              <a:off x="-13390" y="4586204"/>
              <a:ext cx="46017" cy="12701"/>
            </a:xfrm>
            <a:custGeom>
              <a:avLst/>
              <a:gdLst/>
              <a:ahLst/>
              <a:cxnLst>
                <a:cxn ang="0">
                  <a:pos x="wd2" y="hd2"/>
                </a:cxn>
                <a:cxn ang="5400000">
                  <a:pos x="wd2" y="hd2"/>
                </a:cxn>
                <a:cxn ang="10800000">
                  <a:pos x="wd2" y="hd2"/>
                </a:cxn>
                <a:cxn ang="16200000">
                  <a:pos x="wd2" y="hd2"/>
                </a:cxn>
              </a:cxnLst>
              <a:rect l="0" t="0" r="r" b="b"/>
              <a:pathLst>
                <a:path w="16710" h="17913" extrusionOk="0">
                  <a:moveTo>
                    <a:pt x="1221" y="17280"/>
                  </a:moveTo>
                  <a:cubicBezTo>
                    <a:pt x="14480" y="21600"/>
                    <a:pt x="4429" y="2160"/>
                    <a:pt x="16191" y="8640"/>
                  </a:cubicBezTo>
                  <a:cubicBezTo>
                    <a:pt x="19399" y="4320"/>
                    <a:pt x="6567" y="4320"/>
                    <a:pt x="9775" y="0"/>
                  </a:cubicBezTo>
                  <a:cubicBezTo>
                    <a:pt x="1862" y="4320"/>
                    <a:pt x="-2201" y="2160"/>
                    <a:pt x="1221" y="1728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90" name="Freeform 80"/>
            <p:cNvSpPr/>
            <p:nvPr/>
          </p:nvSpPr>
          <p:spPr>
            <a:xfrm rot="5400000">
              <a:off x="8072" y="4595651"/>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cubicBezTo>
                    <a:pt x="9095" y="10800"/>
                    <a:pt x="3411" y="10800"/>
                    <a:pt x="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91" name="Freeform 81"/>
            <p:cNvSpPr/>
            <p:nvPr/>
          </p:nvSpPr>
          <p:spPr>
            <a:xfrm rot="5400000">
              <a:off x="51343" y="45330"/>
              <a:ext cx="23403"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lnTo>
                    <a:pt x="0" y="0"/>
                  </a:lnTo>
                  <a:lnTo>
                    <a:pt x="13846" y="21600"/>
                  </a:lnTo>
                  <a:lnTo>
                    <a:pt x="21600" y="108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92" name="Freeform 82"/>
            <p:cNvSpPr/>
            <p:nvPr/>
          </p:nvSpPr>
          <p:spPr>
            <a:xfrm rot="5400000">
              <a:off x="50703" y="2913"/>
              <a:ext cx="18528" cy="127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5525" y="0"/>
                  </a:lnTo>
                  <a:lnTo>
                    <a:pt x="0" y="18000"/>
                  </a:lnTo>
                  <a:cubicBezTo>
                    <a:pt x="5400" y="18000"/>
                    <a:pt x="17550" y="18000"/>
                    <a:pt x="21600" y="2160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93" name="Freeform 83"/>
            <p:cNvSpPr/>
            <p:nvPr/>
          </p:nvSpPr>
          <p:spPr>
            <a:xfrm rot="5400000">
              <a:off x="-3817" y="3153473"/>
              <a:ext cx="20478" cy="12701"/>
            </a:xfrm>
            <a:custGeom>
              <a:avLst/>
              <a:gdLst/>
              <a:ahLst/>
              <a:cxnLst>
                <a:cxn ang="0">
                  <a:pos x="wd2" y="hd2"/>
                </a:cxn>
                <a:cxn ang="5400000">
                  <a:pos x="wd2" y="hd2"/>
                </a:cxn>
                <a:cxn ang="10800000">
                  <a:pos x="wd2" y="hd2"/>
                </a:cxn>
                <a:cxn ang="16200000">
                  <a:pos x="wd2" y="hd2"/>
                </a:cxn>
              </a:cxnLst>
              <a:rect l="0" t="0" r="r" b="b"/>
              <a:pathLst>
                <a:path w="21600" h="21600" extrusionOk="0">
                  <a:moveTo>
                    <a:pt x="19694" y="21600"/>
                  </a:moveTo>
                  <a:lnTo>
                    <a:pt x="21600" y="10800"/>
                  </a:lnTo>
                  <a:cubicBezTo>
                    <a:pt x="17788" y="5400"/>
                    <a:pt x="11435" y="5400"/>
                    <a:pt x="0" y="0"/>
                  </a:cubicBezTo>
                  <a:lnTo>
                    <a:pt x="19694"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94" name="Freeform 84"/>
            <p:cNvSpPr/>
            <p:nvPr/>
          </p:nvSpPr>
          <p:spPr>
            <a:xfrm rot="5400000">
              <a:off x="6841" y="2848753"/>
              <a:ext cx="12701" cy="12701"/>
            </a:xfrm>
            <a:custGeom>
              <a:avLst/>
              <a:gdLst/>
              <a:ahLst/>
              <a:cxnLst>
                <a:cxn ang="0">
                  <a:pos x="wd2" y="hd2"/>
                </a:cxn>
                <a:cxn ang="5400000">
                  <a:pos x="wd2" y="hd2"/>
                </a:cxn>
                <a:cxn ang="10800000">
                  <a:pos x="wd2" y="hd2"/>
                </a:cxn>
                <a:cxn ang="16200000">
                  <a:pos x="wd2" y="hd2"/>
                </a:cxn>
              </a:cxnLst>
              <a:rect l="0" t="0" r="r" b="b"/>
              <a:pathLst>
                <a:path w="21600" h="21600" extrusionOk="0">
                  <a:moveTo>
                    <a:pt x="10165" y="21600"/>
                  </a:moveTo>
                  <a:lnTo>
                    <a:pt x="21600" y="21600"/>
                  </a:lnTo>
                  <a:lnTo>
                    <a:pt x="0" y="0"/>
                  </a:lnTo>
                  <a:lnTo>
                    <a:pt x="10165" y="21600"/>
                  </a:ln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495" name="Freeform 85"/>
            <p:cNvSpPr/>
            <p:nvPr/>
          </p:nvSpPr>
          <p:spPr>
            <a:xfrm rot="5400000">
              <a:off x="-10906" y="2603323"/>
              <a:ext cx="34512" cy="12701"/>
            </a:xfrm>
            <a:custGeom>
              <a:avLst/>
              <a:gdLst/>
              <a:ahLst/>
              <a:cxnLst>
                <a:cxn ang="0">
                  <a:pos x="wd2" y="hd2"/>
                </a:cxn>
                <a:cxn ang="5400000">
                  <a:pos x="wd2" y="hd2"/>
                </a:cxn>
                <a:cxn ang="10800000">
                  <a:pos x="wd2" y="hd2"/>
                </a:cxn>
                <a:cxn ang="16200000">
                  <a:pos x="wd2" y="hd2"/>
                </a:cxn>
              </a:cxnLst>
              <a:rect l="0" t="0" r="r" b="b"/>
              <a:pathLst>
                <a:path w="20118" h="8611" extrusionOk="0">
                  <a:moveTo>
                    <a:pt x="232" y="7831"/>
                  </a:moveTo>
                  <a:cubicBezTo>
                    <a:pt x="6404" y="10531"/>
                    <a:pt x="13947" y="5131"/>
                    <a:pt x="20118" y="7831"/>
                  </a:cubicBezTo>
                  <a:cubicBezTo>
                    <a:pt x="6404" y="10531"/>
                    <a:pt x="-1482" y="-11069"/>
                    <a:pt x="232" y="7831"/>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grpSp>
      <p:sp>
        <p:nvSpPr>
          <p:cNvPr id="1497" name="Title Text"/>
          <p:cNvSpPr txBox="1">
            <a:spLocks noGrp="1"/>
          </p:cNvSpPr>
          <p:nvPr>
            <p:ph type="title"/>
          </p:nvPr>
        </p:nvSpPr>
        <p:spPr>
          <a:xfrm>
            <a:off x="10361611" y="274639"/>
            <a:ext cx="1371601" cy="5901748"/>
          </a:xfrm>
          <a:prstGeom prst="rect">
            <a:avLst/>
          </a:prstGeom>
        </p:spPr>
        <p:txBody>
          <a:bodyPr/>
          <a:lstStyle/>
          <a:p>
            <a:r>
              <a:t>Title Text</a:t>
            </a:r>
          </a:p>
        </p:txBody>
      </p:sp>
      <p:sp>
        <p:nvSpPr>
          <p:cNvPr id="1498" name="Body Level One…"/>
          <p:cNvSpPr txBox="1">
            <a:spLocks noGrp="1"/>
          </p:cNvSpPr>
          <p:nvPr>
            <p:ph type="body" idx="1"/>
          </p:nvPr>
        </p:nvSpPr>
        <p:spPr>
          <a:xfrm>
            <a:off x="608012" y="277813"/>
            <a:ext cx="9144001" cy="589857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grpSp>
        <p:nvGrpSpPr>
          <p:cNvPr id="255" name="line"/>
          <p:cNvGrpSpPr/>
          <p:nvPr/>
        </p:nvGrpSpPr>
        <p:grpSpPr bwMode="invGray">
          <a:xfrm>
            <a:off x="1583657" y="4724400"/>
            <a:ext cx="8625191"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799"/>
            </a:p>
          </p:txBody>
        </p:sp>
      </p:grpSp>
      <p:sp>
        <p:nvSpPr>
          <p:cNvPr id="2" name="Title 1"/>
          <p:cNvSpPr>
            <a:spLocks noGrp="1"/>
          </p:cNvSpPr>
          <p:nvPr>
            <p:ph type="title"/>
          </p:nvPr>
        </p:nvSpPr>
        <p:spPr>
          <a:xfrm>
            <a:off x="1521223" y="1905000"/>
            <a:ext cx="9136854" cy="2667000"/>
          </a:xfrm>
        </p:spPr>
        <p:txBody>
          <a:bodyPr anchor="b">
            <a:noAutofit/>
          </a:bodyPr>
          <a:lstStyle>
            <a:lvl1pPr algn="l">
              <a:defRPr sz="4396" b="0" cap="none" baseline="0"/>
            </a:lvl1pPr>
          </a:lstStyle>
          <a:p>
            <a:r>
              <a:rPr lang="en-US"/>
              <a:t>Click to edit Master title style</a:t>
            </a:r>
            <a:endParaRPr/>
          </a:p>
        </p:txBody>
      </p:sp>
      <p:sp>
        <p:nvSpPr>
          <p:cNvPr id="3" name="Text Placeholder 2"/>
          <p:cNvSpPr>
            <a:spLocks noGrp="1"/>
          </p:cNvSpPr>
          <p:nvPr>
            <p:ph type="body" idx="1"/>
          </p:nvPr>
        </p:nvSpPr>
        <p:spPr>
          <a:xfrm>
            <a:off x="1521224" y="5102526"/>
            <a:ext cx="9136853" cy="1069675"/>
          </a:xfrm>
        </p:spPr>
        <p:txBody>
          <a:bodyPr anchor="t">
            <a:normAutofit/>
          </a:bodyPr>
          <a:lstStyle>
            <a:lvl1pPr marL="0" indent="0">
              <a:spcBef>
                <a:spcPts val="0"/>
              </a:spcBef>
              <a:buNone/>
              <a:defRPr sz="2398">
                <a:solidFill>
                  <a:schemeClr val="tx1">
                    <a:tint val="75000"/>
                  </a:schemeClr>
                </a:solidFill>
              </a:defRPr>
            </a:lvl1pPr>
            <a:lvl2pPr marL="456834" indent="0">
              <a:buNone/>
              <a:defRPr sz="1799">
                <a:solidFill>
                  <a:schemeClr val="tx1">
                    <a:tint val="75000"/>
                  </a:schemeClr>
                </a:solidFill>
              </a:defRPr>
            </a:lvl2pPr>
            <a:lvl3pPr marL="913668" indent="0">
              <a:buNone/>
              <a:defRPr sz="1599">
                <a:solidFill>
                  <a:schemeClr val="tx1">
                    <a:tint val="75000"/>
                  </a:schemeClr>
                </a:solidFill>
              </a:defRPr>
            </a:lvl3pPr>
            <a:lvl4pPr marL="1370503" indent="0">
              <a:buNone/>
              <a:defRPr sz="1399">
                <a:solidFill>
                  <a:schemeClr val="tx1">
                    <a:tint val="75000"/>
                  </a:schemeClr>
                </a:solidFill>
              </a:defRPr>
            </a:lvl4pPr>
            <a:lvl5pPr marL="1827337" indent="0">
              <a:buNone/>
              <a:defRPr sz="1399">
                <a:solidFill>
                  <a:schemeClr val="tx1">
                    <a:tint val="75000"/>
                  </a:schemeClr>
                </a:solidFill>
              </a:defRPr>
            </a:lvl5pPr>
            <a:lvl6pPr marL="2284171" indent="0">
              <a:buNone/>
              <a:defRPr sz="1399">
                <a:solidFill>
                  <a:schemeClr val="tx1">
                    <a:tint val="75000"/>
                  </a:schemeClr>
                </a:solidFill>
              </a:defRPr>
            </a:lvl6pPr>
            <a:lvl7pPr marL="2741005" indent="0">
              <a:buNone/>
              <a:defRPr sz="1399">
                <a:solidFill>
                  <a:schemeClr val="tx1">
                    <a:tint val="75000"/>
                  </a:schemeClr>
                </a:solidFill>
              </a:defRPr>
            </a:lvl7pPr>
            <a:lvl8pPr marL="3197840" indent="0">
              <a:buNone/>
              <a:defRPr sz="1399">
                <a:solidFill>
                  <a:schemeClr val="tx1">
                    <a:tint val="75000"/>
                  </a:schemeClr>
                </a:solidFill>
              </a:defRPr>
            </a:lvl8pPr>
            <a:lvl9pPr marL="3654674" indent="0">
              <a:buNone/>
              <a:defRPr sz="139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a:xfrm>
            <a:off x="10416990" y="6415804"/>
            <a:ext cx="249425" cy="246221"/>
          </a:xfrm>
        </p:spPr>
        <p:txBody>
          <a:bodyPr/>
          <a:lstStyle/>
          <a:p>
            <a:fld id="{25BA54BD-C84D-46CE-8B72-31BFB26ABA43}" type="slidenum">
              <a:rPr/>
              <a:t>‹#›</a:t>
            </a:fld>
            <a:endParaRPr/>
          </a:p>
        </p:txBody>
      </p:sp>
    </p:spTree>
    <p:extLst>
      <p:ext uri="{BB962C8B-B14F-4D97-AF65-F5344CB8AC3E}">
        <p14:creationId xmlns:p14="http://schemas.microsoft.com/office/powerpoint/2010/main" val="20148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3673" y="1435101"/>
            <a:ext cx="6191144" cy="46910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24550" y="1435101"/>
            <a:ext cx="395613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a:xfrm>
            <a:off x="10416990" y="6415804"/>
            <a:ext cx="249425" cy="246221"/>
          </a:xfrm>
        </p:spPr>
        <p:txBody>
          <a:bodyPr/>
          <a:lstStyle>
            <a:lvl1pPr>
              <a:defRPr/>
            </a:lvl1pPr>
          </a:lstStyle>
          <a:p>
            <a:fld id="{24AC7847-0879-4637-8A3C-056895BD621A}" type="slidenum">
              <a:rPr lang="en-US"/>
              <a:pPr/>
              <a:t>‹#›</a:t>
            </a:fld>
            <a:endParaRPr lang="en-US"/>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7223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Full bleed color area Dynamic Petrol">
    <p:bg>
      <p:bgRef idx="1001">
        <a:schemeClr val="bg1"/>
      </p:bgRef>
    </p:bg>
    <p:spTree>
      <p:nvGrpSpPr>
        <p:cNvPr id="1" name=""/>
        <p:cNvGrpSpPr/>
        <p:nvPr/>
      </p:nvGrpSpPr>
      <p:grpSpPr>
        <a:xfrm>
          <a:off x="0" y="0"/>
          <a:ext cx="0" cy="0"/>
          <a:chOff x="0" y="0"/>
          <a:chExt cx="0" cy="0"/>
        </a:xfrm>
      </p:grpSpPr>
      <p:grpSp>
        <p:nvGrpSpPr>
          <p:cNvPr id="7" name="Gruppieren 6"/>
          <p:cNvGrpSpPr/>
          <p:nvPr userDrawn="1"/>
        </p:nvGrpSpPr>
        <p:grpSpPr>
          <a:xfrm>
            <a:off x="0" y="2"/>
            <a:ext cx="12179300" cy="6861907"/>
            <a:chOff x="0" y="0"/>
            <a:chExt cx="12198350" cy="6861907"/>
          </a:xfrm>
        </p:grpSpPr>
        <p:sp>
          <p:nvSpPr>
            <p:cNvPr id="4" name="Rechteck 3"/>
            <p:cNvSpPr/>
            <p:nvPr userDrawn="1"/>
          </p:nvSpPr>
          <p:spPr bwMode="auto">
            <a:xfrm>
              <a:off x="0" y="0"/>
              <a:ext cx="12198350" cy="6861907"/>
            </a:xfrm>
            <a:prstGeom prst="rect">
              <a:avLst/>
            </a:prstGeom>
            <a:solidFill>
              <a:schemeClr val="bg1"/>
            </a:solidFill>
            <a:ln>
              <a:noFill/>
            </a:ln>
            <a:effectLst/>
          </p:spPr>
          <p:txBody>
            <a:bodyPr wrap="square" lIns="108000" tIns="54000" rIns="108000" bIns="54000" numCol="1" spcCol="72000" rtlCol="0" anchor="ctr">
              <a:noAutofit/>
            </a:bodyPr>
            <a:lstStyle/>
            <a:p>
              <a:pPr algn="ctr" eaLnBrk="1">
                <a:lnSpc>
                  <a:spcPct val="110000"/>
                </a:lnSpc>
                <a:spcBef>
                  <a:spcPct val="0"/>
                </a:spcBef>
                <a:buFont typeface="Wingdings" charset="0"/>
                <a:buNone/>
              </a:pPr>
              <a:endParaRPr lang="en-US" sz="1797">
                <a:solidFill>
                  <a:schemeClr val="tx1"/>
                </a:solidFill>
                <a:latin typeface="+mn-lt"/>
                <a:ea typeface="Arial Unicode MS" panose="020B0604020202020204" pitchFamily="34" charset="-128"/>
                <a:cs typeface="Arial Unicode MS" panose="020B0604020202020204" pitchFamily="34" charset="-128"/>
              </a:endParaRPr>
            </a:p>
          </p:txBody>
        </p:sp>
        <p:sp>
          <p:nvSpPr>
            <p:cNvPr id="6" name="Rechteck 5"/>
            <p:cNvSpPr/>
            <p:nvPr userDrawn="1"/>
          </p:nvSpPr>
          <p:spPr bwMode="auto">
            <a:xfrm>
              <a:off x="0" y="0"/>
              <a:ext cx="12198350" cy="6861907"/>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a:noFill/>
            </a:ln>
            <a:effectLst/>
          </p:spPr>
          <p:txBody>
            <a:bodyPr wrap="square" lIns="108000" tIns="54000" rIns="108000" bIns="54000" numCol="1" spcCol="72000" rtlCol="0" anchor="ctr">
              <a:noAutofit/>
            </a:bodyPr>
            <a:lstStyle/>
            <a:p>
              <a:pPr algn="ctr" eaLnBrk="1">
                <a:lnSpc>
                  <a:spcPct val="110000"/>
                </a:lnSpc>
                <a:spcBef>
                  <a:spcPct val="0"/>
                </a:spcBef>
                <a:buFont typeface="Wingdings" charset="0"/>
                <a:buNone/>
              </a:pPr>
              <a:endParaRPr lang="en-US" sz="1797">
                <a:solidFill>
                  <a:schemeClr val="tx1"/>
                </a:solidFill>
                <a:latin typeface="+mn-lt"/>
                <a:ea typeface="Arial Unicode MS" panose="020B0604020202020204" pitchFamily="34" charset="-128"/>
                <a:cs typeface="Arial Unicode MS" panose="020B0604020202020204" pitchFamily="34" charset="-128"/>
              </a:endParaRPr>
            </a:p>
          </p:txBody>
        </p:sp>
      </p:grpSp>
      <p:sp>
        <p:nvSpPr>
          <p:cNvPr id="2" name="Titel 1"/>
          <p:cNvSpPr>
            <a:spLocks noGrp="1"/>
          </p:cNvSpPr>
          <p:nvPr>
            <p:ph type="title"/>
          </p:nvPr>
        </p:nvSpPr>
        <p:spPr/>
        <p:txBody>
          <a:bodyPr/>
          <a:lstStyle>
            <a:lvl1pPr>
              <a:defRPr>
                <a:solidFill>
                  <a:schemeClr val="bg1"/>
                </a:solidFill>
              </a:defRPr>
            </a:lvl1pPr>
          </a:lstStyle>
          <a:p>
            <a:r>
              <a:rPr lang="en-US"/>
              <a:t>Titelmasterformat durch Klicken bearbeiten</a:t>
            </a:r>
          </a:p>
        </p:txBody>
      </p:sp>
    </p:spTree>
    <p:extLst>
      <p:ext uri="{BB962C8B-B14F-4D97-AF65-F5344CB8AC3E}">
        <p14:creationId xmlns:p14="http://schemas.microsoft.com/office/powerpoint/2010/main" val="133539887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F119D-F36E-9540-AB00-297483187DF2}"/>
              </a:ext>
            </a:extLst>
          </p:cNvPr>
          <p:cNvSpPr>
            <a:spLocks noGrp="1"/>
          </p:cNvSpPr>
          <p:nvPr>
            <p:ph type="ctrTitle"/>
          </p:nvPr>
        </p:nvSpPr>
        <p:spPr>
          <a:xfrm>
            <a:off x="1522413" y="1122363"/>
            <a:ext cx="9134475" cy="2387600"/>
          </a:xfrm>
        </p:spPr>
        <p:txBody>
          <a:bodyPr anchor="b"/>
          <a:lstStyle>
            <a:lvl1pPr algn="ctr">
              <a:defRPr sz="5994"/>
            </a:lvl1pPr>
          </a:lstStyle>
          <a:p>
            <a:r>
              <a:rPr lang="en-US"/>
              <a:t>Click to edit Master title style</a:t>
            </a:r>
          </a:p>
        </p:txBody>
      </p:sp>
      <p:sp>
        <p:nvSpPr>
          <p:cNvPr id="3" name="Subtitle 2">
            <a:extLst>
              <a:ext uri="{FF2B5EF4-FFF2-40B4-BE49-F238E27FC236}">
                <a16:creationId xmlns:a16="http://schemas.microsoft.com/office/drawing/2014/main" id="{9BCDABE2-C558-FC4F-8DD2-5952A47BE959}"/>
              </a:ext>
            </a:extLst>
          </p:cNvPr>
          <p:cNvSpPr>
            <a:spLocks noGrp="1"/>
          </p:cNvSpPr>
          <p:nvPr>
            <p:ph type="subTitle" idx="1"/>
          </p:nvPr>
        </p:nvSpPr>
        <p:spPr>
          <a:xfrm>
            <a:off x="1522413" y="3602038"/>
            <a:ext cx="9134475" cy="1655762"/>
          </a:xfrm>
        </p:spPr>
        <p:txBody>
          <a:bodyPr/>
          <a:lstStyle>
            <a:lvl1pPr marL="0" indent="0" algn="ctr">
              <a:buNone/>
              <a:defRPr sz="2398"/>
            </a:lvl1pPr>
            <a:lvl2pPr marL="456743" indent="0" algn="ctr">
              <a:buNone/>
              <a:defRPr sz="1998"/>
            </a:lvl2pPr>
            <a:lvl3pPr marL="913486" indent="0" algn="ctr">
              <a:buNone/>
              <a:defRPr sz="1798"/>
            </a:lvl3pPr>
            <a:lvl4pPr marL="1370228" indent="0" algn="ctr">
              <a:buNone/>
              <a:defRPr sz="1598"/>
            </a:lvl4pPr>
            <a:lvl5pPr marL="1826971" indent="0" algn="ctr">
              <a:buNone/>
              <a:defRPr sz="1598"/>
            </a:lvl5pPr>
            <a:lvl6pPr marL="2283714" indent="0" algn="ctr">
              <a:buNone/>
              <a:defRPr sz="1598"/>
            </a:lvl6pPr>
            <a:lvl7pPr marL="2740457" indent="0" algn="ctr">
              <a:buNone/>
              <a:defRPr sz="1598"/>
            </a:lvl7pPr>
            <a:lvl8pPr marL="3197200" indent="0" algn="ctr">
              <a:buNone/>
              <a:defRPr sz="1598"/>
            </a:lvl8pPr>
            <a:lvl9pPr marL="3653942" indent="0" algn="ctr">
              <a:buNone/>
              <a:defRPr sz="1598"/>
            </a:lvl9pPr>
          </a:lstStyle>
          <a:p>
            <a:r>
              <a:rPr lang="en-US"/>
              <a:t>Click to edit Master subtitle style</a:t>
            </a:r>
          </a:p>
        </p:txBody>
      </p:sp>
      <p:sp>
        <p:nvSpPr>
          <p:cNvPr id="4" name="Date Placeholder 3">
            <a:extLst>
              <a:ext uri="{FF2B5EF4-FFF2-40B4-BE49-F238E27FC236}">
                <a16:creationId xmlns:a16="http://schemas.microsoft.com/office/drawing/2014/main" id="{79954DB9-70F8-C249-928F-5B5BF2AE9F1D}"/>
              </a:ext>
            </a:extLst>
          </p:cNvPr>
          <p:cNvSpPr>
            <a:spLocks noGrp="1"/>
          </p:cNvSpPr>
          <p:nvPr>
            <p:ph type="dt" sz="half" idx="10"/>
          </p:nvPr>
        </p:nvSpPr>
        <p:spPr/>
        <p:txBody>
          <a:bodyPr/>
          <a:lstStyle/>
          <a:p>
            <a:fld id="{F19AF8E4-3CFA-C94A-9770-49BCD4DFADB6}" type="datetime1">
              <a:rPr lang="en-US" smtClean="0"/>
              <a:t>9/25/26</a:t>
            </a:fld>
            <a:endParaRPr lang="en-US"/>
          </a:p>
        </p:txBody>
      </p:sp>
      <p:sp>
        <p:nvSpPr>
          <p:cNvPr id="5" name="Footer Placeholder 4">
            <a:extLst>
              <a:ext uri="{FF2B5EF4-FFF2-40B4-BE49-F238E27FC236}">
                <a16:creationId xmlns:a16="http://schemas.microsoft.com/office/drawing/2014/main" id="{D020B6B8-9939-CD41-B11B-BDF66861527A}"/>
              </a:ext>
            </a:extLst>
          </p:cNvPr>
          <p:cNvSpPr>
            <a:spLocks noGrp="1"/>
          </p:cNvSpPr>
          <p:nvPr>
            <p:ph type="ftr" sz="quarter" idx="11"/>
          </p:nvPr>
        </p:nvSpPr>
        <p:spPr/>
        <p:txBody>
          <a:bodyPr/>
          <a:lstStyle/>
          <a:p>
            <a:r>
              <a:rPr lang="en-US"/>
              <a:t>Jagannath Rao, Dec 18th, Bangalore</a:t>
            </a:r>
          </a:p>
        </p:txBody>
      </p:sp>
      <p:sp>
        <p:nvSpPr>
          <p:cNvPr id="6" name="Slide Number Placeholder 5">
            <a:extLst>
              <a:ext uri="{FF2B5EF4-FFF2-40B4-BE49-F238E27FC236}">
                <a16:creationId xmlns:a16="http://schemas.microsoft.com/office/drawing/2014/main" id="{BE3FCD5E-65F9-654A-9382-4B6F849D73A8}"/>
              </a:ext>
            </a:extLst>
          </p:cNvPr>
          <p:cNvSpPr>
            <a:spLocks noGrp="1"/>
          </p:cNvSpPr>
          <p:nvPr>
            <p:ph type="sldNum" sz="quarter" idx="12"/>
          </p:nvPr>
        </p:nvSpPr>
        <p:spPr>
          <a:xfrm>
            <a:off x="10416990" y="6415804"/>
            <a:ext cx="249425" cy="246221"/>
          </a:xfrm>
        </p:spPr>
        <p:txBody>
          <a:bodyPr/>
          <a:lstStyle/>
          <a:p>
            <a:fld id="{CA963B08-A8F2-4244-8E3A-4221D0DA7EFB}" type="slidenum">
              <a:rPr lang="en-US" smtClean="0"/>
              <a:t>‹#›</a:t>
            </a:fld>
            <a:endParaRPr lang="en-US"/>
          </a:p>
        </p:txBody>
      </p:sp>
    </p:spTree>
    <p:extLst>
      <p:ext uri="{BB962C8B-B14F-4D97-AF65-F5344CB8AC3E}">
        <p14:creationId xmlns:p14="http://schemas.microsoft.com/office/powerpoint/2010/main" val="3291513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8965" y="0"/>
            <a:ext cx="10961370" cy="141763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chor="b">
            <a:normAutofit/>
          </a:bodyPr>
          <a:lstStyle/>
          <a:p>
            <a:r>
              <a:t>Title Text</a:t>
            </a:r>
          </a:p>
        </p:txBody>
      </p:sp>
      <p:sp>
        <p:nvSpPr>
          <p:cNvPr id="3" name="Body Level One…"/>
          <p:cNvSpPr txBox="1">
            <a:spLocks noGrp="1"/>
          </p:cNvSpPr>
          <p:nvPr>
            <p:ph type="body" idx="1"/>
          </p:nvPr>
        </p:nvSpPr>
        <p:spPr>
          <a:xfrm>
            <a:off x="608965" y="1600200"/>
            <a:ext cx="10961370" cy="52578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0435274" y="6423344"/>
            <a:ext cx="231141" cy="231141"/>
          </a:xfrm>
          <a:prstGeom prst="rect">
            <a:avLst/>
          </a:prstGeom>
          <a:ln w="12700">
            <a:miter lim="400000"/>
          </a:ln>
        </p:spPr>
        <p:txBody>
          <a:bodyPr wrap="none" lIns="45719" rIns="45719" anchor="ctr">
            <a:spAutoFit/>
          </a:bodyPr>
          <a:lstStyle>
            <a:lvl1pPr algn="r">
              <a:defRPr sz="10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4" r:id="rId1"/>
    <p:sldLayoutId id="2147483666" r:id="rId2"/>
    <p:sldLayoutId id="2147483656" r:id="rId3"/>
    <p:sldLayoutId id="2147483657" r:id="rId4"/>
    <p:sldLayoutId id="2147483658" r:id="rId5"/>
    <p:sldLayoutId id="2147483659" r:id="rId6"/>
    <p:sldLayoutId id="2147483664" r:id="rId7"/>
    <p:sldLayoutId id="2147483667" r:id="rId8"/>
    <p:sldLayoutId id="2147483668" r:id="rId9"/>
    <p:sldLayoutId id="2147483669" r:id="rId10"/>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1pPr>
      <a:lvl2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2pPr>
      <a:lvl3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3pPr>
      <a:lvl4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4pPr>
      <a:lvl5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5pPr>
      <a:lvl6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6pPr>
      <a:lvl7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7pPr>
      <a:lvl8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8pPr>
      <a:lvl9pPr marL="0" marR="0" indent="0" algn="l" defTabSz="914400" rtl="0" latinLnBrk="0">
        <a:lnSpc>
          <a:spcPct val="90000"/>
        </a:lnSpc>
        <a:spcBef>
          <a:spcPts val="0"/>
        </a:spcBef>
        <a:spcAft>
          <a:spcPts val="0"/>
        </a:spcAft>
        <a:buClrTx/>
        <a:buSzTx/>
        <a:buFontTx/>
        <a:buNone/>
        <a:tabLst/>
        <a:defRPr sz="3200" b="0" i="0" u="none" strike="noStrike" cap="none" spc="0" baseline="0">
          <a:ln>
            <a:noFill/>
          </a:ln>
          <a:solidFill>
            <a:srgbClr val="000000"/>
          </a:solidFill>
          <a:uFillTx/>
          <a:latin typeface="Consolas"/>
          <a:ea typeface="Consolas"/>
          <a:cs typeface="Consolas"/>
          <a:sym typeface="Consolas"/>
        </a:defRPr>
      </a:lvl9pPr>
    </p:titleStyle>
    <p:body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1pPr>
      <a:lvl2pPr marL="0" marR="0" indent="4572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2pPr>
      <a:lvl3pPr marL="0" marR="0" indent="9144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3pPr>
      <a:lvl4pPr marL="0" marR="0" indent="13716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4pPr>
      <a:lvl5pPr marL="0" marR="0" indent="18288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5pPr>
      <a:lvl6pPr marL="0" marR="0" indent="22860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6pPr>
      <a:lvl7pPr marL="0" marR="0" indent="27432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7pPr>
      <a:lvl8pPr marL="0" marR="0" indent="32004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8pPr>
      <a:lvl9pPr marL="0" marR="0" indent="3657600" algn="r" defTabSz="914400"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Corbe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openai/gym/blob/master/gym/envs/toy_text/blackjack.py"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gym.openai.com/envs/MountainCar-v0/"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stable-baselines3.readthedocs.io/en/master/"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hyperlink" Target="https://stable-baselines3.readthedocs.io/en/master/guide/quickstart.html#getting-started" TargetMode="External"/><Relationship Id="rId5" Type="http://schemas.openxmlformats.org/officeDocument/2006/relationships/hyperlink" Target="https://stable-baselines3.readthedocs.io/en/master/guide/custom_policy.html" TargetMode="External"/><Relationship Id="rId4" Type="http://schemas.openxmlformats.org/officeDocument/2006/relationships/hyperlink" Target="https://stable-baselines3.readthedocs.io/en/master/modules/ppo.html" TargetMode="Externa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hyperlink" Target="https://www.youtube.com/watch?v=AoGRjPt-vms" TargetMode="External"/><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https://gymnasium.farama.org/environments/classic_control/mountain_car/" TargetMode="External"/><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188" y="1878904"/>
            <a:ext cx="8986168" cy="2445744"/>
          </a:xfrm>
        </p:spPr>
        <p:txBody>
          <a:bodyPr>
            <a:normAutofit fontScale="90000"/>
          </a:bodyPr>
          <a:lstStyle/>
          <a:p>
            <a:r>
              <a:rPr lang="en-US" sz="3000" dirty="0"/>
              <a:t>INFO 4000</a:t>
            </a:r>
            <a:br>
              <a:rPr lang="en-US" sz="3000" dirty="0"/>
            </a:br>
            <a:r>
              <a:rPr lang="en-US" sz="3000" dirty="0"/>
              <a:t>Informatics III</a:t>
            </a:r>
            <a:br>
              <a:rPr lang="en-US" sz="3000" dirty="0"/>
            </a:br>
            <a:br>
              <a:rPr lang="en-US" sz="3000" dirty="0"/>
            </a:br>
            <a:r>
              <a:rPr lang="en-US" sz="3000" dirty="0"/>
              <a:t>Data Science Specialization - Advanced</a:t>
            </a:r>
            <a:br>
              <a:rPr lang="en-US" sz="3000" dirty="0"/>
            </a:br>
            <a:r>
              <a:rPr lang="en-US" sz="3000" dirty="0"/>
              <a:t> </a:t>
            </a:r>
            <a:br>
              <a:rPr lang="en-US" sz="3000" dirty="0"/>
            </a:br>
            <a:r>
              <a:rPr lang="en-US" sz="3000" dirty="0"/>
              <a:t>Week6 Reinforcement Learning </a:t>
            </a:r>
            <a:r>
              <a:rPr lang="en-US" sz="3000" dirty="0" err="1"/>
              <a:t>contd</a:t>
            </a:r>
            <a:r>
              <a:rPr lang="en-US" sz="3000" dirty="0"/>
              <a:t>…</a:t>
            </a:r>
          </a:p>
        </p:txBody>
      </p:sp>
      <p:sp>
        <p:nvSpPr>
          <p:cNvPr id="3" name="Subtitle 2"/>
          <p:cNvSpPr>
            <a:spLocks noGrp="1"/>
          </p:cNvSpPr>
          <p:nvPr>
            <p:ph type="subTitle" idx="4294967295"/>
          </p:nvPr>
        </p:nvSpPr>
        <p:spPr>
          <a:xfrm>
            <a:off x="1585189" y="4472005"/>
            <a:ext cx="4953000" cy="1613338"/>
          </a:xfrm>
        </p:spPr>
        <p:txBody>
          <a:bodyPr>
            <a:normAutofit/>
          </a:bodyPr>
          <a:lstStyle/>
          <a:p>
            <a:pPr marL="0" indent="0">
              <a:buNone/>
            </a:pPr>
            <a:r>
              <a:rPr lang="en-US" sz="1900" dirty="0">
                <a:solidFill>
                  <a:schemeClr val="tx1"/>
                </a:solidFill>
              </a:rPr>
              <a:t>Course Instructor</a:t>
            </a:r>
          </a:p>
          <a:p>
            <a:pPr marL="0" indent="0">
              <a:buNone/>
            </a:pPr>
            <a:r>
              <a:rPr lang="en-US" b="1" dirty="0">
                <a:solidFill>
                  <a:schemeClr val="tx1"/>
                </a:solidFill>
              </a:rPr>
              <a:t>Jagannath Rao</a:t>
            </a:r>
          </a:p>
          <a:p>
            <a:pPr marL="0" indent="0">
              <a:buNone/>
            </a:pPr>
            <a:r>
              <a:rPr lang="en-US" sz="1800" dirty="0" err="1">
                <a:solidFill>
                  <a:schemeClr val="tx1"/>
                </a:solidFill>
              </a:rPr>
              <a:t>raoj@uga.edu</a:t>
            </a:r>
            <a:endParaRPr lang="en-US" sz="1800" dirty="0">
              <a:solidFill>
                <a:schemeClr val="tx1"/>
              </a:solidFill>
            </a:endParaRPr>
          </a:p>
          <a:p>
            <a:pPr marL="0" indent="0">
              <a:buNone/>
            </a:pPr>
            <a:endParaRPr lang="en-US" b="1" dirty="0">
              <a:solidFill>
                <a:schemeClr val="tx1"/>
              </a:solidFill>
            </a:endParaRPr>
          </a:p>
        </p:txBody>
      </p:sp>
      <p:sp>
        <p:nvSpPr>
          <p:cNvPr id="11" name="Slide Number Placeholder 10">
            <a:extLst>
              <a:ext uri="{FF2B5EF4-FFF2-40B4-BE49-F238E27FC236}">
                <a16:creationId xmlns:a16="http://schemas.microsoft.com/office/drawing/2014/main" id="{3C44CC2B-461B-444D-8CB0-AD4513B6ADC7}"/>
              </a:ext>
            </a:extLst>
          </p:cNvPr>
          <p:cNvSpPr>
            <a:spLocks noGrp="1"/>
          </p:cNvSpPr>
          <p:nvPr>
            <p:ph type="sldNum" sz="quarter" idx="4294967295"/>
          </p:nvPr>
        </p:nvSpPr>
        <p:spPr>
          <a:xfrm>
            <a:off x="10435274" y="6423344"/>
            <a:ext cx="231141" cy="231141"/>
          </a:xfrm>
        </p:spPr>
        <p:txBody>
          <a:bodyPr/>
          <a:lstStyle/>
          <a:p>
            <a:fld id="{86CB4B4D-7CA3-9044-876B-883B54F8677D}" type="slidenum">
              <a:rPr lang="en-US" smtClean="0"/>
              <a:t>1</a:t>
            </a:fld>
            <a:endParaRPr lang="en-US"/>
          </a:p>
        </p:txBody>
      </p:sp>
    </p:spTree>
    <p:extLst>
      <p:ext uri="{BB962C8B-B14F-4D97-AF65-F5344CB8AC3E}">
        <p14:creationId xmlns:p14="http://schemas.microsoft.com/office/powerpoint/2010/main" val="53465817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US" sz="3600" dirty="0"/>
            </a:br>
            <a:r>
              <a:rPr lang="en-US" sz="3600" dirty="0"/>
              <a:t>Reinforcement learning:</a:t>
            </a:r>
            <a:br>
              <a:rPr lang="en-US" sz="3600" dirty="0"/>
            </a:br>
            <a:r>
              <a:rPr lang="en-US" sz="2800" dirty="0"/>
              <a:t>Discrete spaces and actions</a:t>
            </a:r>
            <a:endParaRPr lang="en-US" sz="3600"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51556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D0A9-4166-165F-5E3B-AEFA0978D785}"/>
              </a:ext>
            </a:extLst>
          </p:cNvPr>
          <p:cNvSpPr>
            <a:spLocks noGrp="1"/>
          </p:cNvSpPr>
          <p:nvPr>
            <p:ph type="title"/>
          </p:nvPr>
        </p:nvSpPr>
        <p:spPr/>
        <p:txBody>
          <a:bodyPr>
            <a:normAutofit/>
          </a:bodyPr>
          <a:lstStyle/>
          <a:p>
            <a:r>
              <a:rPr lang="en-US" dirty="0"/>
              <a:t>Return and Reward in RL</a:t>
            </a:r>
          </a:p>
        </p:txBody>
      </p:sp>
      <p:grpSp>
        <p:nvGrpSpPr>
          <p:cNvPr id="29" name="Group 28">
            <a:extLst>
              <a:ext uri="{FF2B5EF4-FFF2-40B4-BE49-F238E27FC236}">
                <a16:creationId xmlns:a16="http://schemas.microsoft.com/office/drawing/2014/main" id="{52266A6E-9F1A-4206-655B-DB4113185D95}"/>
              </a:ext>
            </a:extLst>
          </p:cNvPr>
          <p:cNvGrpSpPr/>
          <p:nvPr/>
        </p:nvGrpSpPr>
        <p:grpSpPr>
          <a:xfrm>
            <a:off x="868070" y="1584656"/>
            <a:ext cx="10105680" cy="2270001"/>
            <a:chOff x="868070" y="1796688"/>
            <a:chExt cx="10105680" cy="2270001"/>
          </a:xfrm>
        </p:grpSpPr>
        <p:sp>
          <p:nvSpPr>
            <p:cNvPr id="3" name="Rectangle 2">
              <a:extLst>
                <a:ext uri="{FF2B5EF4-FFF2-40B4-BE49-F238E27FC236}">
                  <a16:creationId xmlns:a16="http://schemas.microsoft.com/office/drawing/2014/main" id="{A7475D45-077E-FAE8-5493-D6A24203F798}"/>
                </a:ext>
              </a:extLst>
            </p:cNvPr>
            <p:cNvSpPr/>
            <p:nvPr/>
          </p:nvSpPr>
          <p:spPr>
            <a:xfrm>
              <a:off x="2001078" y="2266122"/>
              <a:ext cx="8665334" cy="1311965"/>
            </a:xfrm>
            <a:prstGeom prst="rect">
              <a:avLst/>
            </a:prstGeom>
            <a:solidFill>
              <a:srgbClr val="FFFFFF"/>
            </a:solidFill>
            <a:ln w="381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rbel"/>
                <a:ea typeface="+mn-ea"/>
                <a:cs typeface="+mn-cs"/>
                <a:sym typeface="Corbel"/>
              </a:endParaRPr>
            </a:p>
          </p:txBody>
        </p:sp>
        <p:cxnSp>
          <p:nvCxnSpPr>
            <p:cNvPr id="5" name="Straight Connector 4">
              <a:extLst>
                <a:ext uri="{FF2B5EF4-FFF2-40B4-BE49-F238E27FC236}">
                  <a16:creationId xmlns:a16="http://schemas.microsoft.com/office/drawing/2014/main" id="{9B78F032-8B32-1038-F8E0-E4807B7D9522}"/>
                </a:ext>
              </a:extLst>
            </p:cNvPr>
            <p:cNvCxnSpPr/>
            <p:nvPr/>
          </p:nvCxnSpPr>
          <p:spPr>
            <a:xfrm>
              <a:off x="3419061" y="2266122"/>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AA2A0C62-BDF5-E8AA-48F9-1941823A1285}"/>
                </a:ext>
              </a:extLst>
            </p:cNvPr>
            <p:cNvCxnSpPr/>
            <p:nvPr/>
          </p:nvCxnSpPr>
          <p:spPr>
            <a:xfrm>
              <a:off x="4830417" y="2266122"/>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C157B944-B032-15D9-389E-A13CECBB8572}"/>
                </a:ext>
              </a:extLst>
            </p:cNvPr>
            <p:cNvCxnSpPr/>
            <p:nvPr/>
          </p:nvCxnSpPr>
          <p:spPr>
            <a:xfrm>
              <a:off x="6301409" y="2266122"/>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8" name="Straight Connector 7">
              <a:extLst>
                <a:ext uri="{FF2B5EF4-FFF2-40B4-BE49-F238E27FC236}">
                  <a16:creationId xmlns:a16="http://schemas.microsoft.com/office/drawing/2014/main" id="{45C84CD2-DDC3-521C-7919-832B7FB1D03D}"/>
                </a:ext>
              </a:extLst>
            </p:cNvPr>
            <p:cNvCxnSpPr/>
            <p:nvPr/>
          </p:nvCxnSpPr>
          <p:spPr>
            <a:xfrm>
              <a:off x="7785652" y="2266122"/>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9" name="Straight Connector 8">
              <a:extLst>
                <a:ext uri="{FF2B5EF4-FFF2-40B4-BE49-F238E27FC236}">
                  <a16:creationId xmlns:a16="http://schemas.microsoft.com/office/drawing/2014/main" id="{D7C758A6-C03D-E54B-1053-FBD15266BD72}"/>
                </a:ext>
              </a:extLst>
            </p:cNvPr>
            <p:cNvCxnSpPr/>
            <p:nvPr/>
          </p:nvCxnSpPr>
          <p:spPr>
            <a:xfrm>
              <a:off x="9322904" y="2266122"/>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1D716E91-F1CD-DFCB-1B71-E2325ADD3C67}"/>
                </a:ext>
              </a:extLst>
            </p:cNvPr>
            <p:cNvSpPr txBox="1"/>
            <p:nvPr/>
          </p:nvSpPr>
          <p:spPr>
            <a:xfrm>
              <a:off x="1299605" y="3697359"/>
              <a:ext cx="936679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States	        1		2	           3		    4	                 5		        6</a:t>
              </a:r>
            </a:p>
          </p:txBody>
        </p:sp>
        <p:sp>
          <p:nvSpPr>
            <p:cNvPr id="11" name="Manual Operation 10">
              <a:extLst>
                <a:ext uri="{FF2B5EF4-FFF2-40B4-BE49-F238E27FC236}">
                  <a16:creationId xmlns:a16="http://schemas.microsoft.com/office/drawing/2014/main" id="{FC526BFB-AD10-2FD9-6E2D-CA93FCA0B919}"/>
                </a:ext>
              </a:extLst>
            </p:cNvPr>
            <p:cNvSpPr/>
            <p:nvPr/>
          </p:nvSpPr>
          <p:spPr>
            <a:xfrm>
              <a:off x="6864628" y="2743200"/>
              <a:ext cx="556590" cy="352705"/>
            </a:xfrm>
            <a:prstGeom prst="flowChartManualOperation">
              <a:avLst/>
            </a:prstGeom>
            <a:solidFill>
              <a:schemeClr val="tx1"/>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orbel"/>
                <a:ea typeface="+mn-ea"/>
                <a:cs typeface="+mn-cs"/>
                <a:sym typeface="Corbel"/>
              </a:endParaRPr>
            </a:p>
          </p:txBody>
        </p:sp>
        <p:pic>
          <p:nvPicPr>
            <p:cNvPr id="12" name="Picture 11">
              <a:extLst>
                <a:ext uri="{FF2B5EF4-FFF2-40B4-BE49-F238E27FC236}">
                  <a16:creationId xmlns:a16="http://schemas.microsoft.com/office/drawing/2014/main" id="{13550A75-9AC2-95DB-CC27-500984261453}"/>
                </a:ext>
              </a:extLst>
            </p:cNvPr>
            <p:cNvPicPr>
              <a:picLocks noChangeAspect="1"/>
            </p:cNvPicPr>
            <p:nvPr/>
          </p:nvPicPr>
          <p:blipFill>
            <a:blip r:embed="rId2"/>
            <a:stretch>
              <a:fillRect/>
            </a:stretch>
          </p:blipFill>
          <p:spPr>
            <a:xfrm>
              <a:off x="2201174" y="2620206"/>
              <a:ext cx="853453" cy="598691"/>
            </a:xfrm>
            <a:prstGeom prst="rect">
              <a:avLst/>
            </a:prstGeom>
          </p:spPr>
        </p:pic>
        <p:pic>
          <p:nvPicPr>
            <p:cNvPr id="13" name="Picture 12">
              <a:extLst>
                <a:ext uri="{FF2B5EF4-FFF2-40B4-BE49-F238E27FC236}">
                  <a16:creationId xmlns:a16="http://schemas.microsoft.com/office/drawing/2014/main" id="{0E7B0FA4-DBDD-8BFC-5A92-727F395422BF}"/>
                </a:ext>
              </a:extLst>
            </p:cNvPr>
            <p:cNvPicPr>
              <a:picLocks noChangeAspect="1"/>
            </p:cNvPicPr>
            <p:nvPr/>
          </p:nvPicPr>
          <p:blipFill>
            <a:blip r:embed="rId3"/>
            <a:stretch>
              <a:fillRect/>
            </a:stretch>
          </p:blipFill>
          <p:spPr>
            <a:xfrm>
              <a:off x="9587635" y="2631937"/>
              <a:ext cx="872644" cy="579640"/>
            </a:xfrm>
            <a:prstGeom prst="rect">
              <a:avLst/>
            </a:prstGeom>
          </p:spPr>
        </p:pic>
        <p:sp>
          <p:nvSpPr>
            <p:cNvPr id="14" name="TextBox 13">
              <a:extLst>
                <a:ext uri="{FF2B5EF4-FFF2-40B4-BE49-F238E27FC236}">
                  <a16:creationId xmlns:a16="http://schemas.microsoft.com/office/drawing/2014/main" id="{70295403-9C7D-9E78-2555-955305A7D574}"/>
                </a:ext>
              </a:extLst>
            </p:cNvPr>
            <p:cNvSpPr txBox="1"/>
            <p:nvPr/>
          </p:nvSpPr>
          <p:spPr>
            <a:xfrm>
              <a:off x="2422072" y="3189744"/>
              <a:ext cx="4337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100</a:t>
              </a:r>
            </a:p>
          </p:txBody>
        </p:sp>
        <p:sp>
          <p:nvSpPr>
            <p:cNvPr id="15" name="TextBox 14">
              <a:extLst>
                <a:ext uri="{FF2B5EF4-FFF2-40B4-BE49-F238E27FC236}">
                  <a16:creationId xmlns:a16="http://schemas.microsoft.com/office/drawing/2014/main" id="{17550DCF-AB83-0116-092A-39828D42C5F6}"/>
                </a:ext>
              </a:extLst>
            </p:cNvPr>
            <p:cNvSpPr txBox="1"/>
            <p:nvPr/>
          </p:nvSpPr>
          <p:spPr>
            <a:xfrm>
              <a:off x="9878020" y="3185422"/>
              <a:ext cx="32957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sym typeface="Corbel"/>
                </a:rPr>
                <a:t>4</a:t>
              </a: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0</a:t>
              </a:r>
            </a:p>
          </p:txBody>
        </p:sp>
        <p:sp>
          <p:nvSpPr>
            <p:cNvPr id="16" name="TextBox 15">
              <a:extLst>
                <a:ext uri="{FF2B5EF4-FFF2-40B4-BE49-F238E27FC236}">
                  <a16:creationId xmlns:a16="http://schemas.microsoft.com/office/drawing/2014/main" id="{144B888E-CFC3-EB41-441B-3A2BF044252E}"/>
                </a:ext>
              </a:extLst>
            </p:cNvPr>
            <p:cNvSpPr txBox="1"/>
            <p:nvPr/>
          </p:nvSpPr>
          <p:spPr>
            <a:xfrm>
              <a:off x="3889065" y="3137738"/>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0</a:t>
              </a:r>
            </a:p>
          </p:txBody>
        </p:sp>
        <p:sp>
          <p:nvSpPr>
            <p:cNvPr id="17" name="TextBox 16">
              <a:extLst>
                <a:ext uri="{FF2B5EF4-FFF2-40B4-BE49-F238E27FC236}">
                  <a16:creationId xmlns:a16="http://schemas.microsoft.com/office/drawing/2014/main" id="{55D162F9-E5B2-2204-91DE-E06BEB451102}"/>
                </a:ext>
              </a:extLst>
            </p:cNvPr>
            <p:cNvSpPr txBox="1"/>
            <p:nvPr/>
          </p:nvSpPr>
          <p:spPr>
            <a:xfrm>
              <a:off x="5415585" y="3119161"/>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0</a:t>
              </a:r>
            </a:p>
          </p:txBody>
        </p:sp>
        <p:sp>
          <p:nvSpPr>
            <p:cNvPr id="18" name="TextBox 17">
              <a:extLst>
                <a:ext uri="{FF2B5EF4-FFF2-40B4-BE49-F238E27FC236}">
                  <a16:creationId xmlns:a16="http://schemas.microsoft.com/office/drawing/2014/main" id="{89ABFE9F-51B3-D094-94BE-470A6D40EC80}"/>
                </a:ext>
              </a:extLst>
            </p:cNvPr>
            <p:cNvSpPr txBox="1"/>
            <p:nvPr/>
          </p:nvSpPr>
          <p:spPr>
            <a:xfrm>
              <a:off x="7088831" y="3152331"/>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0</a:t>
              </a:r>
            </a:p>
          </p:txBody>
        </p:sp>
        <p:sp>
          <p:nvSpPr>
            <p:cNvPr id="19" name="TextBox 18">
              <a:extLst>
                <a:ext uri="{FF2B5EF4-FFF2-40B4-BE49-F238E27FC236}">
                  <a16:creationId xmlns:a16="http://schemas.microsoft.com/office/drawing/2014/main" id="{1E9891C9-8B86-3958-0104-8F32FB1E54BC}"/>
                </a:ext>
              </a:extLst>
            </p:cNvPr>
            <p:cNvSpPr txBox="1"/>
            <p:nvPr/>
          </p:nvSpPr>
          <p:spPr>
            <a:xfrm>
              <a:off x="8448802" y="3119161"/>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0</a:t>
              </a:r>
            </a:p>
          </p:txBody>
        </p:sp>
        <p:sp>
          <p:nvSpPr>
            <p:cNvPr id="23" name="TextBox 22">
              <a:extLst>
                <a:ext uri="{FF2B5EF4-FFF2-40B4-BE49-F238E27FC236}">
                  <a16:creationId xmlns:a16="http://schemas.microsoft.com/office/drawing/2014/main" id="{3C281759-4BDC-77A0-0CE9-E4E70ED80AAD}"/>
                </a:ext>
              </a:extLst>
            </p:cNvPr>
            <p:cNvSpPr txBox="1"/>
            <p:nvPr/>
          </p:nvSpPr>
          <p:spPr>
            <a:xfrm>
              <a:off x="868070" y="3307861"/>
              <a:ext cx="916274"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Rewards</a:t>
              </a:r>
            </a:p>
          </p:txBody>
        </p:sp>
        <p:sp>
          <p:nvSpPr>
            <p:cNvPr id="25" name="TextBox 24">
              <a:extLst>
                <a:ext uri="{FF2B5EF4-FFF2-40B4-BE49-F238E27FC236}">
                  <a16:creationId xmlns:a16="http://schemas.microsoft.com/office/drawing/2014/main" id="{2E09DD9F-4049-731A-E96C-F05400342BCD}"/>
                </a:ext>
              </a:extLst>
            </p:cNvPr>
            <p:cNvSpPr txBox="1"/>
            <p:nvPr/>
          </p:nvSpPr>
          <p:spPr>
            <a:xfrm>
              <a:off x="1804222" y="1796688"/>
              <a:ext cx="168787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Terminal State</a:t>
              </a:r>
            </a:p>
          </p:txBody>
        </p:sp>
        <p:sp>
          <p:nvSpPr>
            <p:cNvPr id="26" name="TextBox 25">
              <a:extLst>
                <a:ext uri="{FF2B5EF4-FFF2-40B4-BE49-F238E27FC236}">
                  <a16:creationId xmlns:a16="http://schemas.microsoft.com/office/drawing/2014/main" id="{03245AB4-AA99-57EE-0F45-6AD16D18654C}"/>
                </a:ext>
              </a:extLst>
            </p:cNvPr>
            <p:cNvSpPr txBox="1"/>
            <p:nvPr/>
          </p:nvSpPr>
          <p:spPr>
            <a:xfrm>
              <a:off x="9285871" y="1796688"/>
              <a:ext cx="168787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Terminal State</a:t>
              </a:r>
            </a:p>
          </p:txBody>
        </p:sp>
      </p:grpSp>
      <p:sp>
        <p:nvSpPr>
          <p:cNvPr id="30" name="TextBox 29">
            <a:extLst>
              <a:ext uri="{FF2B5EF4-FFF2-40B4-BE49-F238E27FC236}">
                <a16:creationId xmlns:a16="http://schemas.microsoft.com/office/drawing/2014/main" id="{662823A4-61BD-2350-3266-892520FD8077}"/>
              </a:ext>
            </a:extLst>
          </p:cNvPr>
          <p:cNvSpPr txBox="1"/>
          <p:nvPr/>
        </p:nvSpPr>
        <p:spPr>
          <a:xfrm>
            <a:off x="5841623" y="4281531"/>
            <a:ext cx="4824781" cy="23391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1600" b="0" i="0" u="sng" strike="noStrike" kern="0" cap="none" spc="0" normalizeH="0" baseline="0" noProof="0" dirty="0">
                <a:ln>
                  <a:noFill/>
                </a:ln>
                <a:solidFill>
                  <a:srgbClr val="000000"/>
                </a:solidFill>
                <a:effectLst/>
                <a:uLnTx/>
                <a:uFillTx/>
                <a:latin typeface="Corbel"/>
                <a:ea typeface="+mn-ea"/>
                <a:cs typeface="+mn-cs"/>
                <a:sym typeface="Corbel"/>
              </a:rPr>
              <a:t>Computing Return</a:t>
            </a:r>
            <a:endParaRPr kumimoji="0" lang="en-US" sz="2000" b="0" i="0" u="sng" strike="noStrike" kern="0" cap="none" spc="0" normalizeH="0" baseline="0" noProof="0" dirty="0">
              <a:ln>
                <a:noFill/>
              </a:ln>
              <a:solidFill>
                <a:srgbClr val="000000"/>
              </a:solidFill>
              <a:effectLst/>
              <a:uLnTx/>
              <a:uFillTx/>
              <a:latin typeface="Corbel"/>
              <a:ea typeface="+mn-ea"/>
              <a:cs typeface="+mn-cs"/>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rbel"/>
                <a:sym typeface="Corbel"/>
              </a:rPr>
              <a:t>Go left: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rbel"/>
                <a:sym typeface="Corbel"/>
              </a:rPr>
              <a:t>State:    4	        3              2                      1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rbel"/>
                <a:sym typeface="Corbel"/>
              </a:rPr>
              <a:t>Return: 0    +  (0.9)0  + (0)(0.9)^2  +  (0.9)^3 100 = 72.9</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orbel"/>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rbel"/>
                <a:sym typeface="Corbel"/>
              </a:rPr>
              <a:t>Generally: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rbel"/>
                <a:sym typeface="Corbel"/>
              </a:rPr>
              <a:t>Return =  R1 +  </a:t>
            </a:r>
            <a:r>
              <a:rPr kumimoji="0" lang="en-US" sz="1600" b="0" i="0" u="none" strike="noStrike" kern="0" cap="none" spc="0" normalizeH="0" baseline="0" noProof="0" dirty="0">
                <a:ln>
                  <a:noFill/>
                </a:ln>
                <a:solidFill>
                  <a:srgbClr val="000000"/>
                </a:solidFill>
                <a:effectLst/>
                <a:uLnTx/>
                <a:uFillTx/>
                <a:latin typeface="Symbol" pitchFamily="2" charset="2"/>
                <a:sym typeface="Corbel"/>
              </a:rPr>
              <a:t>g</a:t>
            </a:r>
            <a:r>
              <a:rPr kumimoji="0" lang="en-US" sz="1600" b="0" i="0" u="none" strike="noStrike" kern="0" cap="none" spc="0" normalizeH="0" baseline="0" noProof="0" dirty="0">
                <a:ln>
                  <a:noFill/>
                </a:ln>
                <a:solidFill>
                  <a:srgbClr val="000000"/>
                </a:solidFill>
                <a:effectLst/>
                <a:uLnTx/>
                <a:uFillTx/>
                <a:latin typeface="Corbel"/>
                <a:sym typeface="Corbel"/>
              </a:rPr>
              <a:t> R2 + </a:t>
            </a:r>
            <a:r>
              <a:rPr kumimoji="0" lang="en-US" sz="1600" b="0" i="0" u="none" strike="noStrike" kern="0" cap="none" spc="0" normalizeH="0" baseline="0" noProof="0" dirty="0">
                <a:ln>
                  <a:noFill/>
                </a:ln>
                <a:solidFill>
                  <a:srgbClr val="000000"/>
                </a:solidFill>
                <a:effectLst/>
                <a:uLnTx/>
                <a:uFillTx/>
                <a:latin typeface="Symbol" pitchFamily="2" charset="2"/>
                <a:sym typeface="Corbel"/>
              </a:rPr>
              <a:t>g</a:t>
            </a:r>
            <a:r>
              <a:rPr kumimoji="0" lang="en-US" sz="1600" b="0" i="0" u="none" strike="noStrike" kern="0" cap="none" spc="0" normalizeH="0" baseline="30000" noProof="0" dirty="0">
                <a:ln>
                  <a:noFill/>
                </a:ln>
                <a:solidFill>
                  <a:srgbClr val="000000"/>
                </a:solidFill>
                <a:effectLst/>
                <a:uLnTx/>
                <a:uFillTx/>
                <a:latin typeface="Symbol" pitchFamily="2" charset="2"/>
                <a:sym typeface="Corbel"/>
              </a:rPr>
              <a:t>2</a:t>
            </a:r>
            <a:r>
              <a:rPr kumimoji="0" lang="en-US" sz="1600" b="0" i="0" u="none" strike="noStrike" kern="0" cap="none" spc="0" normalizeH="0" baseline="0" noProof="0" dirty="0">
                <a:ln>
                  <a:noFill/>
                </a:ln>
                <a:solidFill>
                  <a:srgbClr val="000000"/>
                </a:solidFill>
                <a:effectLst/>
                <a:uLnTx/>
                <a:uFillTx/>
                <a:latin typeface="Corbel"/>
                <a:sym typeface="Corbel"/>
              </a:rPr>
              <a:t> R3  + </a:t>
            </a:r>
            <a:r>
              <a:rPr kumimoji="0" lang="en-US" sz="1600" b="0" i="0" u="none" strike="noStrike" kern="0" cap="none" spc="0" normalizeH="0" baseline="0" noProof="0" dirty="0">
                <a:ln>
                  <a:noFill/>
                </a:ln>
                <a:solidFill>
                  <a:srgbClr val="000000"/>
                </a:solidFill>
                <a:effectLst/>
                <a:uLnTx/>
                <a:uFillTx/>
                <a:latin typeface="Symbol" pitchFamily="2" charset="2"/>
                <a:sym typeface="Corbel"/>
              </a:rPr>
              <a:t>g</a:t>
            </a:r>
            <a:r>
              <a:rPr kumimoji="0" lang="en-US" sz="1600" b="0" i="0" u="none" strike="noStrike" kern="0" cap="none" spc="0" normalizeH="0" baseline="30000" noProof="0" dirty="0">
                <a:ln>
                  <a:noFill/>
                </a:ln>
                <a:solidFill>
                  <a:srgbClr val="000000"/>
                </a:solidFill>
                <a:effectLst/>
                <a:uLnTx/>
                <a:uFillTx/>
                <a:latin typeface="Symbol" pitchFamily="2" charset="2"/>
                <a:sym typeface="Corbel"/>
              </a:rPr>
              <a:t>3</a:t>
            </a:r>
            <a:r>
              <a:rPr kumimoji="0" lang="en-US" sz="1600" b="0" i="0" u="none" strike="noStrike" kern="0" cap="none" spc="0" normalizeH="0" baseline="0" noProof="0" dirty="0">
                <a:ln>
                  <a:noFill/>
                </a:ln>
                <a:solidFill>
                  <a:srgbClr val="000000"/>
                </a:solidFill>
                <a:effectLst/>
                <a:uLnTx/>
                <a:uFillTx/>
                <a:latin typeface="Corbel"/>
                <a:sym typeface="Corbel"/>
              </a:rPr>
              <a:t> R4</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lang="en-US" dirty="0">
                <a:latin typeface="Corbel"/>
              </a:rPr>
              <a:t>w</a:t>
            </a:r>
            <a:r>
              <a:rPr kumimoji="0" lang="en-US" sz="1800" b="0" i="0" u="none" strike="noStrike" kern="0" cap="none" spc="0" normalizeH="0" baseline="0" noProof="0" dirty="0">
                <a:ln>
                  <a:noFill/>
                </a:ln>
                <a:solidFill>
                  <a:srgbClr val="000000"/>
                </a:solidFill>
                <a:effectLst/>
                <a:uLnTx/>
                <a:uFillTx/>
                <a:latin typeface="Corbel"/>
                <a:ea typeface="+mn-ea"/>
                <a:cs typeface="+mn-cs"/>
                <a:sym typeface="Corbel"/>
              </a:rPr>
              <a:t>here, ‘</a:t>
            </a:r>
            <a:r>
              <a:rPr lang="el-GR" dirty="0">
                <a:latin typeface="Corbel"/>
              </a:rPr>
              <a:t>γ</a:t>
            </a:r>
            <a:r>
              <a:rPr lang="en-US" dirty="0">
                <a:latin typeface="Corbel"/>
              </a:rPr>
              <a:t>’ is the discount factor.</a:t>
            </a:r>
            <a:endParaRPr kumimoji="0" lang="en-US" sz="1800" b="0" i="0" u="none" strike="noStrike" kern="0" cap="none" spc="0" normalizeH="0" baseline="0" noProof="0" dirty="0">
              <a:ln>
                <a:noFill/>
              </a:ln>
              <a:solidFill>
                <a:srgbClr val="000000"/>
              </a:solidFill>
              <a:effectLst/>
              <a:uLnTx/>
              <a:uFillTx/>
              <a:latin typeface="Corbel"/>
              <a:ea typeface="+mn-ea"/>
              <a:cs typeface="+mn-cs"/>
              <a:sym typeface="Corbel"/>
            </a:endParaRPr>
          </a:p>
        </p:txBody>
      </p:sp>
      <p:sp>
        <p:nvSpPr>
          <p:cNvPr id="4" name="Content Placeholder 2">
            <a:extLst>
              <a:ext uri="{FF2B5EF4-FFF2-40B4-BE49-F238E27FC236}">
                <a16:creationId xmlns:a16="http://schemas.microsoft.com/office/drawing/2014/main" id="{5A80DBDF-F70E-AC21-32B4-7CC63522DA90}"/>
              </a:ext>
            </a:extLst>
          </p:cNvPr>
          <p:cNvSpPr txBox="1">
            <a:spLocks/>
          </p:cNvSpPr>
          <p:nvPr/>
        </p:nvSpPr>
        <p:spPr>
          <a:xfrm>
            <a:off x="980475" y="4143912"/>
            <a:ext cx="3294850" cy="2439450"/>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274320" marR="0" lvl="0" indent="-274320" algn="l" defTabSz="914400" rtl="0" eaLnBrk="1" fontAlgn="auto" latinLnBrk="0" hangingPunct="0">
              <a:lnSpc>
                <a:spcPct val="90000"/>
              </a:lnSpc>
              <a:spcBef>
                <a:spcPts val="1800"/>
              </a:spcBef>
              <a:spcAft>
                <a:spcPts val="0"/>
              </a:spcAft>
              <a:buClrTx/>
              <a:buSzPct val="100000"/>
              <a:buFont typeface="Arial"/>
              <a:buChar char="▪"/>
              <a:tabLst/>
              <a:defRPr/>
            </a:pPr>
            <a:r>
              <a:rPr kumimoji="0" lang="en-US" sz="1400" b="0" i="0" u="none" strike="noStrike" kern="0" cap="none" spc="0" normalizeH="0" baseline="0" noProof="0" dirty="0">
                <a:ln>
                  <a:noFill/>
                </a:ln>
                <a:solidFill>
                  <a:srgbClr val="000000"/>
                </a:solidFill>
                <a:effectLst/>
                <a:uLnTx/>
                <a:uFillTx/>
                <a:latin typeface="Corbel"/>
                <a:sym typeface="Corbel"/>
              </a:rPr>
              <a:t>Reward is immediate</a:t>
            </a:r>
          </a:p>
          <a:p>
            <a:pPr marL="274320" marR="0" lvl="0" indent="-274320" algn="l" defTabSz="914400" rtl="0" eaLnBrk="1" fontAlgn="auto" latinLnBrk="0" hangingPunct="0">
              <a:lnSpc>
                <a:spcPct val="90000"/>
              </a:lnSpc>
              <a:spcBef>
                <a:spcPts val="1800"/>
              </a:spcBef>
              <a:spcAft>
                <a:spcPts val="0"/>
              </a:spcAft>
              <a:buClrTx/>
              <a:buSzPct val="100000"/>
              <a:buFont typeface="Arial"/>
              <a:buChar char="▪"/>
              <a:tabLst/>
              <a:defRPr/>
            </a:pPr>
            <a:r>
              <a:rPr kumimoji="0" lang="en-US" sz="1400" b="0" i="0" u="none" strike="noStrike" kern="0" cap="none" spc="0" normalizeH="0" baseline="0" noProof="0" dirty="0">
                <a:ln>
                  <a:noFill/>
                </a:ln>
                <a:solidFill>
                  <a:srgbClr val="000000"/>
                </a:solidFill>
                <a:effectLst/>
                <a:uLnTx/>
                <a:uFillTx/>
                <a:latin typeface="Corbel"/>
                <a:sym typeface="Corbel"/>
              </a:rPr>
              <a:t>Return is the long-term gain</a:t>
            </a:r>
          </a:p>
          <a:p>
            <a:pPr marL="274320" marR="0" lvl="0" indent="-274320" algn="l" defTabSz="914400" rtl="0" eaLnBrk="1" fontAlgn="auto" latinLnBrk="0" hangingPunct="0">
              <a:lnSpc>
                <a:spcPct val="90000"/>
              </a:lnSpc>
              <a:spcBef>
                <a:spcPts val="1800"/>
              </a:spcBef>
              <a:spcAft>
                <a:spcPts val="0"/>
              </a:spcAft>
              <a:buClrTx/>
              <a:buSzPct val="100000"/>
              <a:buFont typeface="Arial"/>
              <a:buChar char="▪"/>
              <a:tabLst/>
              <a:defRPr/>
            </a:pPr>
            <a:r>
              <a:rPr kumimoji="0" lang="en-US" sz="1400" b="0" i="0" u="none" strike="noStrike" kern="0" cap="none" spc="0" normalizeH="0" baseline="0" noProof="0" dirty="0">
                <a:ln>
                  <a:noFill/>
                </a:ln>
                <a:solidFill>
                  <a:srgbClr val="000000"/>
                </a:solidFill>
                <a:effectLst/>
                <a:uLnTx/>
                <a:uFillTx/>
                <a:latin typeface="Corbel"/>
                <a:sym typeface="Corbel"/>
              </a:rPr>
              <a:t>Like – cash in hand v/s in the future. Present Value of future return is computed as  FV * discounting factor (example interest rate).</a:t>
            </a:r>
          </a:p>
          <a:p>
            <a:pPr marL="274320" marR="0" lvl="0" indent="-274320" algn="l" defTabSz="914400" rtl="0" eaLnBrk="1" fontAlgn="auto" latinLnBrk="0" hangingPunct="0">
              <a:lnSpc>
                <a:spcPct val="90000"/>
              </a:lnSpc>
              <a:spcBef>
                <a:spcPts val="1800"/>
              </a:spcBef>
              <a:spcAft>
                <a:spcPts val="0"/>
              </a:spcAft>
              <a:buClrTx/>
              <a:buSzPct val="100000"/>
              <a:buFont typeface="Arial"/>
              <a:buChar char="▪"/>
              <a:tabLst/>
              <a:defRPr/>
            </a:pPr>
            <a:r>
              <a:rPr kumimoji="0" lang="en-US" sz="1400" b="0" i="0" u="none" strike="noStrike" kern="0" cap="none" spc="0" normalizeH="0" baseline="0" noProof="0" dirty="0">
                <a:ln>
                  <a:noFill/>
                </a:ln>
                <a:solidFill>
                  <a:srgbClr val="000000"/>
                </a:solidFill>
                <a:effectLst/>
                <a:uLnTx/>
                <a:uFillTx/>
                <a:latin typeface="Corbel"/>
                <a:sym typeface="Corbel"/>
              </a:rPr>
              <a:t>What would prefer – get cash now or in the future?</a:t>
            </a:r>
          </a:p>
        </p:txBody>
      </p:sp>
    </p:spTree>
    <p:extLst>
      <p:ext uri="{BB962C8B-B14F-4D97-AF65-F5344CB8AC3E}">
        <p14:creationId xmlns:p14="http://schemas.microsoft.com/office/powerpoint/2010/main" val="291416144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0">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Q value function and the updated Bellman Equation</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597085"/>
                <a:ext cx="8956566" cy="5260915"/>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r>
                  <a:rPr lang="en-US" sz="1800" b="1" dirty="0"/>
                  <a:t>Q(s,a) </a:t>
                </a:r>
                <a:r>
                  <a:rPr lang="en-US" sz="1800" dirty="0"/>
                  <a:t>is called the state action-value function and is defined as the return you get if you :</a:t>
                </a:r>
              </a:p>
              <a:p>
                <a:pPr lvl="1"/>
                <a:r>
                  <a:rPr lang="en-US" sz="1600" dirty="0"/>
                  <a:t>Start in a state ‘s’</a:t>
                </a:r>
              </a:p>
              <a:p>
                <a:pPr lvl="1"/>
                <a:r>
                  <a:rPr lang="en-US" sz="1600" dirty="0"/>
                  <a:t>Take an action ‘a’ (once),</a:t>
                </a:r>
              </a:p>
              <a:p>
                <a:pPr lvl="1"/>
                <a:r>
                  <a:rPr lang="en-US" sz="1600" dirty="0"/>
                  <a:t>Then behave optimally after that</a:t>
                </a:r>
              </a:p>
              <a:p>
                <a:pPr marL="0" indent="0">
                  <a:buNone/>
                </a:pPr>
                <a:r>
                  <a:rPr lang="en-US" sz="1800" dirty="0"/>
                  <a:t>									</a:t>
                </a:r>
                <a:r>
                  <a:rPr lang="en-US" sz="1800" b="1" dirty="0"/>
                  <a:t> </a:t>
                </a:r>
                <a14:m>
                  <m:oMath xmlns:m="http://schemas.openxmlformats.org/officeDocument/2006/math">
                    <m:r>
                      <a:rPr lang="en-US" sz="1800" b="1" i="1">
                        <a:latin typeface="Cambria Math" panose="02040503050406030204" pitchFamily="18" charset="0"/>
                      </a:rPr>
                      <m:t>𝑸</m:t>
                    </m:r>
                    <m:d>
                      <m:dPr>
                        <m:ctrlPr>
                          <a:rPr lang="en-US" sz="1800" b="1" i="1">
                            <a:latin typeface="Cambria Math" panose="02040503050406030204" pitchFamily="18" charset="0"/>
                          </a:rPr>
                        </m:ctrlPr>
                      </m:dPr>
                      <m:e>
                        <m:r>
                          <a:rPr lang="en-US" sz="1800" b="1" i="1">
                            <a:latin typeface="Cambria Math" panose="02040503050406030204" pitchFamily="18" charset="0"/>
                          </a:rPr>
                          <m:t>𝒔</m:t>
                        </m:r>
                        <m:r>
                          <a:rPr lang="en-US" sz="1800" b="1" i="1">
                            <a:latin typeface="Cambria Math" panose="02040503050406030204" pitchFamily="18" charset="0"/>
                          </a:rPr>
                          <m:t>,</m:t>
                        </m:r>
                        <m:r>
                          <a:rPr lang="en-US" sz="1800" b="1" i="1">
                            <a:latin typeface="Cambria Math" panose="02040503050406030204" pitchFamily="18" charset="0"/>
                          </a:rPr>
                          <m:t>𝒂</m:t>
                        </m:r>
                      </m:e>
                    </m:d>
                    <m:r>
                      <a:rPr lang="en-US" sz="1800" b="1" i="1">
                        <a:latin typeface="Cambria Math" panose="02040503050406030204" pitchFamily="18" charset="0"/>
                      </a:rPr>
                      <m:t>=</m:t>
                    </m:r>
                    <m:r>
                      <a:rPr lang="en-US" sz="1800" b="1" i="1">
                        <a:latin typeface="Cambria Math" panose="02040503050406030204" pitchFamily="18" charset="0"/>
                      </a:rPr>
                      <m:t>𝑸</m:t>
                    </m:r>
                    <m:d>
                      <m:dPr>
                        <m:ctrlPr>
                          <a:rPr lang="en-US" sz="1800" b="1" i="1">
                            <a:latin typeface="Cambria Math" panose="02040503050406030204" pitchFamily="18" charset="0"/>
                          </a:rPr>
                        </m:ctrlPr>
                      </m:dPr>
                      <m:e>
                        <m:r>
                          <a:rPr lang="en-US" sz="1800" b="1" i="1">
                            <a:latin typeface="Cambria Math" panose="02040503050406030204" pitchFamily="18" charset="0"/>
                          </a:rPr>
                          <m:t>𝒔</m:t>
                        </m:r>
                        <m:r>
                          <a:rPr lang="en-US" sz="1800" b="1" i="1">
                            <a:latin typeface="Cambria Math" panose="02040503050406030204" pitchFamily="18" charset="0"/>
                          </a:rPr>
                          <m:t>,</m:t>
                        </m:r>
                        <m:r>
                          <a:rPr lang="en-US" sz="1800" b="1" i="1">
                            <a:latin typeface="Cambria Math" panose="02040503050406030204" pitchFamily="18" charset="0"/>
                          </a:rPr>
                          <m:t>𝒂</m:t>
                        </m:r>
                      </m:e>
                    </m:d>
                    <m:r>
                      <a:rPr lang="en-US" sz="1800" b="1" i="1">
                        <a:latin typeface="Cambria Math" panose="02040503050406030204" pitchFamily="18" charset="0"/>
                      </a:rPr>
                      <m:t>+ </m:t>
                    </m:r>
                    <m:r>
                      <a:rPr lang="en-US" sz="1800" b="1" i="1">
                        <a:latin typeface="Cambria Math" panose="02040503050406030204" pitchFamily="18" charset="0"/>
                      </a:rPr>
                      <m:t>𝒂</m:t>
                    </m:r>
                    <m:r>
                      <a:rPr lang="en-US" sz="1800" b="1" i="1">
                        <a:latin typeface="Cambria Math" panose="02040503050406030204" pitchFamily="18" charset="0"/>
                      </a:rPr>
                      <m:t> ( </m:t>
                    </m:r>
                    <m:r>
                      <a:rPr lang="en-US" sz="1800" b="1" i="1">
                        <a:latin typeface="Cambria Math" panose="02040503050406030204" pitchFamily="18" charset="0"/>
                      </a:rPr>
                      <m:t>𝑹</m:t>
                    </m:r>
                    <m:d>
                      <m:dPr>
                        <m:ctrlPr>
                          <a:rPr lang="en-US" sz="1800" b="1" i="1">
                            <a:latin typeface="Cambria Math" panose="02040503050406030204" pitchFamily="18" charset="0"/>
                          </a:rPr>
                        </m:ctrlPr>
                      </m:dPr>
                      <m:e>
                        <m:r>
                          <a:rPr lang="en-US" sz="1800" b="1" i="1">
                            <a:latin typeface="Cambria Math" panose="02040503050406030204" pitchFamily="18" charset="0"/>
                          </a:rPr>
                          <m:t>𝒔</m:t>
                        </m:r>
                      </m:e>
                    </m:d>
                    <m:r>
                      <a:rPr lang="en-US" sz="1800" b="1" i="1">
                        <a:latin typeface="Cambria Math" panose="02040503050406030204" pitchFamily="18" charset="0"/>
                      </a:rPr>
                      <m:t>+ </m:t>
                    </m:r>
                    <m:r>
                      <a:rPr lang="en-US" sz="1800" b="1" i="1">
                        <a:latin typeface="Cambria Math" panose="02040503050406030204" pitchFamily="18" charset="0"/>
                        <a:ea typeface="Cambria Math" panose="02040503050406030204" pitchFamily="18" charset="0"/>
                      </a:rPr>
                      <m:t>𝜸</m:t>
                    </m:r>
                    <m:r>
                      <a:rPr lang="en-US" sz="1800" b="1" i="1">
                        <a:latin typeface="Cambria Math" panose="02040503050406030204" pitchFamily="18" charset="0"/>
                        <a:ea typeface="Cambria Math" panose="02040503050406030204" pitchFamily="18" charset="0"/>
                      </a:rPr>
                      <m:t> </m:t>
                    </m:r>
                    <m:f>
                      <m:fPr>
                        <m:ctrlPr>
                          <a:rPr lang="en-US" sz="1800" b="1" i="1">
                            <a:latin typeface="Cambria Math" panose="02040503050406030204" pitchFamily="18" charset="0"/>
                            <a:ea typeface="Cambria Math" panose="02040503050406030204" pitchFamily="18" charset="0"/>
                          </a:rPr>
                        </m:ctrlPr>
                      </m:fPr>
                      <m:num>
                        <m:r>
                          <a:rPr lang="en-US" sz="1800" b="1" i="1">
                            <a:latin typeface="Cambria Math" panose="02040503050406030204" pitchFamily="18" charset="0"/>
                            <a:ea typeface="Cambria Math" panose="02040503050406030204" pitchFamily="18" charset="0"/>
                          </a:rPr>
                          <m:t>𝒎𝒂𝒙</m:t>
                        </m:r>
                      </m:num>
                      <m:den>
                        <m:sSup>
                          <m:sSupPr>
                            <m:ctrlPr>
                              <a:rPr lang="en-US" sz="1800" b="1" i="1">
                                <a:latin typeface="Cambria Math" panose="02040503050406030204" pitchFamily="18" charset="0"/>
                                <a:ea typeface="Cambria Math" panose="02040503050406030204" pitchFamily="18" charset="0"/>
                              </a:rPr>
                            </m:ctrlPr>
                          </m:sSupPr>
                          <m:e>
                            <m:r>
                              <a:rPr lang="en-US" sz="1800" b="1" i="1">
                                <a:latin typeface="Cambria Math" panose="02040503050406030204" pitchFamily="18" charset="0"/>
                                <a:ea typeface="Cambria Math" panose="02040503050406030204" pitchFamily="18" charset="0"/>
                              </a:rPr>
                              <m:t>𝒂</m:t>
                            </m:r>
                          </m:e>
                          <m:sup>
                            <m:r>
                              <a:rPr lang="en-US" sz="1800" b="1" i="1">
                                <a:latin typeface="Cambria Math" panose="02040503050406030204" pitchFamily="18" charset="0"/>
                                <a:ea typeface="Cambria Math" panose="02040503050406030204" pitchFamily="18" charset="0"/>
                              </a:rPr>
                              <m:t>′</m:t>
                            </m:r>
                          </m:sup>
                        </m:sSup>
                      </m:den>
                    </m:f>
                    <m:r>
                      <a:rPr lang="en-US" sz="1800" b="1" i="1">
                        <a:latin typeface="Cambria Math" panose="02040503050406030204" pitchFamily="18" charset="0"/>
                        <a:ea typeface="Cambria Math" panose="02040503050406030204" pitchFamily="18" charset="0"/>
                      </a:rPr>
                      <m:t> </m:t>
                    </m:r>
                    <m:r>
                      <a:rPr lang="en-US" sz="1800" b="1" i="1">
                        <a:latin typeface="Cambria Math" panose="02040503050406030204" pitchFamily="18" charset="0"/>
                        <a:ea typeface="Cambria Math" panose="02040503050406030204" pitchFamily="18" charset="0"/>
                      </a:rPr>
                      <m:t>𝑸</m:t>
                    </m:r>
                    <m:d>
                      <m:dPr>
                        <m:ctrlPr>
                          <a:rPr lang="en-US" sz="1800" b="1" i="1">
                            <a:latin typeface="Cambria Math" panose="02040503050406030204" pitchFamily="18" charset="0"/>
                            <a:ea typeface="Cambria Math" panose="02040503050406030204" pitchFamily="18" charset="0"/>
                          </a:rPr>
                        </m:ctrlPr>
                      </m:dPr>
                      <m:e>
                        <m:sSup>
                          <m:sSupPr>
                            <m:ctrlPr>
                              <a:rPr lang="en-US" sz="1800" b="1" i="1">
                                <a:latin typeface="Cambria Math" panose="02040503050406030204" pitchFamily="18" charset="0"/>
                                <a:ea typeface="Cambria Math" panose="02040503050406030204" pitchFamily="18" charset="0"/>
                              </a:rPr>
                            </m:ctrlPr>
                          </m:sSupPr>
                          <m:e>
                            <m:r>
                              <a:rPr lang="en-US" sz="1800" b="1" i="1">
                                <a:latin typeface="Cambria Math" panose="02040503050406030204" pitchFamily="18" charset="0"/>
                                <a:ea typeface="Cambria Math" panose="02040503050406030204" pitchFamily="18" charset="0"/>
                              </a:rPr>
                              <m:t>𝒔</m:t>
                            </m:r>
                          </m:e>
                          <m:sup>
                            <m:r>
                              <a:rPr lang="en-US" sz="1800" b="1" i="1">
                                <a:latin typeface="Cambria Math" panose="02040503050406030204" pitchFamily="18" charset="0"/>
                                <a:ea typeface="Cambria Math" panose="02040503050406030204" pitchFamily="18" charset="0"/>
                              </a:rPr>
                              <m:t>′</m:t>
                            </m:r>
                          </m:sup>
                        </m:sSup>
                        <m:r>
                          <a:rPr lang="en-US" sz="1800" b="1" i="1">
                            <a:latin typeface="Cambria Math" panose="02040503050406030204" pitchFamily="18" charset="0"/>
                            <a:ea typeface="Cambria Math" panose="02040503050406030204" pitchFamily="18" charset="0"/>
                          </a:rPr>
                          <m:t>, </m:t>
                        </m:r>
                        <m:r>
                          <a:rPr lang="en-US" sz="1800" b="1" i="1">
                            <a:latin typeface="Cambria Math" panose="02040503050406030204" pitchFamily="18" charset="0"/>
                            <a:ea typeface="Cambria Math" panose="02040503050406030204" pitchFamily="18" charset="0"/>
                          </a:rPr>
                          <m:t>𝒂</m:t>
                        </m:r>
                        <m:r>
                          <a:rPr lang="en-US" sz="1800" b="1" i="1">
                            <a:latin typeface="Cambria Math" panose="02040503050406030204" pitchFamily="18" charset="0"/>
                            <a:ea typeface="Cambria Math" panose="02040503050406030204" pitchFamily="18" charset="0"/>
                          </a:rPr>
                          <m:t>′</m:t>
                        </m:r>
                      </m:e>
                    </m:d>
                    <m:r>
                      <a:rPr lang="en-US" sz="1800" b="1" i="1">
                        <a:latin typeface="Cambria Math" panose="02040503050406030204" pitchFamily="18" charset="0"/>
                        <a:ea typeface="Cambria Math" panose="02040503050406030204" pitchFamily="18" charset="0"/>
                      </a:rPr>
                      <m:t> −</m:t>
                    </m:r>
                    <m:r>
                      <a:rPr lang="en-US" sz="1800" b="1" i="1">
                        <a:latin typeface="Cambria Math" panose="02040503050406030204" pitchFamily="18" charset="0"/>
                        <a:ea typeface="Cambria Math" panose="02040503050406030204" pitchFamily="18" charset="0"/>
                      </a:rPr>
                      <m:t>𝑸</m:t>
                    </m:r>
                    <m:d>
                      <m:dPr>
                        <m:ctrlPr>
                          <a:rPr lang="en-US" sz="1800" b="1" i="1">
                            <a:latin typeface="Cambria Math" panose="02040503050406030204" pitchFamily="18" charset="0"/>
                            <a:ea typeface="Cambria Math" panose="02040503050406030204" pitchFamily="18" charset="0"/>
                          </a:rPr>
                        </m:ctrlPr>
                      </m:dPr>
                      <m:e>
                        <m:r>
                          <a:rPr lang="en-US" sz="1800" b="1" i="1">
                            <a:latin typeface="Cambria Math" panose="02040503050406030204" pitchFamily="18" charset="0"/>
                            <a:ea typeface="Cambria Math" panose="02040503050406030204" pitchFamily="18" charset="0"/>
                          </a:rPr>
                          <m:t>𝒔</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𝒂</m:t>
                        </m:r>
                      </m:e>
                    </m:d>
                    <m:r>
                      <a:rPr lang="en-US" sz="1800" b="1" i="1">
                        <a:latin typeface="Cambria Math" panose="02040503050406030204" pitchFamily="18" charset="0"/>
                        <a:ea typeface="Cambria Math" panose="02040503050406030204" pitchFamily="18" charset="0"/>
                      </a:rPr>
                      <m:t>) </m:t>
                    </m:r>
                  </m:oMath>
                </a14:m>
                <a:r>
                  <a:rPr lang="en-US" sz="1400" dirty="0">
                    <a:ea typeface="Cambria Math" panose="02040503050406030204" pitchFamily="18" charset="0"/>
                  </a:rPr>
                  <a:t>	</a:t>
                </a:r>
              </a:p>
              <a:p>
                <a:pPr marL="0" indent="0">
                  <a:buNone/>
                </a:pPr>
                <a:endParaRPr lang="en-US" sz="1400" dirty="0">
                  <a:ea typeface="Cambria Math" panose="02040503050406030204" pitchFamily="18" charset="0"/>
                </a:endParaRPr>
              </a:p>
              <a:p>
                <a:pPr marL="0" indent="0">
                  <a:buNone/>
                </a:pPr>
                <a:r>
                  <a:rPr lang="en-US" sz="1600" dirty="0"/>
                  <a:t>Terminologies used and sequence:</a:t>
                </a:r>
              </a:p>
              <a:p>
                <a:pPr marL="301752" lvl="1" indent="0">
                  <a:buNone/>
                </a:pPr>
                <a:r>
                  <a:rPr lang="en-US" sz="1600" dirty="0"/>
                  <a:t>s : current state</a:t>
                </a:r>
              </a:p>
              <a:p>
                <a:pPr marL="301752" lvl="1" indent="0">
                  <a:buNone/>
                </a:pPr>
                <a:r>
                  <a:rPr lang="en-US" sz="1600" dirty="0"/>
                  <a:t>a : current action</a:t>
                </a:r>
              </a:p>
              <a:p>
                <a:pPr marL="301752" lvl="1" indent="0">
                  <a:buNone/>
                </a:pPr>
                <a:r>
                  <a:rPr lang="en-US" sz="1600" dirty="0"/>
                  <a:t>s’ : state you get to after taking the action</a:t>
                </a:r>
              </a:p>
              <a:p>
                <a:pPr marL="301752" lvl="1" indent="0">
                  <a:buNone/>
                </a:pPr>
                <a:r>
                  <a:rPr lang="en-US" sz="1600" dirty="0"/>
                  <a:t>a’ : action you take in the state s’</a:t>
                </a:r>
                <a:endParaRPr lang="en-US" sz="1800" dirty="0"/>
              </a:p>
              <a:p>
                <a:endParaRPr lang="en-US" sz="1800" dirty="0"/>
              </a:p>
              <a:p>
                <a:pPr marL="0" indent="0">
                  <a:buNone/>
                </a:pPr>
                <a:endParaRPr lang="en-US" sz="1800" dirty="0"/>
              </a:p>
              <a:p>
                <a:endParaRPr lang="en-US" sz="1800" dirty="0"/>
              </a:p>
              <a:p>
                <a:pPr lvl="1"/>
                <a:endParaRPr lang="en-US" sz="1800" dirty="0"/>
              </a:p>
              <a:p>
                <a:pPr lvl="1"/>
                <a:endParaRPr lang="en-US" sz="1800" dirty="0"/>
              </a:p>
              <a:p>
                <a:endParaRPr lang="en-US" sz="1400" dirty="0"/>
              </a:p>
            </p:txBody>
          </p:sp>
        </mc:Choice>
        <mc:Fallback xmlns="">
          <p:sp>
            <p:nvSpPr>
              <p:cNvPr id="5" name="Content Placeholder 2">
                <a:extLst>
                  <a:ext uri="{FF2B5EF4-FFF2-40B4-BE49-F238E27FC236}">
                    <a16:creationId xmlns:a16="http://schemas.microsoft.com/office/drawing/2014/main" id="{CE4F893B-FAFA-EF4F-8E17-A0C4F7C3C8C4}"/>
                  </a:ext>
                </a:extLst>
              </p:cNvPr>
              <p:cNvSpPr txBox="1">
                <a:spLocks noRot="1" noChangeAspect="1" noMove="1" noResize="1" noEditPoints="1" noAdjustHandles="1" noChangeArrowheads="1" noChangeShapeType="1" noTextEdit="1"/>
              </p:cNvSpPr>
              <p:nvPr/>
            </p:nvSpPr>
            <p:spPr>
              <a:xfrm>
                <a:off x="1469308" y="1597085"/>
                <a:ext cx="8956566" cy="5260915"/>
              </a:xfrm>
              <a:prstGeom prst="rect">
                <a:avLst/>
              </a:prstGeom>
              <a:blipFill>
                <a:blip r:embed="rId3"/>
                <a:stretch>
                  <a:fillRect l="-408" t="-1159"/>
                </a:stretch>
              </a:blipFill>
            </p:spPr>
            <p:txBody>
              <a:bodyPr/>
              <a:lstStyle/>
              <a:p>
                <a:r>
                  <a:rPr lang="en-US">
                    <a:noFill/>
                  </a:rPr>
                  <a:t> </a:t>
                </a:r>
              </a:p>
            </p:txBody>
          </p:sp>
        </mc:Fallback>
      </mc:AlternateContent>
    </p:spTree>
    <p:extLst>
      <p:ext uri="{BB962C8B-B14F-4D97-AF65-F5344CB8AC3E}">
        <p14:creationId xmlns:p14="http://schemas.microsoft.com/office/powerpoint/2010/main" val="33588181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Overall flow of the Q-Learning algorithm</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597177" y="1981366"/>
            <a:ext cx="4017092" cy="3461747"/>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endParaRPr lang="en-US" sz="1800" b="0" i="1" dirty="0">
              <a:latin typeface="Cambria Math" panose="02040503050406030204" pitchFamily="18" charset="0"/>
            </a:endParaRPr>
          </a:p>
          <a:p>
            <a:r>
              <a:rPr lang="en-US" sz="1800" dirty="0"/>
              <a:t>Initially, the agent randomly picks actions.</a:t>
            </a:r>
          </a:p>
          <a:p>
            <a:r>
              <a:rPr lang="en-US" sz="1800" dirty="0"/>
              <a:t>But as the agent interacts with the environment, it learns which actions are better, based on rewards that it obtains.. </a:t>
            </a:r>
          </a:p>
          <a:p>
            <a:r>
              <a:rPr lang="en-US" sz="1800" dirty="0"/>
              <a:t>It uses this experience to incrementally update the Q values. </a:t>
            </a:r>
          </a:p>
        </p:txBody>
      </p:sp>
      <p:pic>
        <p:nvPicPr>
          <p:cNvPr id="3" name="Picture 2" descr="A math equations and numbers&#10;&#10;Description automatically generated with medium confidence">
            <a:extLst>
              <a:ext uri="{FF2B5EF4-FFF2-40B4-BE49-F238E27FC236}">
                <a16:creationId xmlns:a16="http://schemas.microsoft.com/office/drawing/2014/main" id="{6D83D03D-919B-47ED-530D-17CAA3A63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4610" y="1981366"/>
            <a:ext cx="6240197" cy="3640115"/>
          </a:xfrm>
          <a:prstGeom prst="rect">
            <a:avLst/>
          </a:prstGeom>
        </p:spPr>
      </p:pic>
    </p:spTree>
    <p:extLst>
      <p:ext uri="{BB962C8B-B14F-4D97-AF65-F5344CB8AC3E}">
        <p14:creationId xmlns:p14="http://schemas.microsoft.com/office/powerpoint/2010/main" val="26117133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4FFF-B836-EB94-9D34-90357AC4C174}"/>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E350C751-1244-1C09-C55E-3E9C3C7B29E1}"/>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Let us do an exercise to understand the concept</a:t>
            </a:r>
          </a:p>
        </p:txBody>
      </p:sp>
      <p:pic>
        <p:nvPicPr>
          <p:cNvPr id="2" name="Picture 1">
            <a:extLst>
              <a:ext uri="{FF2B5EF4-FFF2-40B4-BE49-F238E27FC236}">
                <a16:creationId xmlns:a16="http://schemas.microsoft.com/office/drawing/2014/main" id="{5307F083-81F3-5176-861C-A5B0FE496F50}"/>
              </a:ext>
            </a:extLst>
          </p:cNvPr>
          <p:cNvPicPr>
            <a:picLocks noChangeAspect="1"/>
          </p:cNvPicPr>
          <p:nvPr/>
        </p:nvPicPr>
        <p:blipFill>
          <a:blip r:embed="rId3"/>
          <a:stretch>
            <a:fillRect/>
          </a:stretch>
        </p:blipFill>
        <p:spPr>
          <a:xfrm>
            <a:off x="5244972" y="1995868"/>
            <a:ext cx="4998691" cy="3216212"/>
          </a:xfrm>
          <a:prstGeom prst="rect">
            <a:avLst/>
          </a:prstGeom>
        </p:spPr>
      </p:pic>
      <p:sp>
        <p:nvSpPr>
          <p:cNvPr id="4" name="TextBox 3">
            <a:extLst>
              <a:ext uri="{FF2B5EF4-FFF2-40B4-BE49-F238E27FC236}">
                <a16:creationId xmlns:a16="http://schemas.microsoft.com/office/drawing/2014/main" id="{65403499-C5F6-AF5A-7632-EF8423187088}"/>
              </a:ext>
            </a:extLst>
          </p:cNvPr>
          <p:cNvSpPr txBox="1"/>
          <p:nvPr/>
        </p:nvSpPr>
        <p:spPr>
          <a:xfrm>
            <a:off x="666883" y="1691066"/>
            <a:ext cx="4108532" cy="50783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Actions, Terminal state and Rewards:</a:t>
            </a:r>
          </a:p>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a:p>
            <a:pPr marL="0" marR="0" indent="0" algn="l" defTabSz="914400" rtl="0" fontAlgn="auto" latinLnBrk="0" hangingPunct="0">
              <a:lnSpc>
                <a:spcPct val="100000"/>
              </a:lnSpc>
              <a:spcBef>
                <a:spcPts val="0"/>
              </a:spcBef>
              <a:spcAft>
                <a:spcPts val="0"/>
              </a:spcAft>
              <a:buClrTx/>
              <a:buSzTx/>
              <a:buFontTx/>
              <a:buNone/>
              <a:tabLst/>
            </a:pPr>
            <a:r>
              <a:rPr lang="en-US" dirty="0"/>
              <a:t>-    </a:t>
            </a:r>
            <a:r>
              <a:rPr kumimoji="0" lang="en-US" sz="1800" b="0" i="0" u="none" strike="noStrike" cap="none" spc="0" normalizeH="0" baseline="0" dirty="0">
                <a:ln>
                  <a:noFill/>
                </a:ln>
                <a:solidFill>
                  <a:srgbClr val="000000"/>
                </a:solidFill>
                <a:effectLst/>
                <a:uFillTx/>
                <a:latin typeface="+mn-lt"/>
                <a:ea typeface="+mn-ea"/>
                <a:cs typeface="+mn-cs"/>
                <a:sym typeface="Corbel"/>
              </a:rPr>
              <a:t>Up, down, left, right</a:t>
            </a:r>
          </a:p>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a:p>
            <a:pPr marL="285750" marR="0" indent="-285750" algn="l" defTabSz="914400" rtl="0" fontAlgn="auto" latinLnBrk="0" hangingPunct="0">
              <a:lnSpc>
                <a:spcPct val="100000"/>
              </a:lnSpc>
              <a:spcBef>
                <a:spcPts val="0"/>
              </a:spcBef>
              <a:spcAft>
                <a:spcPts val="0"/>
              </a:spcAft>
              <a:buClrTx/>
              <a:buSzTx/>
              <a:buFontTx/>
              <a:buChar char="-"/>
              <a:tabLst/>
            </a:pPr>
            <a:r>
              <a:rPr lang="en-US" dirty="0"/>
              <a:t>If you hit the side walls you remain there</a:t>
            </a:r>
          </a:p>
          <a:p>
            <a:pPr marL="285750" marR="0" indent="-285750" algn="l" defTabSz="914400" rtl="0" fontAlgn="auto" latinLnBrk="0" hangingPunct="0">
              <a:lnSpc>
                <a:spcPct val="100000"/>
              </a:lnSpc>
              <a:spcBef>
                <a:spcPts val="0"/>
              </a:spcBef>
              <a:spcAft>
                <a:spcPts val="0"/>
              </a:spcAft>
              <a:buClrTx/>
              <a:buSzTx/>
              <a:buFontTx/>
              <a:buChar char="-"/>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a:p>
            <a:pPr marL="285750" marR="0" indent="-285750" algn="l" defTabSz="914400" rtl="0" fontAlgn="auto" latinLnBrk="0" hangingPunct="0">
              <a:lnSpc>
                <a:spcPct val="100000"/>
              </a:lnSpc>
              <a:spcBef>
                <a:spcPts val="0"/>
              </a:spcBef>
              <a:spcAft>
                <a:spcPts val="0"/>
              </a:spcAft>
              <a:buClrTx/>
              <a:buSzTx/>
              <a:buFontTx/>
              <a:buChar char="-"/>
              <a:tabLst/>
            </a:pPr>
            <a:r>
              <a:rPr kumimoji="0" lang="en-US" sz="1800" b="0" i="0" u="none" strike="noStrike" cap="none" spc="0" normalizeH="0" baseline="0" dirty="0">
                <a:ln>
                  <a:noFill/>
                </a:ln>
                <a:solidFill>
                  <a:srgbClr val="000000"/>
                </a:solidFill>
                <a:effectLst/>
                <a:uFillTx/>
                <a:latin typeface="+mn-lt"/>
                <a:ea typeface="+mn-ea"/>
                <a:cs typeface="+mn-cs"/>
                <a:sym typeface="Corbel"/>
              </a:rPr>
              <a:t>Episode end when goal is reached or 10 moves are made</a:t>
            </a:r>
          </a:p>
          <a:p>
            <a:pPr marL="285750" marR="0" indent="-285750" algn="l" defTabSz="914400" rtl="0" fontAlgn="auto" latinLnBrk="0" hangingPunct="0">
              <a:lnSpc>
                <a:spcPct val="100000"/>
              </a:lnSpc>
              <a:spcBef>
                <a:spcPts val="0"/>
              </a:spcBef>
              <a:spcAft>
                <a:spcPts val="0"/>
              </a:spcAft>
              <a:buClrTx/>
              <a:buSzTx/>
              <a:buFontTx/>
              <a:buChar char="-"/>
              <a:tabLst/>
            </a:pPr>
            <a:endParaRPr lang="en-US" dirty="0"/>
          </a:p>
          <a:p>
            <a:pPr marL="285750" marR="0" indent="-285750" algn="l" defTabSz="914400" rtl="0" fontAlgn="auto" latinLnBrk="0" hangingPunct="0">
              <a:lnSpc>
                <a:spcPct val="100000"/>
              </a:lnSpc>
              <a:spcBef>
                <a:spcPts val="0"/>
              </a:spcBef>
              <a:spcAft>
                <a:spcPts val="0"/>
              </a:spcAft>
              <a:buClrTx/>
              <a:buSzTx/>
              <a:buFontTx/>
              <a:buChar char="-"/>
              <a:tabLst/>
            </a:pPr>
            <a:r>
              <a:rPr kumimoji="0" lang="en-US" sz="1800" b="0" i="0" u="none" strike="noStrike" cap="none" spc="0" normalizeH="0" baseline="0" dirty="0">
                <a:ln>
                  <a:noFill/>
                </a:ln>
                <a:solidFill>
                  <a:srgbClr val="000000"/>
                </a:solidFill>
                <a:effectLst/>
                <a:uFillTx/>
                <a:latin typeface="+mn-lt"/>
                <a:ea typeface="+mn-ea"/>
                <a:cs typeface="+mn-cs"/>
                <a:sym typeface="Corbel"/>
              </a:rPr>
              <a:t>Rewards: 0 in all states except goal and dangerous state</a:t>
            </a:r>
          </a:p>
          <a:p>
            <a:pPr marL="285750" marR="0" indent="-285750" algn="l" defTabSz="914400" rtl="0" fontAlgn="auto" latinLnBrk="0" hangingPunct="0">
              <a:lnSpc>
                <a:spcPct val="100000"/>
              </a:lnSpc>
              <a:spcBef>
                <a:spcPts val="0"/>
              </a:spcBef>
              <a:spcAft>
                <a:spcPts val="0"/>
              </a:spcAft>
              <a:buClrTx/>
              <a:buSzTx/>
              <a:buFontTx/>
              <a:buChar char="-"/>
              <a:tabLst/>
            </a:pPr>
            <a:endParaRPr lang="en-US" dirty="0"/>
          </a:p>
          <a:p>
            <a:pPr marL="285750" marR="0" indent="-285750" algn="l" defTabSz="914400" rtl="0" fontAlgn="auto" latinLnBrk="0" hangingPunct="0">
              <a:lnSpc>
                <a:spcPct val="100000"/>
              </a:lnSpc>
              <a:spcBef>
                <a:spcPts val="0"/>
              </a:spcBef>
              <a:spcAft>
                <a:spcPts val="0"/>
              </a:spcAft>
              <a:buClrTx/>
              <a:buSzTx/>
              <a:buFontTx/>
              <a:buChar char="-"/>
              <a:tabLst/>
            </a:pPr>
            <a:r>
              <a:rPr kumimoji="0" lang="en-US" sz="1800" b="0" i="0" u="none" strike="noStrike" cap="none" spc="0" normalizeH="0" baseline="0" dirty="0">
                <a:ln>
                  <a:noFill/>
                </a:ln>
                <a:solidFill>
                  <a:srgbClr val="000000"/>
                </a:solidFill>
                <a:effectLst/>
                <a:uFillTx/>
                <a:latin typeface="+mn-lt"/>
                <a:ea typeface="+mn-ea"/>
                <a:cs typeface="+mn-cs"/>
                <a:sym typeface="Corbel"/>
              </a:rPr>
              <a:t>Gamma = 0.5, alpha = 0.5</a:t>
            </a:r>
          </a:p>
          <a:p>
            <a:pPr marL="285750" marR="0" indent="-285750" algn="l" defTabSz="914400" rtl="0" fontAlgn="auto" latinLnBrk="0" hangingPunct="0">
              <a:lnSpc>
                <a:spcPct val="100000"/>
              </a:lnSpc>
              <a:spcBef>
                <a:spcPts val="0"/>
              </a:spcBef>
              <a:spcAft>
                <a:spcPts val="0"/>
              </a:spcAft>
              <a:buClrTx/>
              <a:buSzTx/>
              <a:buFontTx/>
              <a:buChar char="-"/>
              <a:tabLst/>
            </a:pPr>
            <a:endParaRPr lang="en-US" dirty="0"/>
          </a:p>
          <a:p>
            <a:pPr marL="285750" marR="0" indent="-285750" algn="l" defTabSz="914400" rtl="0" fontAlgn="auto" latinLnBrk="0" hangingPunct="0">
              <a:lnSpc>
                <a:spcPct val="100000"/>
              </a:lnSpc>
              <a:spcBef>
                <a:spcPts val="0"/>
              </a:spcBef>
              <a:spcAft>
                <a:spcPts val="0"/>
              </a:spcAft>
              <a:buClrTx/>
              <a:buSzTx/>
              <a:buFontTx/>
              <a:buChar char="-"/>
              <a:tabLst/>
            </a:pPr>
            <a:r>
              <a:rPr lang="en-US" dirty="0"/>
              <a:t>We shall d</a:t>
            </a:r>
            <a:r>
              <a:rPr kumimoji="0" lang="en-US" sz="1800" b="0" i="0" u="none" strike="noStrike" cap="none" spc="0" normalizeH="0" baseline="0" dirty="0">
                <a:ln>
                  <a:noFill/>
                </a:ln>
                <a:solidFill>
                  <a:srgbClr val="000000"/>
                </a:solidFill>
                <a:effectLst/>
                <a:uFillTx/>
                <a:latin typeface="+mn-lt"/>
                <a:ea typeface="+mn-ea"/>
                <a:cs typeface="+mn-cs"/>
                <a:sym typeface="Corbel"/>
              </a:rPr>
              <a:t>o 2 episodes </a:t>
            </a:r>
          </a:p>
          <a:p>
            <a:pPr lvl="1" indent="0"/>
            <a:r>
              <a:rPr lang="en-US" dirty="0"/>
              <a:t>	</a:t>
            </a:r>
            <a:r>
              <a:rPr kumimoji="0" lang="en-US" b="0" i="0" u="none" strike="noStrike" cap="none" spc="0" normalizeH="0" baseline="0" dirty="0">
                <a:ln>
                  <a:noFill/>
                </a:ln>
                <a:solidFill>
                  <a:srgbClr val="000000"/>
                </a:solidFill>
                <a:effectLst/>
                <a:uFillTx/>
                <a:latin typeface="+mn-lt"/>
                <a:ea typeface="+mn-ea"/>
                <a:cs typeface="+mn-cs"/>
                <a:sym typeface="Corbel"/>
              </a:rPr>
              <a:t>a) R-R-D-D</a:t>
            </a:r>
          </a:p>
          <a:p>
            <a:pPr lvl="1" indent="0"/>
            <a:r>
              <a:rPr lang="en-US" dirty="0"/>
              <a:t>	b) D-R-D-R</a:t>
            </a:r>
            <a:endParaRPr kumimoji="0" lang="en-US" b="0" i="0" u="none" strike="noStrike" cap="none" spc="0" normalizeH="0" baseline="0" dirty="0">
              <a:ln>
                <a:noFill/>
              </a:ln>
              <a:solidFill>
                <a:srgbClr val="000000"/>
              </a:solidFill>
              <a:effectLst/>
              <a:uFillTx/>
              <a:latin typeface="+mn-lt"/>
              <a:ea typeface="+mn-ea"/>
              <a:cs typeface="+mn-cs"/>
              <a:sym typeface="Corbel"/>
            </a:endParaRPr>
          </a:p>
        </p:txBody>
      </p:sp>
      <p:cxnSp>
        <p:nvCxnSpPr>
          <p:cNvPr id="5" name="Straight Connector 4">
            <a:extLst>
              <a:ext uri="{FF2B5EF4-FFF2-40B4-BE49-F238E27FC236}">
                <a16:creationId xmlns:a16="http://schemas.microsoft.com/office/drawing/2014/main" id="{CB252CD6-EFB0-B377-DFA8-AD3A054DF65F}"/>
              </a:ext>
            </a:extLst>
          </p:cNvPr>
          <p:cNvCxnSpPr/>
          <p:nvPr/>
        </p:nvCxnSpPr>
        <p:spPr>
          <a:xfrm>
            <a:off x="5244972" y="2397211"/>
            <a:ext cx="1217612" cy="2347784"/>
          </a:xfrm>
          <a:prstGeom prst="line">
            <a:avLst/>
          </a:prstGeom>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29632C84-5374-2D58-A9A2-1932C6977B80}"/>
              </a:ext>
            </a:extLst>
          </p:cNvPr>
          <p:cNvCxnSpPr/>
          <p:nvPr/>
        </p:nvCxnSpPr>
        <p:spPr>
          <a:xfrm flipH="1">
            <a:off x="5244972" y="2421924"/>
            <a:ext cx="1205255" cy="2335427"/>
          </a:xfrm>
          <a:prstGeom prst="line">
            <a:avLst/>
          </a:prstGeom>
          <a:ln/>
        </p:spPr>
        <p:style>
          <a:lnRef idx="1">
            <a:schemeClr val="dk1"/>
          </a:lnRef>
          <a:fillRef idx="0">
            <a:schemeClr val="dk1"/>
          </a:fillRef>
          <a:effectRef idx="0">
            <a:schemeClr val="dk1"/>
          </a:effectRef>
          <a:fontRef idx="minor">
            <a:schemeClr val="tx1"/>
          </a:fontRef>
        </p:style>
      </p:cxnSp>
      <p:sp>
        <p:nvSpPr>
          <p:cNvPr id="9" name="5-Point Star 8">
            <a:extLst>
              <a:ext uri="{FF2B5EF4-FFF2-40B4-BE49-F238E27FC236}">
                <a16:creationId xmlns:a16="http://schemas.microsoft.com/office/drawing/2014/main" id="{CBE1E690-2D4E-A917-09EA-991405130465}"/>
              </a:ext>
            </a:extLst>
          </p:cNvPr>
          <p:cNvSpPr/>
          <p:nvPr/>
        </p:nvSpPr>
        <p:spPr>
          <a:xfrm>
            <a:off x="6932141" y="2619632"/>
            <a:ext cx="222421" cy="259492"/>
          </a:xfrm>
          <a:prstGeom prst="star5">
            <a:avLst/>
          </a:prstGeom>
          <a:solidFill>
            <a:schemeClr val="tx1"/>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effectLst/>
              <a:uFillTx/>
              <a:latin typeface="+mn-lt"/>
              <a:ea typeface="+mn-ea"/>
              <a:cs typeface="+mn-cs"/>
              <a:sym typeface="Corbel"/>
            </a:endParaRPr>
          </a:p>
        </p:txBody>
      </p:sp>
    </p:spTree>
    <p:extLst>
      <p:ext uri="{BB962C8B-B14F-4D97-AF65-F5344CB8AC3E}">
        <p14:creationId xmlns:p14="http://schemas.microsoft.com/office/powerpoint/2010/main" val="135749927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47509B-525A-CD1B-6281-8EB9DABC8435}"/>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44A2B03-9A52-27C2-B0BF-A8A4BAB95995}"/>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Calculations Episodes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3CEBE1F-C734-5481-B7C0-6CDD206DD3AF}"/>
                  </a:ext>
                </a:extLst>
              </p:cNvPr>
              <p:cNvSpPr txBox="1"/>
              <p:nvPr/>
            </p:nvSpPr>
            <p:spPr>
              <a:xfrm>
                <a:off x="517838" y="1675123"/>
                <a:ext cx="5709968" cy="4392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a:buNone/>
                </a:pPr>
                <a:r>
                  <a:rPr lang="en-US" sz="1400" b="1" dirty="0">
                    <a:effectLst/>
                    <a:latin typeface="+mn-lt"/>
                  </a:rPr>
                  <a:t>Episode 1: Path Directly to Goal via Danger Cell</a:t>
                </a:r>
              </a:p>
              <a:p>
                <a:pPr marL="0" marR="0">
                  <a:buNone/>
                </a:pPr>
                <a:r>
                  <a:rPr lang="en-US" sz="1400" dirty="0">
                    <a:effectLst/>
                    <a:latin typeface="+mn-lt"/>
                  </a:rPr>
                  <a:t>Suppose an exploratory path moves: </a:t>
                </a:r>
                <a:r>
                  <a:rPr lang="en-US" sz="1400" b="1" dirty="0">
                    <a:effectLst/>
                    <a:latin typeface="+mn-lt"/>
                  </a:rPr>
                  <a:t>Right </a:t>
                </a:r>
                <a14:m>
                  <m:oMath xmlns:m="http://schemas.openxmlformats.org/officeDocument/2006/math">
                    <m:r>
                      <a:rPr lang="en-US" sz="1400" smtClean="0">
                        <a:latin typeface="Cambria Math" panose="02040503050406030204" pitchFamily="18" charset="0"/>
                      </a:rPr>
                      <m:t>→</m:t>
                    </m:r>
                    <m:r>
                      <a:rPr lang="en-US" sz="1400" b="1" i="0" smtClean="0">
                        <a:latin typeface="Cambria Math" panose="02040503050406030204" pitchFamily="18" charset="0"/>
                      </a:rPr>
                      <m:t>𝐑𝐢𝐠𝐡𝐭</m:t>
                    </m:r>
                    <m:r>
                      <a:rPr lang="en-US" sz="1400" b="1" i="0" smtClean="0">
                        <a:latin typeface="Cambria Math" panose="02040503050406030204" pitchFamily="18" charset="0"/>
                      </a:rPr>
                      <m:t> →</m:t>
                    </m:r>
                  </m:oMath>
                </a14:m>
                <a:r>
                  <a:rPr lang="en-US" sz="1400" b="1" dirty="0">
                    <a:effectLst/>
                    <a:latin typeface="+mn-lt"/>
                  </a:rPr>
                  <a:t>Down </a:t>
                </a:r>
                <a14:m>
                  <m:oMath xmlns:m="http://schemas.openxmlformats.org/officeDocument/2006/math">
                    <m:r>
                      <a:rPr lang="en-US" sz="1400" smtClean="0">
                        <a:latin typeface="Cambria Math" panose="02040503050406030204" pitchFamily="18" charset="0"/>
                      </a:rPr>
                      <m:t>→</m:t>
                    </m:r>
                  </m:oMath>
                </a14:m>
                <a:r>
                  <a:rPr lang="en-US" sz="1400" b="1" dirty="0">
                    <a:effectLst/>
                    <a:latin typeface="+mn-lt"/>
                  </a:rPr>
                  <a:t>Down</a:t>
                </a:r>
              </a:p>
              <a:p>
                <a:pPr marL="0" marR="0">
                  <a:buNone/>
                </a:pPr>
                <a:endParaRPr lang="en-US" sz="1400" dirty="0">
                  <a:effectLst/>
                  <a:latin typeface="+mn-lt"/>
                </a:endParaRPr>
              </a:p>
              <a:p>
                <a:pPr marR="0" lvl="0"/>
                <a:r>
                  <a:rPr lang="en-US" sz="1400" b="1" dirty="0">
                    <a:effectLst/>
                    <a:latin typeface="+mn-lt"/>
                  </a:rPr>
                  <a:t>Step 1:</a:t>
                </a:r>
                <a:r>
                  <a:rPr lang="en-US" sz="1400" dirty="0">
                    <a:effectLst/>
                    <a:latin typeface="+mn-lt"/>
                  </a:rPr>
                  <a:t> From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0,1</m:t>
                        </m:r>
                      </m:e>
                    </m:d>
                  </m:oMath>
                </a14:m>
                <a:r>
                  <a:rPr lang="en-US" sz="1400" dirty="0">
                    <a:effectLst/>
                    <a:latin typeface="+mn-lt"/>
                  </a:rPr>
                  <a:t>, take action </a:t>
                </a:r>
                <a:r>
                  <a:rPr lang="en-US" sz="1400" b="1" dirty="0">
                    <a:effectLst/>
                    <a:latin typeface="+mn-lt"/>
                  </a:rPr>
                  <a:t>Right</a:t>
                </a:r>
                <a:r>
                  <a:rPr lang="en-US" sz="1400" dirty="0">
                    <a:effectLst/>
                    <a:latin typeface="+mn-lt"/>
                  </a:rPr>
                  <a:t> to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0,2</m:t>
                        </m:r>
                      </m:e>
                    </m:d>
                  </m:oMath>
                </a14:m>
                <a:r>
                  <a:rPr lang="en-US" sz="1400" dirty="0">
                    <a:effectLst/>
                    <a:latin typeface="+mn-lt"/>
                  </a:rPr>
                  <a:t>:</a:t>
                </a: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𝑅</m:t>
                    </m:r>
                    <m:r>
                      <a:rPr lang="en-US" sz="1400" i="0">
                        <a:latin typeface="Cambria Math" panose="02040503050406030204" pitchFamily="18" charset="0"/>
                      </a:rPr>
                      <m:t>=0</m:t>
                    </m:r>
                  </m:oMath>
                </a14:m>
                <a:r>
                  <a:rPr lang="en-US" sz="1400" dirty="0">
                    <a:effectLst/>
                    <a:latin typeface="+mn-lt"/>
                  </a:rPr>
                  <a:t>, </a:t>
                </a:r>
                <a14:m>
                  <m:oMath xmlns:m="http://schemas.openxmlformats.org/officeDocument/2006/math">
                    <m:func>
                      <m:funcPr>
                        <m:ctrlPr>
                          <a:rPr lang="en-US" sz="1400" i="1">
                            <a:latin typeface="Cambria Math" panose="02040503050406030204" pitchFamily="18" charset="0"/>
                          </a:rPr>
                        </m:ctrlPr>
                      </m:funcPr>
                      <m:fName>
                        <m:limLow>
                          <m:limLowPr>
                            <m:ctrlPr>
                              <a:rPr lang="en-US" sz="1400" i="0">
                                <a:latin typeface="Cambria Math" panose="02040503050406030204" pitchFamily="18" charset="0"/>
                              </a:rPr>
                            </m:ctrlPr>
                          </m:limLowPr>
                          <m:e>
                            <m:r>
                              <m:rPr>
                                <m:sty m:val="p"/>
                              </m:rPr>
                              <a:rPr lang="en-US" sz="1400" i="0">
                                <a:latin typeface="Cambria Math" panose="02040503050406030204" pitchFamily="18" charset="0"/>
                              </a:rPr>
                              <m:t>max</m:t>
                            </m:r>
                          </m:e>
                          <m:lim>
                            <m:r>
                              <a:rPr lang="en-US" sz="1400" i="1">
                                <a:latin typeface="Cambria Math" panose="02040503050406030204" pitchFamily="18" charset="0"/>
                              </a:rPr>
                              <m:t>𝑎</m:t>
                            </m:r>
                            <m:r>
                              <a:rPr lang="en-US" sz="1400" i="0">
                                <a:latin typeface="Cambria Math" panose="02040503050406030204" pitchFamily="18" charset="0"/>
                              </a:rPr>
                              <m:t>′</m:t>
                            </m:r>
                          </m:lim>
                        </m:limLow>
                      </m:fName>
                      <m:e>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i="0">
                                    <a:latin typeface="Cambria Math" panose="02040503050406030204" pitchFamily="18" charset="0"/>
                                  </a:rPr>
                                </m:ctrlPr>
                              </m:dPr>
                              <m:e>
                                <m:r>
                                  <a:rPr lang="en-US" sz="1400" i="0">
                                    <a:latin typeface="Cambria Math" panose="02040503050406030204" pitchFamily="18" charset="0"/>
                                  </a:rPr>
                                  <m:t>0,2</m:t>
                                </m:r>
                              </m:e>
                            </m:d>
                            <m:r>
                              <a:rPr lang="en-US" sz="1400" i="0">
                                <a:latin typeface="Cambria Math" panose="02040503050406030204" pitchFamily="18" charset="0"/>
                              </a:rPr>
                              <m:t>,</m:t>
                            </m:r>
                            <m:r>
                              <a:rPr lang="en-US" sz="1400" i="1">
                                <a:latin typeface="Cambria Math" panose="02040503050406030204" pitchFamily="18" charset="0"/>
                              </a:rPr>
                              <m:t>𝑎</m:t>
                            </m:r>
                            <m:r>
                              <a:rPr lang="en-US" sz="1400" i="0">
                                <a:latin typeface="Cambria Math" panose="02040503050406030204" pitchFamily="18" charset="0"/>
                              </a:rPr>
                              <m:t>′)=0</m:t>
                            </m:r>
                          </m:e>
                        </m:d>
                      </m:e>
                    </m:func>
                  </m:oMath>
                </a14:m>
                <a:endParaRPr lang="en-US" sz="1400" dirty="0">
                  <a:effectLst/>
                  <a:latin typeface="+mn-lt"/>
                </a:endParaRP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𝑄</m:t>
                    </m:r>
                    <m:d>
                      <m:dPr>
                        <m:ctrlPr>
                          <a:rPr lang="en-US" sz="1400" i="1">
                            <a:latin typeface="Cambria Math" panose="02040503050406030204" pitchFamily="18" charset="0"/>
                          </a:rPr>
                        </m:ctrlPr>
                      </m:dPr>
                      <m:e>
                        <m:d>
                          <m:dPr>
                            <m:ctrlPr>
                              <a:rPr lang="en-US" sz="1400" i="0">
                                <a:latin typeface="Cambria Math" panose="02040503050406030204" pitchFamily="18" charset="0"/>
                              </a:rPr>
                            </m:ctrlPr>
                          </m:dPr>
                          <m:e>
                            <m:r>
                              <a:rPr lang="en-US" sz="1400" i="0">
                                <a:latin typeface="Cambria Math" panose="02040503050406030204" pitchFamily="18" charset="0"/>
                              </a:rPr>
                              <m:t>0,1</m:t>
                            </m:r>
                          </m:e>
                        </m:d>
                        <m:r>
                          <a:rPr lang="en-US" sz="1400" i="0">
                            <a:latin typeface="Cambria Math" panose="02040503050406030204" pitchFamily="18" charset="0"/>
                          </a:rPr>
                          <m:t>,</m:t>
                        </m:r>
                        <m:r>
                          <m:rPr>
                            <m:nor/>
                          </m:rPr>
                          <a:rPr lang="en-US" sz="1400" i="0">
                            <a:latin typeface="+mn-lt"/>
                          </a:rPr>
                          <m:t>Right</m:t>
                        </m:r>
                      </m:e>
                    </m:d>
                    <m:r>
                      <a:rPr lang="en-US" sz="1400" i="0">
                        <a:latin typeface="Cambria Math" panose="02040503050406030204" pitchFamily="18" charset="0"/>
                      </a:rPr>
                      <m:t>←0+0.5</m:t>
                    </m:r>
                    <m:d>
                      <m:dPr>
                        <m:begChr m:val="["/>
                        <m:endChr m:val="]"/>
                        <m:ctrlPr>
                          <a:rPr lang="en-US" sz="1400" i="0">
                            <a:latin typeface="Cambria Math" panose="02040503050406030204" pitchFamily="18" charset="0"/>
                          </a:rPr>
                        </m:ctrlPr>
                      </m:dPr>
                      <m:e>
                        <m:r>
                          <a:rPr lang="en-US" sz="1400" i="0">
                            <a:latin typeface="Cambria Math" panose="02040503050406030204" pitchFamily="18" charset="0"/>
                          </a:rPr>
                          <m:t>0+0.5</m:t>
                        </m:r>
                        <m:d>
                          <m:dPr>
                            <m:ctrlPr>
                              <a:rPr lang="en-US" sz="1400" i="0">
                                <a:latin typeface="Cambria Math" panose="02040503050406030204" pitchFamily="18" charset="0"/>
                              </a:rPr>
                            </m:ctrlPr>
                          </m:dPr>
                          <m:e>
                            <m:r>
                              <a:rPr lang="en-US" sz="1400" i="0">
                                <a:latin typeface="Cambria Math" panose="02040503050406030204" pitchFamily="18" charset="0"/>
                              </a:rPr>
                              <m:t>0</m:t>
                            </m:r>
                          </m:e>
                        </m:d>
                        <m:r>
                          <a:rPr lang="en-US" sz="1400" i="0">
                            <a:latin typeface="Cambria Math" panose="02040503050406030204" pitchFamily="18" charset="0"/>
                          </a:rPr>
                          <m:t>−0</m:t>
                        </m:r>
                      </m:e>
                    </m:d>
                    <m:r>
                      <a:rPr lang="en-US" sz="1400" i="0">
                        <a:latin typeface="Cambria Math" panose="02040503050406030204" pitchFamily="18" charset="0"/>
                      </a:rPr>
                      <m:t>=</m:t>
                    </m:r>
                    <m:r>
                      <a:rPr lang="en-US" sz="1400" b="1" i="0">
                        <a:latin typeface="Cambria Math" panose="02040503050406030204" pitchFamily="18" charset="0"/>
                      </a:rPr>
                      <m:t>𝟎</m:t>
                    </m:r>
                  </m:oMath>
                </a14:m>
                <a:endParaRPr lang="en-US" sz="1400" dirty="0">
                  <a:effectLst/>
                  <a:latin typeface="+mn-lt"/>
                </a:endParaRPr>
              </a:p>
              <a:p>
                <a:pPr marL="0" marR="0" lvl="1" indent="-285750">
                  <a:buFont typeface="+mj-lt"/>
                  <a:buAutoNum type="arabicPeriod"/>
                </a:pPr>
                <a:endParaRPr lang="en-US" sz="1400" dirty="0">
                  <a:effectLst/>
                  <a:latin typeface="+mn-lt"/>
                </a:endParaRPr>
              </a:p>
              <a:p>
                <a:pPr marR="0" lvl="0"/>
                <a:r>
                  <a:rPr lang="en-US" sz="1400" b="1" dirty="0">
                    <a:effectLst/>
                    <a:latin typeface="+mn-lt"/>
                  </a:rPr>
                  <a:t>Step 2:</a:t>
                </a:r>
                <a:r>
                  <a:rPr lang="en-US" sz="1400" dirty="0">
                    <a:effectLst/>
                    <a:latin typeface="+mn-lt"/>
                  </a:rPr>
                  <a:t> From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0,2</m:t>
                        </m:r>
                      </m:e>
                    </m:d>
                  </m:oMath>
                </a14:m>
                <a:r>
                  <a:rPr lang="en-US" sz="1400" dirty="0">
                    <a:effectLst/>
                    <a:latin typeface="+mn-lt"/>
                  </a:rPr>
                  <a:t>, take action </a:t>
                </a:r>
                <a:r>
                  <a:rPr lang="en-US" sz="1400" b="1" dirty="0">
                    <a:effectLst/>
                    <a:latin typeface="+mn-lt"/>
                  </a:rPr>
                  <a:t>Right</a:t>
                </a:r>
                <a:r>
                  <a:rPr lang="en-US" sz="1400" dirty="0">
                    <a:effectLst/>
                    <a:latin typeface="+mn-lt"/>
                  </a:rPr>
                  <a:t> to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0,3</m:t>
                        </m:r>
                      </m:e>
                    </m:d>
                  </m:oMath>
                </a14:m>
                <a:r>
                  <a:rPr lang="en-US" sz="1400" dirty="0">
                    <a:effectLst/>
                    <a:latin typeface="+mn-lt"/>
                  </a:rPr>
                  <a:t>:</a:t>
                </a: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𝑅</m:t>
                    </m:r>
                    <m:r>
                      <a:rPr lang="en-US" sz="1400" i="0">
                        <a:latin typeface="Cambria Math" panose="02040503050406030204" pitchFamily="18" charset="0"/>
                      </a:rPr>
                      <m:t>=0</m:t>
                    </m:r>
                  </m:oMath>
                </a14:m>
                <a:r>
                  <a:rPr lang="en-US" sz="1400" dirty="0">
                    <a:effectLst/>
                    <a:latin typeface="+mn-lt"/>
                  </a:rPr>
                  <a:t>, </a:t>
                </a:r>
                <a14:m>
                  <m:oMath xmlns:m="http://schemas.openxmlformats.org/officeDocument/2006/math">
                    <m:func>
                      <m:funcPr>
                        <m:ctrlPr>
                          <a:rPr lang="en-US" sz="1400" i="1">
                            <a:latin typeface="Cambria Math" panose="02040503050406030204" pitchFamily="18" charset="0"/>
                          </a:rPr>
                        </m:ctrlPr>
                      </m:funcPr>
                      <m:fName>
                        <m:limLow>
                          <m:limLowPr>
                            <m:ctrlPr>
                              <a:rPr lang="en-US" sz="1400" i="0">
                                <a:latin typeface="Cambria Math" panose="02040503050406030204" pitchFamily="18" charset="0"/>
                              </a:rPr>
                            </m:ctrlPr>
                          </m:limLowPr>
                          <m:e>
                            <m:r>
                              <m:rPr>
                                <m:sty m:val="p"/>
                              </m:rPr>
                              <a:rPr lang="en-US" sz="1400" i="0">
                                <a:latin typeface="Cambria Math" panose="02040503050406030204" pitchFamily="18" charset="0"/>
                              </a:rPr>
                              <m:t>max</m:t>
                            </m:r>
                          </m:e>
                          <m:lim>
                            <m:r>
                              <a:rPr lang="en-US" sz="1400" i="1">
                                <a:latin typeface="Cambria Math" panose="02040503050406030204" pitchFamily="18" charset="0"/>
                              </a:rPr>
                              <m:t>𝑎</m:t>
                            </m:r>
                            <m:r>
                              <a:rPr lang="en-US" sz="1400" i="0">
                                <a:latin typeface="Cambria Math" panose="02040503050406030204" pitchFamily="18" charset="0"/>
                              </a:rPr>
                              <m:t>′</m:t>
                            </m:r>
                          </m:lim>
                        </m:limLow>
                      </m:fName>
                      <m:e>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i="0">
                                    <a:latin typeface="Cambria Math" panose="02040503050406030204" pitchFamily="18" charset="0"/>
                                  </a:rPr>
                                </m:ctrlPr>
                              </m:dPr>
                              <m:e>
                                <m:r>
                                  <a:rPr lang="en-US" sz="1400" i="0">
                                    <a:latin typeface="Cambria Math" panose="02040503050406030204" pitchFamily="18" charset="0"/>
                                  </a:rPr>
                                  <m:t>0,3</m:t>
                                </m:r>
                              </m:e>
                            </m:d>
                            <m:r>
                              <a:rPr lang="en-US" sz="1400" i="0">
                                <a:latin typeface="Cambria Math" panose="02040503050406030204" pitchFamily="18" charset="0"/>
                              </a:rPr>
                              <m:t>,</m:t>
                            </m:r>
                            <m:r>
                              <a:rPr lang="en-US" sz="1400" i="1">
                                <a:latin typeface="Cambria Math" panose="02040503050406030204" pitchFamily="18" charset="0"/>
                              </a:rPr>
                              <m:t>𝑎</m:t>
                            </m:r>
                            <m:r>
                              <a:rPr lang="en-US" sz="1400" i="0">
                                <a:latin typeface="Cambria Math" panose="02040503050406030204" pitchFamily="18" charset="0"/>
                              </a:rPr>
                              <m:t>′)=0</m:t>
                            </m:r>
                          </m:e>
                        </m:d>
                      </m:e>
                    </m:func>
                  </m:oMath>
                </a14:m>
                <a:endParaRPr lang="en-US" sz="1400" dirty="0">
                  <a:effectLst/>
                  <a:latin typeface="+mn-lt"/>
                </a:endParaRP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𝑄</m:t>
                    </m:r>
                    <m:d>
                      <m:dPr>
                        <m:ctrlPr>
                          <a:rPr lang="en-US" sz="1400" i="1">
                            <a:latin typeface="Cambria Math" panose="02040503050406030204" pitchFamily="18" charset="0"/>
                          </a:rPr>
                        </m:ctrlPr>
                      </m:dPr>
                      <m:e>
                        <m:d>
                          <m:dPr>
                            <m:ctrlPr>
                              <a:rPr lang="en-US" sz="1400" i="0">
                                <a:latin typeface="Cambria Math" panose="02040503050406030204" pitchFamily="18" charset="0"/>
                              </a:rPr>
                            </m:ctrlPr>
                          </m:dPr>
                          <m:e>
                            <m:r>
                              <a:rPr lang="en-US" sz="1400" i="0">
                                <a:latin typeface="Cambria Math" panose="02040503050406030204" pitchFamily="18" charset="0"/>
                              </a:rPr>
                              <m:t>0,2</m:t>
                            </m:r>
                          </m:e>
                        </m:d>
                        <m:r>
                          <a:rPr lang="en-US" sz="1400" i="0">
                            <a:latin typeface="Cambria Math" panose="02040503050406030204" pitchFamily="18" charset="0"/>
                          </a:rPr>
                          <m:t>,</m:t>
                        </m:r>
                        <m:r>
                          <m:rPr>
                            <m:nor/>
                          </m:rPr>
                          <a:rPr lang="en-US" sz="1400" i="0">
                            <a:latin typeface="+mn-lt"/>
                          </a:rPr>
                          <m:t>Right</m:t>
                        </m:r>
                      </m:e>
                    </m:d>
                    <m:r>
                      <a:rPr lang="en-US" sz="1400" i="0">
                        <a:latin typeface="Cambria Math" panose="02040503050406030204" pitchFamily="18" charset="0"/>
                      </a:rPr>
                      <m:t>←0+0.5</m:t>
                    </m:r>
                    <m:d>
                      <m:dPr>
                        <m:begChr m:val="["/>
                        <m:endChr m:val="]"/>
                        <m:ctrlPr>
                          <a:rPr lang="en-US" sz="1400" i="0">
                            <a:latin typeface="Cambria Math" panose="02040503050406030204" pitchFamily="18" charset="0"/>
                          </a:rPr>
                        </m:ctrlPr>
                      </m:dPr>
                      <m:e>
                        <m:r>
                          <a:rPr lang="en-US" sz="1400" i="0">
                            <a:latin typeface="Cambria Math" panose="02040503050406030204" pitchFamily="18" charset="0"/>
                          </a:rPr>
                          <m:t>0+0.5</m:t>
                        </m:r>
                        <m:d>
                          <m:dPr>
                            <m:ctrlPr>
                              <a:rPr lang="en-US" sz="1400" i="0">
                                <a:latin typeface="Cambria Math" panose="02040503050406030204" pitchFamily="18" charset="0"/>
                              </a:rPr>
                            </m:ctrlPr>
                          </m:dPr>
                          <m:e>
                            <m:r>
                              <a:rPr lang="en-US" sz="1400" i="0">
                                <a:latin typeface="Cambria Math" panose="02040503050406030204" pitchFamily="18" charset="0"/>
                              </a:rPr>
                              <m:t>0</m:t>
                            </m:r>
                          </m:e>
                        </m:d>
                        <m:r>
                          <a:rPr lang="en-US" sz="1400" i="0">
                            <a:latin typeface="Cambria Math" panose="02040503050406030204" pitchFamily="18" charset="0"/>
                          </a:rPr>
                          <m:t>−0</m:t>
                        </m:r>
                      </m:e>
                    </m:d>
                    <m:r>
                      <a:rPr lang="en-US" sz="1400" i="0">
                        <a:latin typeface="Cambria Math" panose="02040503050406030204" pitchFamily="18" charset="0"/>
                      </a:rPr>
                      <m:t>=</m:t>
                    </m:r>
                    <m:r>
                      <a:rPr lang="en-US" sz="1400" b="1" i="0">
                        <a:latin typeface="Cambria Math" panose="02040503050406030204" pitchFamily="18" charset="0"/>
                      </a:rPr>
                      <m:t>𝟎</m:t>
                    </m:r>
                  </m:oMath>
                </a14:m>
                <a:endParaRPr lang="en-US" sz="1400" dirty="0">
                  <a:effectLst/>
                  <a:latin typeface="+mn-lt"/>
                </a:endParaRPr>
              </a:p>
              <a:p>
                <a:pPr marL="0" marR="0" lvl="1" indent="-285750">
                  <a:buFont typeface="+mj-lt"/>
                  <a:buAutoNum type="arabicPeriod"/>
                </a:pPr>
                <a:endParaRPr lang="en-US" sz="1400" dirty="0">
                  <a:effectLst/>
                  <a:latin typeface="+mn-lt"/>
                </a:endParaRPr>
              </a:p>
              <a:p>
                <a:pPr marR="0" lvl="0"/>
                <a:r>
                  <a:rPr lang="en-US" sz="1400" b="1" dirty="0">
                    <a:effectLst/>
                    <a:latin typeface="+mn-lt"/>
                  </a:rPr>
                  <a:t>Step 3:</a:t>
                </a:r>
                <a:r>
                  <a:rPr lang="en-US" sz="1400" dirty="0">
                    <a:effectLst/>
                    <a:latin typeface="+mn-lt"/>
                  </a:rPr>
                  <a:t> From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0,3</m:t>
                        </m:r>
                      </m:e>
                    </m:d>
                  </m:oMath>
                </a14:m>
                <a:r>
                  <a:rPr lang="en-US" sz="1400" dirty="0">
                    <a:effectLst/>
                    <a:latin typeface="+mn-lt"/>
                  </a:rPr>
                  <a:t>, take action </a:t>
                </a:r>
                <a:r>
                  <a:rPr lang="en-US" sz="1400" b="1" dirty="0">
                    <a:effectLst/>
                    <a:latin typeface="+mn-lt"/>
                  </a:rPr>
                  <a:t>Down</a:t>
                </a:r>
                <a:r>
                  <a:rPr lang="en-US" sz="1400" dirty="0">
                    <a:effectLst/>
                    <a:latin typeface="+mn-lt"/>
                  </a:rPr>
                  <a:t> to dangerous state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1,3</m:t>
                        </m:r>
                      </m:e>
                    </m:d>
                  </m:oMath>
                </a14:m>
                <a:r>
                  <a:rPr lang="en-US" sz="1400" dirty="0">
                    <a:effectLst/>
                    <a:latin typeface="+mn-lt"/>
                  </a:rPr>
                  <a:t>:</a:t>
                </a: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𝑅</m:t>
                    </m:r>
                    <m:r>
                      <a:rPr lang="en-US" sz="1400" i="0">
                        <a:latin typeface="Cambria Math" panose="02040503050406030204" pitchFamily="18" charset="0"/>
                      </a:rPr>
                      <m:t>=−5</m:t>
                    </m:r>
                  </m:oMath>
                </a14:m>
                <a:r>
                  <a:rPr lang="en-US" sz="1400" dirty="0">
                    <a:effectLst/>
                    <a:latin typeface="+mn-lt"/>
                  </a:rPr>
                  <a:t>, </a:t>
                </a:r>
                <a14:m>
                  <m:oMath xmlns:m="http://schemas.openxmlformats.org/officeDocument/2006/math">
                    <m:func>
                      <m:funcPr>
                        <m:ctrlPr>
                          <a:rPr lang="en-US" sz="1400" i="1">
                            <a:latin typeface="Cambria Math" panose="02040503050406030204" pitchFamily="18" charset="0"/>
                          </a:rPr>
                        </m:ctrlPr>
                      </m:funcPr>
                      <m:fName>
                        <m:limLow>
                          <m:limLowPr>
                            <m:ctrlPr>
                              <a:rPr lang="en-US" sz="1400" i="0">
                                <a:latin typeface="Cambria Math" panose="02040503050406030204" pitchFamily="18" charset="0"/>
                              </a:rPr>
                            </m:ctrlPr>
                          </m:limLowPr>
                          <m:e>
                            <m:r>
                              <m:rPr>
                                <m:sty m:val="p"/>
                              </m:rPr>
                              <a:rPr lang="en-US" sz="1400" i="0">
                                <a:latin typeface="Cambria Math" panose="02040503050406030204" pitchFamily="18" charset="0"/>
                              </a:rPr>
                              <m:t>max</m:t>
                            </m:r>
                          </m:e>
                          <m:lim>
                            <m:r>
                              <a:rPr lang="en-US" sz="1400" i="1">
                                <a:latin typeface="Cambria Math" panose="02040503050406030204" pitchFamily="18" charset="0"/>
                              </a:rPr>
                              <m:t>𝑎</m:t>
                            </m:r>
                            <m:r>
                              <a:rPr lang="en-US" sz="1400" i="0">
                                <a:latin typeface="Cambria Math" panose="02040503050406030204" pitchFamily="18" charset="0"/>
                              </a:rPr>
                              <m:t>′</m:t>
                            </m:r>
                          </m:lim>
                        </m:limLow>
                      </m:fName>
                      <m:e>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i="0">
                                    <a:latin typeface="Cambria Math" panose="02040503050406030204" pitchFamily="18" charset="0"/>
                                  </a:rPr>
                                </m:ctrlPr>
                              </m:dPr>
                              <m:e>
                                <m:r>
                                  <a:rPr lang="en-US" sz="1400" i="0">
                                    <a:latin typeface="Cambria Math" panose="02040503050406030204" pitchFamily="18" charset="0"/>
                                  </a:rPr>
                                  <m:t>1,3</m:t>
                                </m:r>
                              </m:e>
                            </m:d>
                            <m:r>
                              <a:rPr lang="en-US" sz="1400" i="0">
                                <a:latin typeface="Cambria Math" panose="02040503050406030204" pitchFamily="18" charset="0"/>
                              </a:rPr>
                              <m:t>,</m:t>
                            </m:r>
                            <m:r>
                              <a:rPr lang="en-US" sz="1400" i="1">
                                <a:latin typeface="Cambria Math" panose="02040503050406030204" pitchFamily="18" charset="0"/>
                              </a:rPr>
                              <m:t>𝑎</m:t>
                            </m:r>
                            <m:r>
                              <a:rPr lang="en-US" sz="1400" i="0">
                                <a:latin typeface="Cambria Math" panose="02040503050406030204" pitchFamily="18" charset="0"/>
                              </a:rPr>
                              <m:t>′)=0</m:t>
                            </m:r>
                          </m:e>
                        </m:d>
                      </m:e>
                    </m:func>
                  </m:oMath>
                </a14:m>
                <a:endParaRPr lang="en-US" sz="1400" dirty="0">
                  <a:effectLst/>
                  <a:latin typeface="+mn-lt"/>
                </a:endParaRP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𝑄</m:t>
                    </m:r>
                    <m:d>
                      <m:dPr>
                        <m:ctrlPr>
                          <a:rPr lang="en-US" sz="1400" i="1">
                            <a:latin typeface="Cambria Math" panose="02040503050406030204" pitchFamily="18" charset="0"/>
                          </a:rPr>
                        </m:ctrlPr>
                      </m:dPr>
                      <m:e>
                        <m:d>
                          <m:dPr>
                            <m:ctrlPr>
                              <a:rPr lang="en-US" sz="1400" i="0">
                                <a:latin typeface="Cambria Math" panose="02040503050406030204" pitchFamily="18" charset="0"/>
                              </a:rPr>
                            </m:ctrlPr>
                          </m:dPr>
                          <m:e>
                            <m:r>
                              <a:rPr lang="en-US" sz="1400" i="0">
                                <a:latin typeface="Cambria Math" panose="02040503050406030204" pitchFamily="18" charset="0"/>
                              </a:rPr>
                              <m:t>0,3</m:t>
                            </m:r>
                          </m:e>
                        </m:d>
                        <m:r>
                          <a:rPr lang="en-US" sz="1400" i="0">
                            <a:latin typeface="Cambria Math" panose="02040503050406030204" pitchFamily="18" charset="0"/>
                          </a:rPr>
                          <m:t>,</m:t>
                        </m:r>
                        <m:r>
                          <m:rPr>
                            <m:nor/>
                          </m:rPr>
                          <a:rPr lang="en-US" sz="1400" i="0">
                            <a:latin typeface="+mn-lt"/>
                          </a:rPr>
                          <m:t>Down</m:t>
                        </m:r>
                      </m:e>
                    </m:d>
                    <m:r>
                      <a:rPr lang="en-US" sz="1400" i="0">
                        <a:latin typeface="Cambria Math" panose="02040503050406030204" pitchFamily="18" charset="0"/>
                      </a:rPr>
                      <m:t>←0+0.5</m:t>
                    </m:r>
                    <m:d>
                      <m:dPr>
                        <m:begChr m:val="["/>
                        <m:endChr m:val="]"/>
                        <m:ctrlPr>
                          <a:rPr lang="en-US" sz="1400" i="0">
                            <a:latin typeface="Cambria Math" panose="02040503050406030204" pitchFamily="18" charset="0"/>
                          </a:rPr>
                        </m:ctrlPr>
                      </m:dPr>
                      <m:e>
                        <m:r>
                          <a:rPr lang="en-US" sz="1400" i="0">
                            <a:latin typeface="Cambria Math" panose="02040503050406030204" pitchFamily="18" charset="0"/>
                          </a:rPr>
                          <m:t>−5+0.5</m:t>
                        </m:r>
                        <m:d>
                          <m:dPr>
                            <m:ctrlPr>
                              <a:rPr lang="en-US" sz="1400" i="0">
                                <a:latin typeface="Cambria Math" panose="02040503050406030204" pitchFamily="18" charset="0"/>
                              </a:rPr>
                            </m:ctrlPr>
                          </m:dPr>
                          <m:e>
                            <m:r>
                              <a:rPr lang="en-US" sz="1400" i="0">
                                <a:latin typeface="Cambria Math" panose="02040503050406030204" pitchFamily="18" charset="0"/>
                              </a:rPr>
                              <m:t>0</m:t>
                            </m:r>
                          </m:e>
                        </m:d>
                        <m:r>
                          <a:rPr lang="en-US" sz="1400" i="0">
                            <a:latin typeface="Cambria Math" panose="02040503050406030204" pitchFamily="18" charset="0"/>
                          </a:rPr>
                          <m:t>−0</m:t>
                        </m:r>
                      </m:e>
                    </m:d>
                    <m:r>
                      <a:rPr lang="en-US" sz="1400" i="0">
                        <a:latin typeface="Cambria Math" panose="02040503050406030204" pitchFamily="18" charset="0"/>
                      </a:rPr>
                      <m:t>=−</m:t>
                    </m:r>
                    <m:r>
                      <a:rPr lang="en-US" sz="1400" b="1" i="0">
                        <a:latin typeface="Cambria Math" panose="02040503050406030204" pitchFamily="18" charset="0"/>
                      </a:rPr>
                      <m:t>𝟐</m:t>
                    </m:r>
                    <m:r>
                      <a:rPr lang="en-US" sz="1400" b="0" i="0">
                        <a:latin typeface="Cambria Math" panose="02040503050406030204" pitchFamily="18" charset="0"/>
                      </a:rPr>
                      <m:t>.</m:t>
                    </m:r>
                    <m:r>
                      <a:rPr lang="en-US" sz="1400" b="1" i="0">
                        <a:latin typeface="Cambria Math" panose="02040503050406030204" pitchFamily="18" charset="0"/>
                      </a:rPr>
                      <m:t>𝟓</m:t>
                    </m:r>
                  </m:oMath>
                </a14:m>
                <a:endParaRPr lang="en-US" sz="1400" dirty="0">
                  <a:effectLst/>
                  <a:latin typeface="+mn-lt"/>
                </a:endParaRPr>
              </a:p>
              <a:p>
                <a:pPr marL="0" marR="0" lvl="1" indent="-285750">
                  <a:buFont typeface="+mj-lt"/>
                  <a:buAutoNum type="arabicPeriod"/>
                </a:pPr>
                <a:endParaRPr lang="en-US" sz="1400" dirty="0">
                  <a:effectLst/>
                  <a:latin typeface="+mn-lt"/>
                </a:endParaRPr>
              </a:p>
              <a:p>
                <a:pPr marR="0" lvl="0"/>
                <a:r>
                  <a:rPr lang="en-US" sz="1400" b="1" dirty="0">
                    <a:effectLst/>
                    <a:latin typeface="+mn-lt"/>
                  </a:rPr>
                  <a:t>Step 4:</a:t>
                </a:r>
                <a:r>
                  <a:rPr lang="en-US" sz="1400" dirty="0">
                    <a:effectLst/>
                    <a:latin typeface="+mn-lt"/>
                  </a:rPr>
                  <a:t> From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1,3</m:t>
                        </m:r>
                      </m:e>
                    </m:d>
                  </m:oMath>
                </a14:m>
                <a:r>
                  <a:rPr lang="en-US" sz="1400" dirty="0">
                    <a:effectLst/>
                    <a:latin typeface="+mn-lt"/>
                  </a:rPr>
                  <a:t>, take action </a:t>
                </a:r>
                <a:r>
                  <a:rPr lang="en-US" sz="1400" b="1" dirty="0">
                    <a:effectLst/>
                    <a:latin typeface="+mn-lt"/>
                  </a:rPr>
                  <a:t>Down</a:t>
                </a:r>
                <a:r>
                  <a:rPr lang="en-US" sz="1400" dirty="0">
                    <a:effectLst/>
                    <a:latin typeface="+mn-lt"/>
                  </a:rPr>
                  <a:t> into terminal </a:t>
                </a:r>
                <a:r>
                  <a:rPr lang="en-US" sz="1400" b="1" dirty="0">
                    <a:effectLst/>
                    <a:latin typeface="+mn-lt"/>
                  </a:rPr>
                  <a:t>Goal</a:t>
                </a:r>
                <a:r>
                  <a:rPr lang="en-US" sz="1400" dirty="0">
                    <a:effectLst/>
                    <a:latin typeface="+mn-lt"/>
                  </a:rPr>
                  <a:t> </a:t>
                </a:r>
                <a14:m>
                  <m:oMath xmlns:m="http://schemas.openxmlformats.org/officeDocument/2006/math">
                    <m:d>
                      <m:dPr>
                        <m:ctrlPr>
                          <a:rPr lang="en-US" sz="1400" i="0">
                            <a:latin typeface="Cambria Math" panose="02040503050406030204" pitchFamily="18" charset="0"/>
                          </a:rPr>
                        </m:ctrlPr>
                      </m:dPr>
                      <m:e>
                        <m:r>
                          <a:rPr lang="en-US" sz="1400" i="0">
                            <a:latin typeface="Cambria Math" panose="02040503050406030204" pitchFamily="18" charset="0"/>
                          </a:rPr>
                          <m:t>2,3</m:t>
                        </m:r>
                      </m:e>
                    </m:d>
                  </m:oMath>
                </a14:m>
                <a:r>
                  <a:rPr lang="en-US" sz="1400" dirty="0">
                    <a:effectLst/>
                    <a:latin typeface="+mn-lt"/>
                  </a:rPr>
                  <a:t>:</a:t>
                </a: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𝑅</m:t>
                    </m:r>
                    <m:r>
                      <a:rPr lang="en-US" sz="1400" i="0">
                        <a:latin typeface="Cambria Math" panose="02040503050406030204" pitchFamily="18" charset="0"/>
                      </a:rPr>
                      <m:t>=+10</m:t>
                    </m:r>
                  </m:oMath>
                </a14:m>
                <a:r>
                  <a:rPr lang="en-US" sz="1400" dirty="0">
                    <a:effectLst/>
                    <a:latin typeface="+mn-lt"/>
                  </a:rPr>
                  <a:t>, terminal state means </a:t>
                </a:r>
                <a14:m>
                  <m:oMath xmlns:m="http://schemas.openxmlformats.org/officeDocument/2006/math">
                    <m:func>
                      <m:funcPr>
                        <m:ctrlPr>
                          <a:rPr lang="en-US" sz="1400" i="1">
                            <a:latin typeface="Cambria Math" panose="02040503050406030204" pitchFamily="18" charset="0"/>
                          </a:rPr>
                        </m:ctrlPr>
                      </m:funcPr>
                      <m:fName>
                        <m:limLow>
                          <m:limLowPr>
                            <m:ctrlPr>
                              <a:rPr lang="en-US" sz="1400" i="0">
                                <a:latin typeface="Cambria Math" panose="02040503050406030204" pitchFamily="18" charset="0"/>
                              </a:rPr>
                            </m:ctrlPr>
                          </m:limLowPr>
                          <m:e>
                            <m:r>
                              <m:rPr>
                                <m:sty m:val="p"/>
                              </m:rPr>
                              <a:rPr lang="en-US" sz="1400" i="0">
                                <a:latin typeface="Cambria Math" panose="02040503050406030204" pitchFamily="18" charset="0"/>
                              </a:rPr>
                              <m:t>max</m:t>
                            </m:r>
                          </m:e>
                          <m:lim>
                            <m:r>
                              <a:rPr lang="en-US" sz="1400" i="1">
                                <a:latin typeface="Cambria Math" panose="02040503050406030204" pitchFamily="18" charset="0"/>
                              </a:rPr>
                              <m:t>𝑎</m:t>
                            </m:r>
                            <m:r>
                              <a:rPr lang="en-US" sz="1400" i="0">
                                <a:latin typeface="Cambria Math" panose="02040503050406030204" pitchFamily="18" charset="0"/>
                              </a:rPr>
                              <m:t>′</m:t>
                            </m:r>
                          </m:lim>
                        </m:limLow>
                      </m:fName>
                      <m:e>
                        <m:r>
                          <a:rPr lang="en-US" sz="1400" i="1">
                            <a:latin typeface="Cambria Math" panose="02040503050406030204" pitchFamily="18" charset="0"/>
                          </a:rPr>
                          <m:t>𝑄</m:t>
                        </m:r>
                        <m:d>
                          <m:dPr>
                            <m:ctrlPr>
                              <a:rPr lang="en-US" sz="1400" i="1">
                                <a:latin typeface="Cambria Math" panose="02040503050406030204" pitchFamily="18" charset="0"/>
                              </a:rPr>
                            </m:ctrlPr>
                          </m:dPr>
                          <m:e>
                            <m:r>
                              <a:rPr lang="en-US" sz="1400" i="1">
                                <a:latin typeface="Cambria Math" panose="02040503050406030204" pitchFamily="18" charset="0"/>
                              </a:rPr>
                              <m:t>𝑠</m:t>
                            </m:r>
                            <m:r>
                              <a:rPr lang="en-US" sz="1400" i="0">
                                <a:latin typeface="Cambria Math" panose="02040503050406030204" pitchFamily="18" charset="0"/>
                              </a:rPr>
                              <m:t>′,</m:t>
                            </m:r>
                            <m:r>
                              <a:rPr lang="en-US" sz="1400" i="1">
                                <a:latin typeface="Cambria Math" panose="02040503050406030204" pitchFamily="18" charset="0"/>
                              </a:rPr>
                              <m:t>𝑎</m:t>
                            </m:r>
                            <m:r>
                              <a:rPr lang="en-US" sz="1400" i="0">
                                <a:latin typeface="Cambria Math" panose="02040503050406030204" pitchFamily="18" charset="0"/>
                              </a:rPr>
                              <m:t>′</m:t>
                            </m:r>
                          </m:e>
                        </m:d>
                      </m:e>
                    </m:func>
                    <m:r>
                      <a:rPr lang="en-US" sz="1400" i="0">
                        <a:latin typeface="Cambria Math" panose="02040503050406030204" pitchFamily="18" charset="0"/>
                      </a:rPr>
                      <m:t>=0</m:t>
                    </m:r>
                  </m:oMath>
                </a14:m>
                <a:endParaRPr lang="en-US" sz="1400" dirty="0">
                  <a:effectLst/>
                  <a:latin typeface="+mn-lt"/>
                </a:endParaRPr>
              </a:p>
              <a:p>
                <a:pPr marL="0" marR="0" lvl="1" indent="-285750">
                  <a:buFont typeface="+mj-lt"/>
                  <a:buAutoNum type="arabicPeriod"/>
                </a:pPr>
                <a14:m>
                  <m:oMath xmlns:m="http://schemas.openxmlformats.org/officeDocument/2006/math">
                    <m:r>
                      <a:rPr lang="en-US" sz="1400" i="1" smtClean="0">
                        <a:latin typeface="Cambria Math" panose="02040503050406030204" pitchFamily="18" charset="0"/>
                      </a:rPr>
                      <m:t>𝑄</m:t>
                    </m:r>
                    <m:d>
                      <m:dPr>
                        <m:ctrlPr>
                          <a:rPr lang="en-US" sz="1400" i="1">
                            <a:latin typeface="Cambria Math" panose="02040503050406030204" pitchFamily="18" charset="0"/>
                          </a:rPr>
                        </m:ctrlPr>
                      </m:dPr>
                      <m:e>
                        <m:d>
                          <m:dPr>
                            <m:ctrlPr>
                              <a:rPr lang="en-US" sz="1400" i="0">
                                <a:latin typeface="Cambria Math" panose="02040503050406030204" pitchFamily="18" charset="0"/>
                              </a:rPr>
                            </m:ctrlPr>
                          </m:dPr>
                          <m:e>
                            <m:r>
                              <a:rPr lang="en-US" sz="1400" i="0">
                                <a:latin typeface="Cambria Math" panose="02040503050406030204" pitchFamily="18" charset="0"/>
                              </a:rPr>
                              <m:t>1,3</m:t>
                            </m:r>
                          </m:e>
                        </m:d>
                        <m:r>
                          <a:rPr lang="en-US" sz="1400" i="0">
                            <a:latin typeface="Cambria Math" panose="02040503050406030204" pitchFamily="18" charset="0"/>
                          </a:rPr>
                          <m:t>,</m:t>
                        </m:r>
                        <m:r>
                          <m:rPr>
                            <m:nor/>
                          </m:rPr>
                          <a:rPr lang="en-US" sz="1400" i="0">
                            <a:latin typeface="+mn-lt"/>
                          </a:rPr>
                          <m:t>Down</m:t>
                        </m:r>
                      </m:e>
                    </m:d>
                    <m:r>
                      <a:rPr lang="en-US" sz="1400" i="0">
                        <a:latin typeface="Cambria Math" panose="02040503050406030204" pitchFamily="18" charset="0"/>
                      </a:rPr>
                      <m:t>←0+0.5</m:t>
                    </m:r>
                    <m:d>
                      <m:dPr>
                        <m:begChr m:val="["/>
                        <m:endChr m:val="]"/>
                        <m:ctrlPr>
                          <a:rPr lang="en-US" sz="1400" i="0">
                            <a:latin typeface="Cambria Math" panose="02040503050406030204" pitchFamily="18" charset="0"/>
                          </a:rPr>
                        </m:ctrlPr>
                      </m:dPr>
                      <m:e>
                        <m:r>
                          <a:rPr lang="en-US" sz="1400" i="0">
                            <a:latin typeface="Cambria Math" panose="02040503050406030204" pitchFamily="18" charset="0"/>
                          </a:rPr>
                          <m:t>10+0−0</m:t>
                        </m:r>
                      </m:e>
                    </m:d>
                    <m:r>
                      <a:rPr lang="en-US" sz="1400" i="0">
                        <a:latin typeface="Cambria Math" panose="02040503050406030204" pitchFamily="18" charset="0"/>
                      </a:rPr>
                      <m:t>=</m:t>
                    </m:r>
                    <m:r>
                      <a:rPr lang="en-US" sz="1400" b="1" i="0">
                        <a:latin typeface="Cambria Math" panose="02040503050406030204" pitchFamily="18" charset="0"/>
                      </a:rPr>
                      <m:t>𝟓</m:t>
                    </m:r>
                    <m:r>
                      <a:rPr lang="en-US" sz="1400" b="0" i="0">
                        <a:latin typeface="Cambria Math" panose="02040503050406030204" pitchFamily="18" charset="0"/>
                      </a:rPr>
                      <m:t>.</m:t>
                    </m:r>
                    <m:r>
                      <a:rPr lang="en-US" sz="1400" b="1" i="0">
                        <a:latin typeface="Cambria Math" panose="02040503050406030204" pitchFamily="18" charset="0"/>
                      </a:rPr>
                      <m:t>𝟎</m:t>
                    </m:r>
                  </m:oMath>
                </a14:m>
                <a:endParaRPr lang="en-US" sz="1400" dirty="0">
                  <a:effectLst/>
                  <a:latin typeface="Google Sans Text"/>
                </a:endParaRPr>
              </a:p>
            </p:txBody>
          </p:sp>
        </mc:Choice>
        <mc:Fallback xmlns="">
          <p:sp>
            <p:nvSpPr>
              <p:cNvPr id="10" name="TextBox 9">
                <a:extLst>
                  <a:ext uri="{FF2B5EF4-FFF2-40B4-BE49-F238E27FC236}">
                    <a16:creationId xmlns:a16="http://schemas.microsoft.com/office/drawing/2014/main" id="{43CEBE1F-C734-5481-B7C0-6CDD206DD3AF}"/>
                  </a:ext>
                </a:extLst>
              </p:cNvPr>
              <p:cNvSpPr txBox="1">
                <a:spLocks noRot="1" noChangeAspect="1" noMove="1" noResize="1" noEditPoints="1" noAdjustHandles="1" noChangeArrowheads="1" noChangeShapeType="1" noTextEdit="1"/>
              </p:cNvSpPr>
              <p:nvPr/>
            </p:nvSpPr>
            <p:spPr>
              <a:xfrm>
                <a:off x="517838" y="1675123"/>
                <a:ext cx="5709968" cy="4392997"/>
              </a:xfrm>
              <a:prstGeom prst="rect">
                <a:avLst/>
              </a:prstGeom>
              <a:blipFill>
                <a:blip r:embed="rId3"/>
                <a:stretch>
                  <a:fillRect l="-222" t="-289" b="-578"/>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9C38A4C-00AD-C854-4221-989E9130BBCF}"/>
                  </a:ext>
                </a:extLst>
              </p:cNvPr>
              <p:cNvSpPr txBox="1"/>
              <p:nvPr/>
            </p:nvSpPr>
            <p:spPr>
              <a:xfrm>
                <a:off x="6227806" y="1696339"/>
                <a:ext cx="6078265" cy="45420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sz="1400" b="1" dirty="0"/>
                  <a:t>Episode 2: Safe Path Avoiding Danger</a:t>
                </a:r>
              </a:p>
              <a:p>
                <a:r>
                  <a:rPr lang="en-US" sz="1400" dirty="0"/>
                  <a:t>Reset to start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0,1</m:t>
                        </m:r>
                      </m:e>
                    </m:d>
                  </m:oMath>
                </a14:m>
                <a:r>
                  <a:rPr lang="en-US" sz="1400" dirty="0"/>
                  <a:t>. Suppose the agent moves: </a:t>
                </a:r>
                <a:r>
                  <a:rPr lang="en-US" sz="1400" b="1" dirty="0"/>
                  <a:t>Down </a:t>
                </a:r>
                <a14:m>
                  <m:oMath xmlns:m="http://schemas.openxmlformats.org/officeDocument/2006/math">
                    <m:r>
                      <a:rPr lang="en-US" sz="1400">
                        <a:latin typeface="Cambria Math" panose="02040503050406030204" pitchFamily="18" charset="0"/>
                      </a:rPr>
                      <m:t>→</m:t>
                    </m:r>
                  </m:oMath>
                </a14:m>
                <a:r>
                  <a:rPr lang="en-US" sz="1400" b="1" dirty="0"/>
                  <a:t>Right </a:t>
                </a:r>
                <a14:m>
                  <m:oMath xmlns:m="http://schemas.openxmlformats.org/officeDocument/2006/math">
                    <m:r>
                      <a:rPr lang="en-US" sz="1400">
                        <a:latin typeface="Cambria Math" panose="02040503050406030204" pitchFamily="18" charset="0"/>
                      </a:rPr>
                      <m:t>→</m:t>
                    </m:r>
                    <m:r>
                      <a:rPr lang="en-US" sz="1400" b="1" i="0" smtClean="0">
                        <a:latin typeface="Cambria Math" panose="02040503050406030204" pitchFamily="18" charset="0"/>
                      </a:rPr>
                      <m:t>𝐃𝐨𝐰𝐧</m:t>
                    </m:r>
                  </m:oMath>
                </a14:m>
                <a:r>
                  <a:rPr lang="en-US" sz="1400" b="1" dirty="0"/>
                  <a:t> </a:t>
                </a:r>
                <a14:m>
                  <m:oMath xmlns:m="http://schemas.openxmlformats.org/officeDocument/2006/math">
                    <m:r>
                      <a:rPr lang="en-US" sz="1400">
                        <a:latin typeface="Cambria Math" panose="02040503050406030204" pitchFamily="18" charset="0"/>
                      </a:rPr>
                      <m:t>→</m:t>
                    </m:r>
                    <m:r>
                      <a:rPr lang="en-US" sz="1400" b="1" i="0" smtClean="0">
                        <a:latin typeface="Cambria Math" panose="02040503050406030204" pitchFamily="18" charset="0"/>
                      </a:rPr>
                      <m:t>𝐑𝐢𝐠𝐡𝐭</m:t>
                    </m:r>
                  </m:oMath>
                </a14:m>
                <a:endParaRPr lang="en-US" sz="1400" b="1" dirty="0"/>
              </a:p>
              <a:p>
                <a:r>
                  <a:rPr lang="en-US" sz="1400" dirty="0"/>
                  <a:t> </a:t>
                </a:r>
              </a:p>
              <a:p>
                <a:pPr lvl="0"/>
                <a:r>
                  <a:rPr lang="en-US" sz="1400" b="1" dirty="0"/>
                  <a:t>Step 1:</a:t>
                </a:r>
                <a:r>
                  <a:rPr lang="en-US" sz="1400" dirty="0"/>
                  <a:t> From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0,1</m:t>
                        </m:r>
                      </m:e>
                    </m:d>
                  </m:oMath>
                </a14:m>
                <a:r>
                  <a:rPr lang="en-US" sz="1400" dirty="0"/>
                  <a:t>, take action </a:t>
                </a:r>
                <a:r>
                  <a:rPr lang="en-US" sz="1400" b="1" dirty="0"/>
                  <a:t>Down</a:t>
                </a:r>
                <a:r>
                  <a:rPr lang="en-US" sz="1400" dirty="0"/>
                  <a:t> to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1,1</m:t>
                        </m:r>
                      </m:e>
                    </m:d>
                  </m:oMath>
                </a14:m>
                <a:r>
                  <a:rPr lang="en-US" sz="1400" dirty="0"/>
                  <a:t>:</a:t>
                </a:r>
              </a:p>
              <a:p>
                <a:pPr marL="342900" lvl="1" indent="-342900">
                  <a:buAutoNum type="arabicPeriod"/>
                </a:pPr>
                <a14:m>
                  <m:oMath xmlns:m="http://schemas.openxmlformats.org/officeDocument/2006/math">
                    <m:r>
                      <a:rPr lang="en-US" sz="1400" i="1">
                        <a:latin typeface="Cambria Math" panose="02040503050406030204" pitchFamily="18" charset="0"/>
                      </a:rPr>
                      <m:t>𝑅</m:t>
                    </m:r>
                    <m:r>
                      <a:rPr lang="en-US" sz="1400">
                        <a:latin typeface="Cambria Math" panose="02040503050406030204" pitchFamily="18" charset="0"/>
                      </a:rPr>
                      <m:t>=0</m:t>
                    </m:r>
                  </m:oMath>
                </a14:m>
                <a:r>
                  <a:rPr lang="en-US" sz="1400" dirty="0"/>
                  <a:t>, </a:t>
                </a:r>
                <a14:m>
                  <m:oMath xmlns:m="http://schemas.openxmlformats.org/officeDocument/2006/math">
                    <m:func>
                      <m:funcPr>
                        <m:ctrlPr>
                          <a:rPr lang="en-US" sz="1400" i="1">
                            <a:latin typeface="Cambria Math" panose="02040503050406030204" pitchFamily="18" charset="0"/>
                          </a:rPr>
                        </m:ctrlPr>
                      </m:funcPr>
                      <m:fName>
                        <m:limLow>
                          <m:limLowPr>
                            <m:ctrlPr>
                              <a:rPr lang="en-US" sz="1400">
                                <a:latin typeface="Cambria Math" panose="02040503050406030204" pitchFamily="18" charset="0"/>
                              </a:rPr>
                            </m:ctrlPr>
                          </m:limLowPr>
                          <m:e>
                            <m:r>
                              <m:rPr>
                                <m:sty m:val="p"/>
                              </m:rPr>
                              <a:rPr lang="en-US" sz="1400">
                                <a:latin typeface="Cambria Math" panose="02040503050406030204" pitchFamily="18" charset="0"/>
                              </a:rPr>
                              <m:t>max</m:t>
                            </m:r>
                          </m:e>
                          <m:lim>
                            <m:r>
                              <a:rPr lang="en-US" sz="1400" i="1">
                                <a:latin typeface="Cambria Math" panose="02040503050406030204" pitchFamily="18" charset="0"/>
                              </a:rPr>
                              <m:t>𝑎</m:t>
                            </m:r>
                            <m:r>
                              <a:rPr lang="en-US" sz="1400">
                                <a:latin typeface="Cambria Math" panose="02040503050406030204" pitchFamily="18" charset="0"/>
                              </a:rPr>
                              <m:t>′</m:t>
                            </m:r>
                          </m:lim>
                        </m:limLow>
                      </m:fName>
                      <m:e>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a:latin typeface="Cambria Math" panose="02040503050406030204" pitchFamily="18" charset="0"/>
                                  </a:rPr>
                                </m:ctrlPr>
                              </m:dPr>
                              <m:e>
                                <m:r>
                                  <a:rPr lang="en-US" sz="1400">
                                    <a:latin typeface="Cambria Math" panose="02040503050406030204" pitchFamily="18" charset="0"/>
                                  </a:rPr>
                                  <m:t>1,1</m:t>
                                </m:r>
                              </m:e>
                            </m:d>
                            <m:r>
                              <a:rPr lang="en-US" sz="1400">
                                <a:latin typeface="Cambria Math" panose="02040503050406030204" pitchFamily="18" charset="0"/>
                              </a:rPr>
                              <m:t>,</m:t>
                            </m:r>
                            <m:r>
                              <a:rPr lang="en-US" sz="1400" i="1">
                                <a:latin typeface="Cambria Math" panose="02040503050406030204" pitchFamily="18" charset="0"/>
                              </a:rPr>
                              <m:t>𝑎</m:t>
                            </m:r>
                            <m:r>
                              <a:rPr lang="en-US" sz="1400">
                                <a:latin typeface="Cambria Math" panose="02040503050406030204" pitchFamily="18" charset="0"/>
                              </a:rPr>
                              <m:t>′)=0</m:t>
                            </m:r>
                          </m:e>
                        </m:d>
                      </m:e>
                    </m:func>
                  </m:oMath>
                </a14:m>
                <a:endParaRPr lang="en-US" sz="1400" i="1" dirty="0"/>
              </a:p>
              <a:p>
                <a:pPr marL="342900" lvl="1" indent="-342900">
                  <a:buAutoNum type="arabicPeriod"/>
                </a:pPr>
                <a14:m>
                  <m:oMath xmlns:m="http://schemas.openxmlformats.org/officeDocument/2006/math">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a:latin typeface="Cambria Math" panose="02040503050406030204" pitchFamily="18" charset="0"/>
                              </a:rPr>
                            </m:ctrlPr>
                          </m:dPr>
                          <m:e>
                            <m:r>
                              <a:rPr lang="en-US" sz="1400">
                                <a:latin typeface="Cambria Math" panose="02040503050406030204" pitchFamily="18" charset="0"/>
                              </a:rPr>
                              <m:t>0,1</m:t>
                            </m:r>
                          </m:e>
                        </m:d>
                        <m:r>
                          <a:rPr lang="en-US" sz="1400">
                            <a:latin typeface="Cambria Math" panose="02040503050406030204" pitchFamily="18" charset="0"/>
                          </a:rPr>
                          <m:t>,</m:t>
                        </m:r>
                        <m:r>
                          <m:rPr>
                            <m:nor/>
                          </m:rPr>
                          <a:rPr lang="en-US" sz="1400" i="0"/>
                          <m:t>Down</m:t>
                        </m:r>
                      </m:e>
                    </m:d>
                    <m:r>
                      <a:rPr lang="en-US" sz="1400">
                        <a:latin typeface="Cambria Math" panose="02040503050406030204" pitchFamily="18" charset="0"/>
                      </a:rPr>
                      <m:t>←0+0.5</m:t>
                    </m:r>
                    <m:d>
                      <m:dPr>
                        <m:begChr m:val="["/>
                        <m:endChr m:val="]"/>
                        <m:ctrlPr>
                          <a:rPr lang="en-US" sz="1400">
                            <a:latin typeface="Cambria Math" panose="02040503050406030204" pitchFamily="18" charset="0"/>
                          </a:rPr>
                        </m:ctrlPr>
                      </m:dPr>
                      <m:e>
                        <m:r>
                          <a:rPr lang="en-US" sz="1400">
                            <a:latin typeface="Cambria Math" panose="02040503050406030204" pitchFamily="18" charset="0"/>
                          </a:rPr>
                          <m:t>0+0.5</m:t>
                        </m:r>
                        <m:d>
                          <m:dPr>
                            <m:ctrlPr>
                              <a:rPr lang="en-US" sz="1400">
                                <a:latin typeface="Cambria Math" panose="02040503050406030204" pitchFamily="18" charset="0"/>
                              </a:rPr>
                            </m:ctrlPr>
                          </m:dPr>
                          <m:e>
                            <m:r>
                              <a:rPr lang="en-US" sz="1400">
                                <a:latin typeface="Cambria Math" panose="02040503050406030204" pitchFamily="18" charset="0"/>
                              </a:rPr>
                              <m:t>0</m:t>
                            </m:r>
                          </m:e>
                        </m:d>
                        <m:r>
                          <a:rPr lang="en-US" sz="1400">
                            <a:latin typeface="Cambria Math" panose="02040503050406030204" pitchFamily="18" charset="0"/>
                          </a:rPr>
                          <m:t>−0</m:t>
                        </m:r>
                      </m:e>
                    </m:d>
                    <m:r>
                      <a:rPr lang="en-US" sz="1400">
                        <a:latin typeface="Cambria Math" panose="02040503050406030204" pitchFamily="18" charset="0"/>
                      </a:rPr>
                      <m:t>=</m:t>
                    </m:r>
                    <m:r>
                      <a:rPr lang="en-US" sz="1400" b="1">
                        <a:latin typeface="Cambria Math" panose="02040503050406030204" pitchFamily="18" charset="0"/>
                      </a:rPr>
                      <m:t>𝟎</m:t>
                    </m:r>
                  </m:oMath>
                </a14:m>
                <a:endParaRPr lang="en-US" sz="1400" dirty="0"/>
              </a:p>
              <a:p>
                <a:pPr lvl="1"/>
                <a:endParaRPr lang="en-US" sz="1400" dirty="0"/>
              </a:p>
              <a:p>
                <a:pPr lvl="0"/>
                <a:r>
                  <a:rPr lang="en-US" sz="1400" b="1" dirty="0"/>
                  <a:t>Step 2:</a:t>
                </a:r>
                <a:r>
                  <a:rPr lang="en-US" sz="1400" dirty="0"/>
                  <a:t> From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1,1</m:t>
                        </m:r>
                      </m:e>
                    </m:d>
                  </m:oMath>
                </a14:m>
                <a:r>
                  <a:rPr lang="en-US" sz="1400" dirty="0"/>
                  <a:t>, take action </a:t>
                </a:r>
                <a:r>
                  <a:rPr lang="en-US" sz="1400" b="1" dirty="0"/>
                  <a:t>Right</a:t>
                </a:r>
                <a:r>
                  <a:rPr lang="en-US" sz="1400" dirty="0"/>
                  <a:t> to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1,2</m:t>
                        </m:r>
                      </m:e>
                    </m:d>
                  </m:oMath>
                </a14:m>
                <a:r>
                  <a:rPr lang="en-US" sz="1400" dirty="0"/>
                  <a:t>:</a:t>
                </a:r>
              </a:p>
              <a:p>
                <a:pPr marL="342900" lvl="1" indent="-342900">
                  <a:buAutoNum type="arabicPeriod"/>
                </a:pPr>
                <a14:m>
                  <m:oMath xmlns:m="http://schemas.openxmlformats.org/officeDocument/2006/math">
                    <m:r>
                      <a:rPr lang="en-US" sz="1400" i="1">
                        <a:latin typeface="Cambria Math" panose="02040503050406030204" pitchFamily="18" charset="0"/>
                      </a:rPr>
                      <m:t>𝑅</m:t>
                    </m:r>
                    <m:r>
                      <a:rPr lang="en-US" sz="1400">
                        <a:latin typeface="Cambria Math" panose="02040503050406030204" pitchFamily="18" charset="0"/>
                      </a:rPr>
                      <m:t>=0</m:t>
                    </m:r>
                  </m:oMath>
                </a14:m>
                <a:r>
                  <a:rPr lang="en-US" sz="1400" dirty="0"/>
                  <a:t>, </a:t>
                </a:r>
                <a14:m>
                  <m:oMath xmlns:m="http://schemas.openxmlformats.org/officeDocument/2006/math">
                    <m:func>
                      <m:funcPr>
                        <m:ctrlPr>
                          <a:rPr lang="en-US" sz="1400" i="1">
                            <a:latin typeface="Cambria Math" panose="02040503050406030204" pitchFamily="18" charset="0"/>
                          </a:rPr>
                        </m:ctrlPr>
                      </m:funcPr>
                      <m:fName>
                        <m:limLow>
                          <m:limLowPr>
                            <m:ctrlPr>
                              <a:rPr lang="en-US" sz="1400">
                                <a:latin typeface="Cambria Math" panose="02040503050406030204" pitchFamily="18" charset="0"/>
                              </a:rPr>
                            </m:ctrlPr>
                          </m:limLowPr>
                          <m:e>
                            <m:r>
                              <m:rPr>
                                <m:sty m:val="p"/>
                              </m:rPr>
                              <a:rPr lang="en-US" sz="1400">
                                <a:latin typeface="Cambria Math" panose="02040503050406030204" pitchFamily="18" charset="0"/>
                              </a:rPr>
                              <m:t>max</m:t>
                            </m:r>
                          </m:e>
                          <m:lim>
                            <m:r>
                              <a:rPr lang="en-US" sz="1400" i="1">
                                <a:latin typeface="Cambria Math" panose="02040503050406030204" pitchFamily="18" charset="0"/>
                              </a:rPr>
                              <m:t>𝑎</m:t>
                            </m:r>
                            <m:r>
                              <a:rPr lang="en-US" sz="1400">
                                <a:latin typeface="Cambria Math" panose="02040503050406030204" pitchFamily="18" charset="0"/>
                              </a:rPr>
                              <m:t>′</m:t>
                            </m:r>
                          </m:lim>
                        </m:limLow>
                      </m:fName>
                      <m:e>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a:latin typeface="Cambria Math" panose="02040503050406030204" pitchFamily="18" charset="0"/>
                                  </a:rPr>
                                </m:ctrlPr>
                              </m:dPr>
                              <m:e>
                                <m:r>
                                  <a:rPr lang="en-US" sz="1400">
                                    <a:latin typeface="Cambria Math" panose="02040503050406030204" pitchFamily="18" charset="0"/>
                                  </a:rPr>
                                  <m:t>1,2</m:t>
                                </m:r>
                              </m:e>
                            </m:d>
                            <m:r>
                              <a:rPr lang="en-US" sz="1400">
                                <a:latin typeface="Cambria Math" panose="02040503050406030204" pitchFamily="18" charset="0"/>
                              </a:rPr>
                              <m:t>,</m:t>
                            </m:r>
                            <m:r>
                              <a:rPr lang="en-US" sz="1400" i="1">
                                <a:latin typeface="Cambria Math" panose="02040503050406030204" pitchFamily="18" charset="0"/>
                              </a:rPr>
                              <m:t>𝑎</m:t>
                            </m:r>
                            <m:r>
                              <a:rPr lang="en-US" sz="1400">
                                <a:latin typeface="Cambria Math" panose="02040503050406030204" pitchFamily="18" charset="0"/>
                              </a:rPr>
                              <m:t>′)=0</m:t>
                            </m:r>
                          </m:e>
                        </m:d>
                      </m:e>
                    </m:func>
                  </m:oMath>
                </a14:m>
                <a:endParaRPr lang="en-US" sz="1400" i="1" dirty="0"/>
              </a:p>
              <a:p>
                <a:pPr marL="342900" lvl="1" indent="-342900">
                  <a:buAutoNum type="arabicPeriod"/>
                </a:pPr>
                <a14:m>
                  <m:oMath xmlns:m="http://schemas.openxmlformats.org/officeDocument/2006/math">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a:latin typeface="Cambria Math" panose="02040503050406030204" pitchFamily="18" charset="0"/>
                              </a:rPr>
                            </m:ctrlPr>
                          </m:dPr>
                          <m:e>
                            <m:r>
                              <a:rPr lang="en-US" sz="1400">
                                <a:latin typeface="Cambria Math" panose="02040503050406030204" pitchFamily="18" charset="0"/>
                              </a:rPr>
                              <m:t>1,1</m:t>
                            </m:r>
                          </m:e>
                        </m:d>
                        <m:r>
                          <a:rPr lang="en-US" sz="1400">
                            <a:latin typeface="Cambria Math" panose="02040503050406030204" pitchFamily="18" charset="0"/>
                          </a:rPr>
                          <m:t>,</m:t>
                        </m:r>
                        <m:r>
                          <m:rPr>
                            <m:nor/>
                          </m:rPr>
                          <a:rPr lang="en-US" sz="1400" i="0"/>
                          <m:t>Right</m:t>
                        </m:r>
                      </m:e>
                    </m:d>
                    <m:r>
                      <a:rPr lang="en-US" sz="1400">
                        <a:latin typeface="Cambria Math" panose="02040503050406030204" pitchFamily="18" charset="0"/>
                      </a:rPr>
                      <m:t>←0+0.5</m:t>
                    </m:r>
                    <m:d>
                      <m:dPr>
                        <m:begChr m:val="["/>
                        <m:endChr m:val="]"/>
                        <m:ctrlPr>
                          <a:rPr lang="en-US" sz="1400">
                            <a:latin typeface="Cambria Math" panose="02040503050406030204" pitchFamily="18" charset="0"/>
                          </a:rPr>
                        </m:ctrlPr>
                      </m:dPr>
                      <m:e>
                        <m:r>
                          <a:rPr lang="en-US" sz="1400">
                            <a:latin typeface="Cambria Math" panose="02040503050406030204" pitchFamily="18" charset="0"/>
                          </a:rPr>
                          <m:t>0+0.5</m:t>
                        </m:r>
                        <m:d>
                          <m:dPr>
                            <m:ctrlPr>
                              <a:rPr lang="en-US" sz="1400">
                                <a:latin typeface="Cambria Math" panose="02040503050406030204" pitchFamily="18" charset="0"/>
                              </a:rPr>
                            </m:ctrlPr>
                          </m:dPr>
                          <m:e>
                            <m:r>
                              <a:rPr lang="en-US" sz="1400">
                                <a:latin typeface="Cambria Math" panose="02040503050406030204" pitchFamily="18" charset="0"/>
                              </a:rPr>
                              <m:t>0</m:t>
                            </m:r>
                          </m:e>
                        </m:d>
                        <m:r>
                          <a:rPr lang="en-US" sz="1400">
                            <a:latin typeface="Cambria Math" panose="02040503050406030204" pitchFamily="18" charset="0"/>
                          </a:rPr>
                          <m:t>−0</m:t>
                        </m:r>
                      </m:e>
                    </m:d>
                    <m:r>
                      <a:rPr lang="en-US" sz="1400">
                        <a:latin typeface="Cambria Math" panose="02040503050406030204" pitchFamily="18" charset="0"/>
                      </a:rPr>
                      <m:t>=</m:t>
                    </m:r>
                    <m:r>
                      <a:rPr lang="en-US" sz="1400" b="1">
                        <a:latin typeface="Cambria Math" panose="02040503050406030204" pitchFamily="18" charset="0"/>
                      </a:rPr>
                      <m:t>𝟎</m:t>
                    </m:r>
                  </m:oMath>
                </a14:m>
                <a:endParaRPr lang="en-US" sz="1400" dirty="0"/>
              </a:p>
              <a:p>
                <a:pPr marL="342900" lvl="1" indent="-342900">
                  <a:buAutoNum type="arabicPeriod"/>
                </a:pPr>
                <a:endParaRPr lang="en-US" sz="1400" dirty="0"/>
              </a:p>
              <a:p>
                <a:pPr lvl="0"/>
                <a:r>
                  <a:rPr lang="en-US" sz="1400" b="1" dirty="0"/>
                  <a:t>Step 3:</a:t>
                </a:r>
                <a:r>
                  <a:rPr lang="en-US" sz="1400" dirty="0"/>
                  <a:t> From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1,2</m:t>
                        </m:r>
                      </m:e>
                    </m:d>
                  </m:oMath>
                </a14:m>
                <a:r>
                  <a:rPr lang="en-US" sz="1400" dirty="0"/>
                  <a:t>, take action </a:t>
                </a:r>
                <a:r>
                  <a:rPr lang="en-US" sz="1400" b="1" dirty="0"/>
                  <a:t>Down</a:t>
                </a:r>
                <a:r>
                  <a:rPr lang="en-US" sz="1400" dirty="0"/>
                  <a:t> to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2,2</m:t>
                        </m:r>
                      </m:e>
                    </m:d>
                  </m:oMath>
                </a14:m>
                <a:r>
                  <a:rPr lang="en-US" sz="1400" dirty="0"/>
                  <a:t>:</a:t>
                </a:r>
              </a:p>
              <a:p>
                <a:pPr marL="342900" lvl="0" indent="-342900">
                  <a:buAutoNum type="arabicPeriod"/>
                </a:pPr>
                <a14:m>
                  <m:oMath xmlns:m="http://schemas.openxmlformats.org/officeDocument/2006/math">
                    <m:r>
                      <a:rPr lang="en-US" sz="1400" i="1">
                        <a:latin typeface="Cambria Math" panose="02040503050406030204" pitchFamily="18" charset="0"/>
                      </a:rPr>
                      <m:t>𝑅</m:t>
                    </m:r>
                    <m:r>
                      <a:rPr lang="en-US" sz="1400">
                        <a:latin typeface="Cambria Math" panose="02040503050406030204" pitchFamily="18" charset="0"/>
                      </a:rPr>
                      <m:t>=0</m:t>
                    </m:r>
                  </m:oMath>
                </a14:m>
                <a:r>
                  <a:rPr lang="en-US" sz="1400" dirty="0"/>
                  <a:t>, </a:t>
                </a:r>
                <a14:m>
                  <m:oMath xmlns:m="http://schemas.openxmlformats.org/officeDocument/2006/math">
                    <m:func>
                      <m:funcPr>
                        <m:ctrlPr>
                          <a:rPr lang="en-US" sz="1400" i="1">
                            <a:latin typeface="Cambria Math" panose="02040503050406030204" pitchFamily="18" charset="0"/>
                          </a:rPr>
                        </m:ctrlPr>
                      </m:funcPr>
                      <m:fName>
                        <m:limLow>
                          <m:limLowPr>
                            <m:ctrlPr>
                              <a:rPr lang="en-US" sz="1400">
                                <a:latin typeface="Cambria Math" panose="02040503050406030204" pitchFamily="18" charset="0"/>
                              </a:rPr>
                            </m:ctrlPr>
                          </m:limLowPr>
                          <m:e>
                            <m:r>
                              <m:rPr>
                                <m:sty m:val="p"/>
                              </m:rPr>
                              <a:rPr lang="en-US" sz="1400">
                                <a:latin typeface="Cambria Math" panose="02040503050406030204" pitchFamily="18" charset="0"/>
                              </a:rPr>
                              <m:t>max</m:t>
                            </m:r>
                          </m:e>
                          <m:lim>
                            <m:r>
                              <a:rPr lang="en-US" sz="1400" i="1">
                                <a:latin typeface="Cambria Math" panose="02040503050406030204" pitchFamily="18" charset="0"/>
                              </a:rPr>
                              <m:t>𝑎</m:t>
                            </m:r>
                            <m:r>
                              <a:rPr lang="en-US" sz="1400">
                                <a:latin typeface="Cambria Math" panose="02040503050406030204" pitchFamily="18" charset="0"/>
                              </a:rPr>
                              <m:t>′</m:t>
                            </m:r>
                          </m:lim>
                        </m:limLow>
                      </m:fName>
                      <m:e>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a:latin typeface="Cambria Math" panose="02040503050406030204" pitchFamily="18" charset="0"/>
                                  </a:rPr>
                                </m:ctrlPr>
                              </m:dPr>
                              <m:e>
                                <m:r>
                                  <a:rPr lang="en-US" sz="1400">
                                    <a:latin typeface="Cambria Math" panose="02040503050406030204" pitchFamily="18" charset="0"/>
                                  </a:rPr>
                                  <m:t>2,2</m:t>
                                </m:r>
                              </m:e>
                            </m:d>
                            <m:r>
                              <a:rPr lang="en-US" sz="1400">
                                <a:latin typeface="Cambria Math" panose="02040503050406030204" pitchFamily="18" charset="0"/>
                              </a:rPr>
                              <m:t>,</m:t>
                            </m:r>
                            <m:r>
                              <a:rPr lang="en-US" sz="1400" i="1">
                                <a:latin typeface="Cambria Math" panose="02040503050406030204" pitchFamily="18" charset="0"/>
                              </a:rPr>
                              <m:t>𝑎</m:t>
                            </m:r>
                            <m:r>
                              <a:rPr lang="en-US" sz="1400">
                                <a:latin typeface="Cambria Math" panose="02040503050406030204" pitchFamily="18" charset="0"/>
                              </a:rPr>
                              <m:t>′)=0</m:t>
                            </m:r>
                          </m:e>
                        </m:d>
                      </m:e>
                    </m:func>
                  </m:oMath>
                </a14:m>
                <a:endParaRPr lang="en-US" sz="1400" i="1" dirty="0"/>
              </a:p>
              <a:p>
                <a:pPr marL="342900" lvl="0" indent="-342900">
                  <a:buAutoNum type="arabicPeriod"/>
                </a:pPr>
                <a14:m>
                  <m:oMath xmlns:m="http://schemas.openxmlformats.org/officeDocument/2006/math">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a:latin typeface="Cambria Math" panose="02040503050406030204" pitchFamily="18" charset="0"/>
                              </a:rPr>
                            </m:ctrlPr>
                          </m:dPr>
                          <m:e>
                            <m:r>
                              <a:rPr lang="en-US" sz="1400">
                                <a:latin typeface="Cambria Math" panose="02040503050406030204" pitchFamily="18" charset="0"/>
                              </a:rPr>
                              <m:t>1,2</m:t>
                            </m:r>
                          </m:e>
                        </m:d>
                        <m:r>
                          <a:rPr lang="en-US" sz="1400">
                            <a:latin typeface="Cambria Math" panose="02040503050406030204" pitchFamily="18" charset="0"/>
                          </a:rPr>
                          <m:t>,</m:t>
                        </m:r>
                        <m:r>
                          <m:rPr>
                            <m:nor/>
                          </m:rPr>
                          <a:rPr lang="en-US" sz="1400" i="0"/>
                          <m:t>Down</m:t>
                        </m:r>
                      </m:e>
                    </m:d>
                    <m:r>
                      <a:rPr lang="en-US" sz="1400">
                        <a:latin typeface="Cambria Math" panose="02040503050406030204" pitchFamily="18" charset="0"/>
                      </a:rPr>
                      <m:t>←0+0.5</m:t>
                    </m:r>
                    <m:d>
                      <m:dPr>
                        <m:begChr m:val="["/>
                        <m:endChr m:val="]"/>
                        <m:ctrlPr>
                          <a:rPr lang="en-US" sz="1400">
                            <a:latin typeface="Cambria Math" panose="02040503050406030204" pitchFamily="18" charset="0"/>
                          </a:rPr>
                        </m:ctrlPr>
                      </m:dPr>
                      <m:e>
                        <m:r>
                          <a:rPr lang="en-US" sz="1400">
                            <a:latin typeface="Cambria Math" panose="02040503050406030204" pitchFamily="18" charset="0"/>
                          </a:rPr>
                          <m:t>0+0.5</m:t>
                        </m:r>
                        <m:d>
                          <m:dPr>
                            <m:ctrlPr>
                              <a:rPr lang="en-US" sz="1400">
                                <a:latin typeface="Cambria Math" panose="02040503050406030204" pitchFamily="18" charset="0"/>
                              </a:rPr>
                            </m:ctrlPr>
                          </m:dPr>
                          <m:e>
                            <m:r>
                              <a:rPr lang="en-US" sz="1400">
                                <a:latin typeface="Cambria Math" panose="02040503050406030204" pitchFamily="18" charset="0"/>
                              </a:rPr>
                              <m:t>0</m:t>
                            </m:r>
                          </m:e>
                        </m:d>
                        <m:r>
                          <a:rPr lang="en-US" sz="1400">
                            <a:latin typeface="Cambria Math" panose="02040503050406030204" pitchFamily="18" charset="0"/>
                          </a:rPr>
                          <m:t>−0</m:t>
                        </m:r>
                      </m:e>
                    </m:d>
                    <m:r>
                      <a:rPr lang="en-US" sz="1400">
                        <a:latin typeface="Cambria Math" panose="02040503050406030204" pitchFamily="18" charset="0"/>
                      </a:rPr>
                      <m:t>=</m:t>
                    </m:r>
                    <m:r>
                      <a:rPr lang="en-US" sz="1400" b="1">
                        <a:latin typeface="Cambria Math" panose="02040503050406030204" pitchFamily="18" charset="0"/>
                      </a:rPr>
                      <m:t>𝟎</m:t>
                    </m:r>
                  </m:oMath>
                </a14:m>
                <a:endParaRPr lang="en-US" sz="1400" dirty="0"/>
              </a:p>
              <a:p>
                <a:pPr marL="342900" lvl="0" indent="-342900">
                  <a:buAutoNum type="arabicPeriod"/>
                </a:pPr>
                <a:endParaRPr lang="en-US" sz="1400" dirty="0"/>
              </a:p>
              <a:p>
                <a:pPr lvl="0"/>
                <a:r>
                  <a:rPr lang="en-US" sz="1400" b="1" dirty="0"/>
                  <a:t>Step 4:</a:t>
                </a:r>
                <a:r>
                  <a:rPr lang="en-US" sz="1400" dirty="0"/>
                  <a:t> From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2,2</m:t>
                        </m:r>
                      </m:e>
                    </m:d>
                  </m:oMath>
                </a14:m>
                <a:r>
                  <a:rPr lang="en-US" sz="1400" dirty="0"/>
                  <a:t>, take action </a:t>
                </a:r>
                <a:r>
                  <a:rPr lang="en-US" sz="1400" b="1" dirty="0"/>
                  <a:t>Right</a:t>
                </a:r>
                <a:r>
                  <a:rPr lang="en-US" sz="1400" dirty="0"/>
                  <a:t> into terminal </a:t>
                </a:r>
                <a:r>
                  <a:rPr lang="en-US" sz="1400" b="1" dirty="0"/>
                  <a:t>Goal</a:t>
                </a:r>
                <a:r>
                  <a:rPr lang="en-US" sz="1400" dirty="0"/>
                  <a:t> </a:t>
                </a:r>
                <a14:m>
                  <m:oMath xmlns:m="http://schemas.openxmlformats.org/officeDocument/2006/math">
                    <m:d>
                      <m:dPr>
                        <m:ctrlPr>
                          <a:rPr lang="en-US" sz="1400">
                            <a:latin typeface="Cambria Math" panose="02040503050406030204" pitchFamily="18" charset="0"/>
                          </a:rPr>
                        </m:ctrlPr>
                      </m:dPr>
                      <m:e>
                        <m:r>
                          <a:rPr lang="en-US" sz="1400">
                            <a:latin typeface="Cambria Math" panose="02040503050406030204" pitchFamily="18" charset="0"/>
                          </a:rPr>
                          <m:t>2,3</m:t>
                        </m:r>
                      </m:e>
                    </m:d>
                  </m:oMath>
                </a14:m>
                <a:r>
                  <a:rPr lang="en-US" sz="1400" dirty="0"/>
                  <a:t>:</a:t>
                </a:r>
              </a:p>
              <a:p>
                <a:pPr marL="342900" lvl="0" indent="-342900">
                  <a:buAutoNum type="arabicPeriod"/>
                </a:pPr>
                <a14:m>
                  <m:oMath xmlns:m="http://schemas.openxmlformats.org/officeDocument/2006/math">
                    <m:r>
                      <a:rPr lang="en-US" sz="1400" i="1">
                        <a:latin typeface="Cambria Math" panose="02040503050406030204" pitchFamily="18" charset="0"/>
                      </a:rPr>
                      <m:t>𝑅</m:t>
                    </m:r>
                    <m:r>
                      <a:rPr lang="en-US" sz="1400">
                        <a:latin typeface="Cambria Math" panose="02040503050406030204" pitchFamily="18" charset="0"/>
                      </a:rPr>
                      <m:t>=+10</m:t>
                    </m:r>
                  </m:oMath>
                </a14:m>
                <a:r>
                  <a:rPr lang="en-US" sz="1400" dirty="0"/>
                  <a:t>, terminal state value </a:t>
                </a:r>
                <a14:m>
                  <m:oMath xmlns:m="http://schemas.openxmlformats.org/officeDocument/2006/math">
                    <m:r>
                      <a:rPr lang="en-US" sz="1400">
                        <a:latin typeface="Cambria Math" panose="02040503050406030204" pitchFamily="18" charset="0"/>
                      </a:rPr>
                      <m:t>=0</m:t>
                    </m:r>
                  </m:oMath>
                </a14:m>
                <a:endParaRPr lang="en-US" sz="1400" dirty="0"/>
              </a:p>
              <a:p>
                <a:pPr marL="342900" lvl="0" indent="-342900">
                  <a:buAutoNum type="arabicPeriod"/>
                </a:pPr>
                <a14:m>
                  <m:oMath xmlns:m="http://schemas.openxmlformats.org/officeDocument/2006/math">
                    <m:r>
                      <a:rPr lang="en-US" sz="1400" i="1">
                        <a:latin typeface="Cambria Math" panose="02040503050406030204" pitchFamily="18" charset="0"/>
                      </a:rPr>
                      <m:t>𝑄</m:t>
                    </m:r>
                    <m:d>
                      <m:dPr>
                        <m:ctrlPr>
                          <a:rPr lang="en-US" sz="1400" i="1">
                            <a:latin typeface="Cambria Math" panose="02040503050406030204" pitchFamily="18" charset="0"/>
                          </a:rPr>
                        </m:ctrlPr>
                      </m:dPr>
                      <m:e>
                        <m:d>
                          <m:dPr>
                            <m:ctrlPr>
                              <a:rPr lang="en-US" sz="1400">
                                <a:latin typeface="Cambria Math" panose="02040503050406030204" pitchFamily="18" charset="0"/>
                              </a:rPr>
                            </m:ctrlPr>
                          </m:dPr>
                          <m:e>
                            <m:r>
                              <a:rPr lang="en-US" sz="1400">
                                <a:latin typeface="Cambria Math" panose="02040503050406030204" pitchFamily="18" charset="0"/>
                              </a:rPr>
                              <m:t>2,2</m:t>
                            </m:r>
                          </m:e>
                        </m:d>
                        <m:r>
                          <a:rPr lang="en-US" sz="1400">
                            <a:latin typeface="Cambria Math" panose="02040503050406030204" pitchFamily="18" charset="0"/>
                          </a:rPr>
                          <m:t>,</m:t>
                        </m:r>
                        <m:r>
                          <m:rPr>
                            <m:nor/>
                          </m:rPr>
                          <a:rPr lang="en-US" sz="1400" i="0"/>
                          <m:t>Right</m:t>
                        </m:r>
                      </m:e>
                    </m:d>
                    <m:r>
                      <a:rPr lang="en-US" sz="1400">
                        <a:latin typeface="Cambria Math" panose="02040503050406030204" pitchFamily="18" charset="0"/>
                      </a:rPr>
                      <m:t>←0+0.5</m:t>
                    </m:r>
                    <m:d>
                      <m:dPr>
                        <m:begChr m:val="["/>
                        <m:endChr m:val="]"/>
                        <m:ctrlPr>
                          <a:rPr lang="en-US" sz="1400">
                            <a:latin typeface="Cambria Math" panose="02040503050406030204" pitchFamily="18" charset="0"/>
                          </a:rPr>
                        </m:ctrlPr>
                      </m:dPr>
                      <m:e>
                        <m:r>
                          <a:rPr lang="en-US" sz="1400">
                            <a:latin typeface="Cambria Math" panose="02040503050406030204" pitchFamily="18" charset="0"/>
                          </a:rPr>
                          <m:t>10+0−0</m:t>
                        </m:r>
                      </m:e>
                    </m:d>
                    <m:r>
                      <a:rPr lang="en-US" sz="1400">
                        <a:latin typeface="Cambria Math" panose="02040503050406030204" pitchFamily="18" charset="0"/>
                      </a:rPr>
                      <m:t>=</m:t>
                    </m:r>
                    <m:r>
                      <a:rPr lang="en-US" sz="1400" b="1">
                        <a:latin typeface="Cambria Math" panose="02040503050406030204" pitchFamily="18" charset="0"/>
                      </a:rPr>
                      <m:t>𝟓</m:t>
                    </m:r>
                    <m:r>
                      <a:rPr lang="en-US" sz="1400">
                        <a:latin typeface="Cambria Math" panose="02040503050406030204" pitchFamily="18" charset="0"/>
                      </a:rPr>
                      <m:t>.</m:t>
                    </m:r>
                    <m:r>
                      <a:rPr lang="en-US" sz="1400" b="1">
                        <a:latin typeface="Cambria Math" panose="02040503050406030204" pitchFamily="18" charset="0"/>
                      </a:rPr>
                      <m:t>𝟎</m:t>
                    </m:r>
                  </m:oMath>
                </a14:m>
                <a:endParaRPr lang="en-US" sz="1400" dirty="0"/>
              </a:p>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rgbClr val="000000"/>
                  </a:solidFill>
                  <a:effectLst/>
                  <a:uFillTx/>
                  <a:latin typeface="+mn-lt"/>
                  <a:ea typeface="+mn-ea"/>
                  <a:cs typeface="+mn-cs"/>
                  <a:sym typeface="Corbel"/>
                </a:endParaRPr>
              </a:p>
            </p:txBody>
          </p:sp>
        </mc:Choice>
        <mc:Fallback>
          <p:sp>
            <p:nvSpPr>
              <p:cNvPr id="11" name="TextBox 10">
                <a:extLst>
                  <a:ext uri="{FF2B5EF4-FFF2-40B4-BE49-F238E27FC236}">
                    <a16:creationId xmlns:a16="http://schemas.microsoft.com/office/drawing/2014/main" id="{99C38A4C-00AD-C854-4221-989E9130BBCF}"/>
                  </a:ext>
                </a:extLst>
              </p:cNvPr>
              <p:cNvSpPr txBox="1">
                <a:spLocks noRot="1" noChangeAspect="1" noMove="1" noResize="1" noEditPoints="1" noAdjustHandles="1" noChangeArrowheads="1" noChangeShapeType="1" noTextEdit="1"/>
              </p:cNvSpPr>
              <p:nvPr/>
            </p:nvSpPr>
            <p:spPr>
              <a:xfrm>
                <a:off x="6227806" y="1696339"/>
                <a:ext cx="6078265" cy="4542011"/>
              </a:xfrm>
              <a:prstGeom prst="rect">
                <a:avLst/>
              </a:prstGeom>
              <a:blipFill>
                <a:blip r:embed="rId4"/>
                <a:stretch>
                  <a:fillRect l="-1042" t="-279"/>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7136954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2646F-281E-9C9F-6A09-663528EE9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77E96D-404C-6E0C-4F19-6A3F80859AA0}"/>
              </a:ext>
            </a:extLst>
          </p:cNvPr>
          <p:cNvSpPr>
            <a:spLocks noGrp="1"/>
          </p:cNvSpPr>
          <p:nvPr>
            <p:ph type="title"/>
          </p:nvPr>
        </p:nvSpPr>
        <p:spPr/>
        <p:txBody>
          <a:bodyPr>
            <a:normAutofit/>
          </a:bodyPr>
          <a:lstStyle/>
          <a:p>
            <a:r>
              <a:rPr lang="el-GR" sz="4000" dirty="0">
                <a:solidFill>
                  <a:schemeClr val="tx1"/>
                </a:solidFill>
                <a:latin typeface="Cambria Math" panose="02040503050406030204" pitchFamily="18" charset="0"/>
                <a:ea typeface="Cambria Math" panose="02040503050406030204" pitchFamily="18" charset="0"/>
              </a:rPr>
              <a:t>ε</a:t>
            </a:r>
            <a:r>
              <a:rPr lang="en-US" sz="4000" dirty="0">
                <a:solidFill>
                  <a:schemeClr val="tx1"/>
                </a:solidFill>
                <a:latin typeface="Cambria Math" panose="02040503050406030204" pitchFamily="18" charset="0"/>
                <a:ea typeface="Cambria Math" panose="02040503050406030204" pitchFamily="18" charset="0"/>
              </a:rPr>
              <a:t> – </a:t>
            </a:r>
            <a:r>
              <a:rPr lang="en-US" sz="3600" dirty="0">
                <a:solidFill>
                  <a:schemeClr val="tx1"/>
                </a:solidFill>
                <a:latin typeface="Cambria Math" panose="02040503050406030204" pitchFamily="18" charset="0"/>
                <a:ea typeface="Cambria Math" panose="02040503050406030204" pitchFamily="18" charset="0"/>
              </a:rPr>
              <a:t>Greedy policy</a:t>
            </a:r>
            <a:endParaRPr lang="en-US" sz="4000" dirty="0">
              <a:solidFill>
                <a:schemeClr val="tx1"/>
              </a:solidFill>
            </a:endParaRPr>
          </a:p>
        </p:txBody>
      </p:sp>
      <p:sp>
        <p:nvSpPr>
          <p:cNvPr id="3" name="Text Placeholder 2">
            <a:extLst>
              <a:ext uri="{FF2B5EF4-FFF2-40B4-BE49-F238E27FC236}">
                <a16:creationId xmlns:a16="http://schemas.microsoft.com/office/drawing/2014/main" id="{32D7D7DE-72C9-AC16-3FE2-BABFF52127E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276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Trade off between Explore and Exploit strategy: </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205345" y="1676118"/>
            <a:ext cx="10759347" cy="5036189"/>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1800" dirty="0"/>
          </a:p>
          <a:p>
            <a:pPr>
              <a:buFont typeface="+mj-lt"/>
              <a:buAutoNum type="arabicPeriod"/>
            </a:pPr>
            <a:endParaRPr lang="en-US" sz="1800" dirty="0"/>
          </a:p>
          <a:p>
            <a:pPr marL="0" indent="0">
              <a:buNone/>
            </a:pPr>
            <a:endParaRPr lang="en-US" sz="1800" dirty="0"/>
          </a:p>
          <a:p>
            <a:pPr marL="0" indent="0">
              <a:buNone/>
            </a:pPr>
            <a:r>
              <a:rPr lang="en-US" sz="1800" dirty="0"/>
              <a:t> 	</a:t>
            </a:r>
          </a:p>
          <a:p>
            <a:pPr marL="0" indent="0">
              <a:buNone/>
            </a:pPr>
            <a:endParaRPr lang="en-US" sz="1800" dirty="0"/>
          </a:p>
          <a:p>
            <a:endParaRPr lang="en-US" sz="1800" dirty="0"/>
          </a:p>
        </p:txBody>
      </p:sp>
      <p:sp>
        <p:nvSpPr>
          <p:cNvPr id="4" name="Rectangle 3">
            <a:extLst>
              <a:ext uri="{FF2B5EF4-FFF2-40B4-BE49-F238E27FC236}">
                <a16:creationId xmlns:a16="http://schemas.microsoft.com/office/drawing/2014/main" id="{21526569-EC8A-895F-A561-8FFBEA240CD1}"/>
              </a:ext>
            </a:extLst>
          </p:cNvPr>
          <p:cNvSpPr>
            <a:spLocks noChangeArrowheads="1"/>
          </p:cNvSpPr>
          <p:nvPr/>
        </p:nvSpPr>
        <p:spPr bwMode="auto">
          <a:xfrm rot="10800000" flipV="1">
            <a:off x="1469308" y="1793555"/>
            <a:ext cx="978404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Exploration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cs typeface="Arial" panose="020B0604020202020204" pitchFamily="34" charset="0"/>
              </a:rPr>
              <a:t>It's about gathering more information about the environment. By exploring, the agent can learn about rewards associated with actions it has not tried before. Random actions.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Exploitation</a:t>
            </a:r>
            <a:r>
              <a:rPr kumimoji="0" lang="en-US" altLang="en-US" sz="1600" b="0" i="0" u="none" strike="noStrike" cap="none" normalizeH="0" baseline="0" dirty="0">
                <a:ln>
                  <a:noFill/>
                </a:ln>
                <a:solidFill>
                  <a:schemeClr val="tx1"/>
                </a:solidFill>
                <a:effectLst/>
                <a:latin typeface="Arial" panose="020B0604020202020204" pitchFamily="34" charset="0"/>
              </a:rPr>
              <a:t>: </a:t>
            </a:r>
            <a:r>
              <a:rPr lang="en-US" altLang="en-US" sz="1600" dirty="0">
                <a:solidFill>
                  <a:schemeClr val="tx1"/>
                </a:solidFill>
                <a:cs typeface="Arial" panose="020B0604020202020204" pitchFamily="34" charset="0"/>
              </a:rPr>
              <a:t>Once the agent has gathered some knowledge about the environment, it can use that knowledge to take actions that it believes will maximize its reward. In other words, the agent uses the knowledge it has to get the best possible outcome.</a:t>
            </a:r>
          </a:p>
          <a:p>
            <a:pPr marL="0" marR="0" lvl="0" indent="0" algn="l" defTabSz="914400" rtl="0" eaLnBrk="0" fontAlgn="base" latinLnBrk="0" hangingPunct="0">
              <a:lnSpc>
                <a:spcPct val="100000"/>
              </a:lnSpc>
              <a:spcBef>
                <a:spcPct val="0"/>
              </a:spcBef>
              <a:spcAft>
                <a:spcPct val="0"/>
              </a:spcAft>
              <a:buClrTx/>
              <a:buSzTx/>
              <a:tabLst/>
            </a:pPr>
            <a:endParaRPr lang="en-US" altLang="en-US" sz="1600" dirty="0">
              <a:solidFill>
                <a:schemeClr val="tx1"/>
              </a:solidFill>
              <a:latin typeface="Arial" panose="020B0604020202020204" pitchFamily="34" charset="0"/>
            </a:endParaRPr>
          </a:p>
          <a:p>
            <a:pPr lvl="0" eaLnBrk="0" fontAlgn="base">
              <a:spcBef>
                <a:spcPct val="0"/>
              </a:spcBef>
              <a:spcAft>
                <a:spcPct val="0"/>
              </a:spcAft>
            </a:pPr>
            <a:r>
              <a:rPr lang="en-US" sz="1600" dirty="0"/>
              <a:t>Imagine playing a new video game and finding a strategy that works reasonably well early on. If you never try anything different, you might miss out on a much better strategy. Exploration ensures that the agent doesn't get trapped in local optima and has a chance to find the global optimum.</a:t>
            </a:r>
          </a:p>
          <a:p>
            <a:pPr lvl="0" eaLnBrk="0" fontAlgn="base">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lvl="0" eaLnBrk="0" fontAlgn="base">
              <a:spcBef>
                <a:spcPct val="0"/>
              </a:spcBef>
              <a:spcAft>
                <a:spcPct val="0"/>
              </a:spcAft>
            </a:pPr>
            <a:r>
              <a:rPr lang="en-US" sz="1600" b="1" dirty="0"/>
              <a:t>Epsilon-greedy</a:t>
            </a:r>
            <a:r>
              <a:rPr lang="en-US" sz="1600" dirty="0"/>
              <a:t>: This is one of the most commonly used strategies. Here, with probability less than ϵ (where ϵ is a small positive value), the agent takes a random action (exploration), and with probability 1−ϵ, the agent takes the action that it believes to be the best based on its current knowledge (exploitation).</a:t>
            </a:r>
          </a:p>
          <a:p>
            <a:pPr lvl="0" eaLnBrk="0" fontAlgn="base">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lvl="0" eaLnBrk="0" fontAlgn="base">
              <a:spcBef>
                <a:spcPct val="0"/>
              </a:spcBef>
              <a:spcAft>
                <a:spcPct val="0"/>
              </a:spcAft>
            </a:pPr>
            <a:r>
              <a:rPr lang="en-US" sz="1600" dirty="0"/>
              <a:t>Achieving the right balance is essential. Too much exploration can result in the agent never really benefiting from what it learns (always trying new things and never capitalizing on known good actions). Conversely, too much exploitation can prevent the agent from discovering potentially better strategies.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18518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EB6F82-0868-E671-8146-D1E6E03C453F}"/>
              </a:ext>
            </a:extLst>
          </p:cNvPr>
          <p:cNvSpPr/>
          <p:nvPr/>
        </p:nvSpPr>
        <p:spPr>
          <a:xfrm>
            <a:off x="3419856" y="2907792"/>
            <a:ext cx="5943600" cy="402336"/>
          </a:xfrm>
          <a:prstGeom prst="rect">
            <a:avLst/>
          </a:prstGeom>
          <a:solidFill>
            <a:schemeClr val="tx2">
              <a:lumMod val="20000"/>
              <a:lumOff val="80000"/>
            </a:schemeClr>
          </a:solidFill>
          <a:ln w="28575"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orbel"/>
            </a:endParaRPr>
          </a:p>
        </p:txBody>
      </p:sp>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Basic steps in training an agent using Q-learning</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512152" y="1164054"/>
                <a:ext cx="10321872" cy="5346474"/>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1800" dirty="0"/>
              </a:p>
              <a:p>
                <a:pPr>
                  <a:buFont typeface="+mj-lt"/>
                  <a:buAutoNum type="arabicPeriod"/>
                </a:pPr>
                <a:r>
                  <a:rPr lang="en-US" sz="1800" dirty="0"/>
                  <a:t>Agent starts in a state (s1) takes an action (a1) and receives a reward (r1) and moves to state s2</a:t>
                </a:r>
              </a:p>
              <a:p>
                <a:pPr>
                  <a:buFont typeface="+mj-lt"/>
                  <a:buAutoNum type="arabicPeriod"/>
                </a:pPr>
                <a:r>
                  <a:rPr lang="en-US" sz="1800" dirty="0"/>
                  <a:t>Agent selects action by referencing Q-table with highest value (max) </a:t>
                </a:r>
                <a:r>
                  <a:rPr lang="en-US" sz="1800" b="1" dirty="0"/>
                  <a:t>OR</a:t>
                </a:r>
                <a:r>
                  <a:rPr lang="en-US" sz="1800" dirty="0"/>
                  <a:t> by random (epsilon, </a:t>
                </a:r>
                <a:r>
                  <a:rPr lang="el-GR" sz="1800" dirty="0"/>
                  <a:t>ε)</a:t>
                </a:r>
              </a:p>
              <a:p>
                <a:pPr>
                  <a:buFont typeface="+mj-lt"/>
                  <a:buAutoNum type="arabicPeriod"/>
                </a:pPr>
                <a:r>
                  <a:rPr lang="en-US" sz="1800" dirty="0"/>
                  <a:t>Update q-values</a:t>
                </a:r>
                <a14:m>
                  <m:oMath xmlns:m="http://schemas.openxmlformats.org/officeDocument/2006/math">
                    <m:r>
                      <a:rPr lang="en-US" sz="1800" b="0" i="0" smtClean="0">
                        <a:latin typeface="Cambria Math" panose="02040503050406030204" pitchFamily="18" charset="0"/>
                      </a:rPr>
                      <m:t>    </m:t>
                    </m:r>
                    <m:r>
                      <a:rPr lang="en-US" sz="1800" b="1" i="1">
                        <a:latin typeface="Cambria Math" panose="02040503050406030204" pitchFamily="18" charset="0"/>
                      </a:rPr>
                      <m:t>𝑸</m:t>
                    </m:r>
                    <m:d>
                      <m:dPr>
                        <m:ctrlPr>
                          <a:rPr lang="en-US" sz="1800" b="1" i="1">
                            <a:latin typeface="Cambria Math" panose="02040503050406030204" pitchFamily="18" charset="0"/>
                          </a:rPr>
                        </m:ctrlPr>
                      </m:dPr>
                      <m:e>
                        <m:r>
                          <a:rPr lang="en-US" sz="1800" b="1" i="1">
                            <a:latin typeface="Cambria Math" panose="02040503050406030204" pitchFamily="18" charset="0"/>
                          </a:rPr>
                          <m:t>𝒔</m:t>
                        </m:r>
                        <m:r>
                          <a:rPr lang="en-US" sz="1800" b="1" i="1">
                            <a:latin typeface="Cambria Math" panose="02040503050406030204" pitchFamily="18" charset="0"/>
                          </a:rPr>
                          <m:t>,</m:t>
                        </m:r>
                        <m:r>
                          <a:rPr lang="en-US" sz="1800" b="1" i="1">
                            <a:latin typeface="Cambria Math" panose="02040503050406030204" pitchFamily="18" charset="0"/>
                          </a:rPr>
                          <m:t>𝒂</m:t>
                        </m:r>
                      </m:e>
                    </m:d>
                    <m:r>
                      <a:rPr lang="en-US" sz="1800" b="1" i="1">
                        <a:latin typeface="Cambria Math" panose="02040503050406030204" pitchFamily="18" charset="0"/>
                      </a:rPr>
                      <m:t>=</m:t>
                    </m:r>
                    <m:r>
                      <a:rPr lang="en-US" sz="1800" b="1" i="1">
                        <a:latin typeface="Cambria Math" panose="02040503050406030204" pitchFamily="18" charset="0"/>
                      </a:rPr>
                      <m:t>𝑸</m:t>
                    </m:r>
                    <m:d>
                      <m:dPr>
                        <m:ctrlPr>
                          <a:rPr lang="en-US" sz="1800" b="1" i="1">
                            <a:latin typeface="Cambria Math" panose="02040503050406030204" pitchFamily="18" charset="0"/>
                          </a:rPr>
                        </m:ctrlPr>
                      </m:dPr>
                      <m:e>
                        <m:r>
                          <a:rPr lang="en-US" sz="1800" b="1" i="1">
                            <a:latin typeface="Cambria Math" panose="02040503050406030204" pitchFamily="18" charset="0"/>
                          </a:rPr>
                          <m:t>𝒔</m:t>
                        </m:r>
                        <m:r>
                          <a:rPr lang="en-US" sz="1800" b="1" i="1">
                            <a:latin typeface="Cambria Math" panose="02040503050406030204" pitchFamily="18" charset="0"/>
                          </a:rPr>
                          <m:t>,</m:t>
                        </m:r>
                        <m:r>
                          <a:rPr lang="en-US" sz="1800" b="1" i="1">
                            <a:latin typeface="Cambria Math" panose="02040503050406030204" pitchFamily="18" charset="0"/>
                          </a:rPr>
                          <m:t>𝒂</m:t>
                        </m:r>
                      </m:e>
                    </m:d>
                    <m:r>
                      <a:rPr lang="en-US" sz="1800" b="1" i="1">
                        <a:latin typeface="Cambria Math" panose="02040503050406030204" pitchFamily="18" charset="0"/>
                      </a:rPr>
                      <m:t>+ </m:t>
                    </m:r>
                    <m:r>
                      <a:rPr lang="en-US" sz="1800" b="1" i="1">
                        <a:latin typeface="Cambria Math" panose="02040503050406030204" pitchFamily="18" charset="0"/>
                      </a:rPr>
                      <m:t>𝒂</m:t>
                    </m:r>
                    <m:r>
                      <a:rPr lang="en-US" sz="1800" b="1" i="1">
                        <a:latin typeface="Cambria Math" panose="02040503050406030204" pitchFamily="18" charset="0"/>
                      </a:rPr>
                      <m:t> ( </m:t>
                    </m:r>
                    <m:r>
                      <a:rPr lang="en-US" sz="1800" b="1" i="1">
                        <a:latin typeface="Cambria Math" panose="02040503050406030204" pitchFamily="18" charset="0"/>
                      </a:rPr>
                      <m:t>𝑹</m:t>
                    </m:r>
                    <m:d>
                      <m:dPr>
                        <m:ctrlPr>
                          <a:rPr lang="en-US" sz="1800" b="1" i="1">
                            <a:latin typeface="Cambria Math" panose="02040503050406030204" pitchFamily="18" charset="0"/>
                          </a:rPr>
                        </m:ctrlPr>
                      </m:dPr>
                      <m:e>
                        <m:r>
                          <a:rPr lang="en-US" sz="1800" b="1" i="1">
                            <a:latin typeface="Cambria Math" panose="02040503050406030204" pitchFamily="18" charset="0"/>
                          </a:rPr>
                          <m:t>𝒔</m:t>
                        </m:r>
                      </m:e>
                    </m:d>
                    <m:r>
                      <a:rPr lang="en-US" sz="1800" b="1" i="1">
                        <a:latin typeface="Cambria Math" panose="02040503050406030204" pitchFamily="18" charset="0"/>
                      </a:rPr>
                      <m:t>+ </m:t>
                    </m:r>
                    <m:r>
                      <a:rPr lang="en-US" sz="1800" b="1" i="1">
                        <a:latin typeface="Cambria Math" panose="02040503050406030204" pitchFamily="18" charset="0"/>
                        <a:ea typeface="Cambria Math" panose="02040503050406030204" pitchFamily="18" charset="0"/>
                      </a:rPr>
                      <m:t>𝜸</m:t>
                    </m:r>
                    <m:r>
                      <a:rPr lang="en-US" sz="1800" b="1" i="1">
                        <a:latin typeface="Cambria Math" panose="02040503050406030204" pitchFamily="18" charset="0"/>
                        <a:ea typeface="Cambria Math" panose="02040503050406030204" pitchFamily="18" charset="0"/>
                      </a:rPr>
                      <m:t> </m:t>
                    </m:r>
                    <m:f>
                      <m:fPr>
                        <m:ctrlPr>
                          <a:rPr lang="en-US" sz="1800" b="1" i="1">
                            <a:latin typeface="Cambria Math" panose="02040503050406030204" pitchFamily="18" charset="0"/>
                            <a:ea typeface="Cambria Math" panose="02040503050406030204" pitchFamily="18" charset="0"/>
                          </a:rPr>
                        </m:ctrlPr>
                      </m:fPr>
                      <m:num>
                        <m:r>
                          <a:rPr lang="en-US" sz="1800" b="1" i="1">
                            <a:latin typeface="Cambria Math" panose="02040503050406030204" pitchFamily="18" charset="0"/>
                            <a:ea typeface="Cambria Math" panose="02040503050406030204" pitchFamily="18" charset="0"/>
                          </a:rPr>
                          <m:t>𝒎𝒂𝒙</m:t>
                        </m:r>
                      </m:num>
                      <m:den>
                        <m:sSup>
                          <m:sSupPr>
                            <m:ctrlPr>
                              <a:rPr lang="en-US" sz="1800" b="1" i="1">
                                <a:latin typeface="Cambria Math" panose="02040503050406030204" pitchFamily="18" charset="0"/>
                                <a:ea typeface="Cambria Math" panose="02040503050406030204" pitchFamily="18" charset="0"/>
                              </a:rPr>
                            </m:ctrlPr>
                          </m:sSupPr>
                          <m:e>
                            <m:r>
                              <a:rPr lang="en-US" sz="1800" b="1" i="1">
                                <a:latin typeface="Cambria Math" panose="02040503050406030204" pitchFamily="18" charset="0"/>
                                <a:ea typeface="Cambria Math" panose="02040503050406030204" pitchFamily="18" charset="0"/>
                              </a:rPr>
                              <m:t>𝒂</m:t>
                            </m:r>
                          </m:e>
                          <m:sup>
                            <m:r>
                              <a:rPr lang="en-US" sz="1800" b="1" i="1">
                                <a:latin typeface="Cambria Math" panose="02040503050406030204" pitchFamily="18" charset="0"/>
                                <a:ea typeface="Cambria Math" panose="02040503050406030204" pitchFamily="18" charset="0"/>
                              </a:rPr>
                              <m:t>′</m:t>
                            </m:r>
                          </m:sup>
                        </m:sSup>
                      </m:den>
                    </m:f>
                    <m:r>
                      <a:rPr lang="en-US" sz="1800" b="1" i="1">
                        <a:latin typeface="Cambria Math" panose="02040503050406030204" pitchFamily="18" charset="0"/>
                        <a:ea typeface="Cambria Math" panose="02040503050406030204" pitchFamily="18" charset="0"/>
                      </a:rPr>
                      <m:t> </m:t>
                    </m:r>
                    <m:r>
                      <a:rPr lang="en-US" sz="1800" b="1" i="1">
                        <a:latin typeface="Cambria Math" panose="02040503050406030204" pitchFamily="18" charset="0"/>
                        <a:ea typeface="Cambria Math" panose="02040503050406030204" pitchFamily="18" charset="0"/>
                      </a:rPr>
                      <m:t>𝑸</m:t>
                    </m:r>
                    <m:d>
                      <m:dPr>
                        <m:ctrlPr>
                          <a:rPr lang="en-US" sz="1800" b="1" i="1">
                            <a:latin typeface="Cambria Math" panose="02040503050406030204" pitchFamily="18" charset="0"/>
                            <a:ea typeface="Cambria Math" panose="02040503050406030204" pitchFamily="18" charset="0"/>
                          </a:rPr>
                        </m:ctrlPr>
                      </m:dPr>
                      <m:e>
                        <m:sSup>
                          <m:sSupPr>
                            <m:ctrlPr>
                              <a:rPr lang="en-US" sz="1800" b="1" i="1">
                                <a:latin typeface="Cambria Math" panose="02040503050406030204" pitchFamily="18" charset="0"/>
                                <a:ea typeface="Cambria Math" panose="02040503050406030204" pitchFamily="18" charset="0"/>
                              </a:rPr>
                            </m:ctrlPr>
                          </m:sSupPr>
                          <m:e>
                            <m:r>
                              <a:rPr lang="en-US" sz="1800" b="1" i="1">
                                <a:latin typeface="Cambria Math" panose="02040503050406030204" pitchFamily="18" charset="0"/>
                                <a:ea typeface="Cambria Math" panose="02040503050406030204" pitchFamily="18" charset="0"/>
                              </a:rPr>
                              <m:t>𝒔</m:t>
                            </m:r>
                          </m:e>
                          <m:sup>
                            <m:r>
                              <a:rPr lang="en-US" sz="1800" b="1" i="1">
                                <a:latin typeface="Cambria Math" panose="02040503050406030204" pitchFamily="18" charset="0"/>
                                <a:ea typeface="Cambria Math" panose="02040503050406030204" pitchFamily="18" charset="0"/>
                              </a:rPr>
                              <m:t>′</m:t>
                            </m:r>
                          </m:sup>
                        </m:sSup>
                        <m:r>
                          <a:rPr lang="en-US" sz="1800" b="1" i="1">
                            <a:latin typeface="Cambria Math" panose="02040503050406030204" pitchFamily="18" charset="0"/>
                            <a:ea typeface="Cambria Math" panose="02040503050406030204" pitchFamily="18" charset="0"/>
                          </a:rPr>
                          <m:t>, </m:t>
                        </m:r>
                        <m:r>
                          <a:rPr lang="en-US" sz="1800" b="1" i="1">
                            <a:latin typeface="Cambria Math" panose="02040503050406030204" pitchFamily="18" charset="0"/>
                            <a:ea typeface="Cambria Math" panose="02040503050406030204" pitchFamily="18" charset="0"/>
                          </a:rPr>
                          <m:t>𝒂</m:t>
                        </m:r>
                        <m:r>
                          <a:rPr lang="en-US" sz="1800" b="1" i="1">
                            <a:latin typeface="Cambria Math" panose="02040503050406030204" pitchFamily="18" charset="0"/>
                            <a:ea typeface="Cambria Math" panose="02040503050406030204" pitchFamily="18" charset="0"/>
                          </a:rPr>
                          <m:t>′</m:t>
                        </m:r>
                      </m:e>
                    </m:d>
                    <m:r>
                      <a:rPr lang="en-US" sz="1800" b="1" i="1">
                        <a:latin typeface="Cambria Math" panose="02040503050406030204" pitchFamily="18" charset="0"/>
                        <a:ea typeface="Cambria Math" panose="02040503050406030204" pitchFamily="18" charset="0"/>
                      </a:rPr>
                      <m:t> −</m:t>
                    </m:r>
                    <m:r>
                      <a:rPr lang="en-US" sz="1800" b="1" i="1">
                        <a:latin typeface="Cambria Math" panose="02040503050406030204" pitchFamily="18" charset="0"/>
                        <a:ea typeface="Cambria Math" panose="02040503050406030204" pitchFamily="18" charset="0"/>
                      </a:rPr>
                      <m:t>𝑸</m:t>
                    </m:r>
                    <m:d>
                      <m:dPr>
                        <m:ctrlPr>
                          <a:rPr lang="en-US" sz="1800" b="1" i="1">
                            <a:latin typeface="Cambria Math" panose="02040503050406030204" pitchFamily="18" charset="0"/>
                            <a:ea typeface="Cambria Math" panose="02040503050406030204" pitchFamily="18" charset="0"/>
                          </a:rPr>
                        </m:ctrlPr>
                      </m:dPr>
                      <m:e>
                        <m:r>
                          <a:rPr lang="en-US" sz="1800" b="1" i="1">
                            <a:latin typeface="Cambria Math" panose="02040503050406030204" pitchFamily="18" charset="0"/>
                            <a:ea typeface="Cambria Math" panose="02040503050406030204" pitchFamily="18" charset="0"/>
                          </a:rPr>
                          <m:t>𝒔</m:t>
                        </m:r>
                        <m:r>
                          <a:rPr lang="en-US" sz="1800" b="1" i="1">
                            <a:latin typeface="Cambria Math" panose="02040503050406030204" pitchFamily="18" charset="0"/>
                            <a:ea typeface="Cambria Math" panose="02040503050406030204" pitchFamily="18" charset="0"/>
                          </a:rPr>
                          <m:t>,</m:t>
                        </m:r>
                        <m:r>
                          <a:rPr lang="en-US" sz="1800" b="1" i="1">
                            <a:latin typeface="Cambria Math" panose="02040503050406030204" pitchFamily="18" charset="0"/>
                            <a:ea typeface="Cambria Math" panose="02040503050406030204" pitchFamily="18" charset="0"/>
                          </a:rPr>
                          <m:t>𝒂</m:t>
                        </m:r>
                      </m:e>
                    </m:d>
                    <m:r>
                      <a:rPr lang="en-US" sz="1800" b="1" i="1">
                        <a:latin typeface="Cambria Math" panose="02040503050406030204" pitchFamily="18" charset="0"/>
                        <a:ea typeface="Cambria Math" panose="02040503050406030204" pitchFamily="18" charset="0"/>
                      </a:rPr>
                      <m:t>)</m:t>
                    </m:r>
                  </m:oMath>
                </a14:m>
                <a:r>
                  <a:rPr lang="en-US" sz="1800" dirty="0"/>
                  <a:t>  where the term </a:t>
                </a:r>
                <a14:m>
                  <m:oMath xmlns:m="http://schemas.openxmlformats.org/officeDocument/2006/math">
                    <m:f>
                      <m:fPr>
                        <m:ctrlPr>
                          <a:rPr lang="en-US" sz="1800">
                            <a:latin typeface="Cambria Math" panose="02040503050406030204" pitchFamily="18" charset="0"/>
                          </a:rPr>
                        </m:ctrlPr>
                      </m:fPr>
                      <m:num>
                        <m:r>
                          <a:rPr lang="en-US" sz="1800">
                            <a:latin typeface="Cambria Math" panose="02040503050406030204" pitchFamily="18" charset="0"/>
                          </a:rPr>
                          <m:t>𝒎𝒂𝒙</m:t>
                        </m:r>
                      </m:num>
                      <m:den>
                        <m:sSup>
                          <m:sSupPr>
                            <m:ctrlPr>
                              <a:rPr lang="en-US" sz="1800">
                                <a:latin typeface="Cambria Math" panose="02040503050406030204" pitchFamily="18" charset="0"/>
                              </a:rPr>
                            </m:ctrlPr>
                          </m:sSupPr>
                          <m:e>
                            <m:r>
                              <a:rPr lang="en-US" sz="1800">
                                <a:latin typeface="Cambria Math" panose="02040503050406030204" pitchFamily="18" charset="0"/>
                              </a:rPr>
                              <m:t>𝒂</m:t>
                            </m:r>
                          </m:e>
                          <m:sup>
                            <m:r>
                              <a:rPr lang="en-US" sz="1800">
                                <a:latin typeface="Cambria Math" panose="02040503050406030204" pitchFamily="18" charset="0"/>
                              </a:rPr>
                              <m:t>′</m:t>
                            </m:r>
                          </m:sup>
                        </m:sSup>
                      </m:den>
                    </m:f>
                    <m:r>
                      <a:rPr lang="en-US" sz="1800">
                        <a:latin typeface="Cambria Math" panose="02040503050406030204" pitchFamily="18" charset="0"/>
                      </a:rPr>
                      <m:t> </m:t>
                    </m:r>
                    <m:r>
                      <a:rPr lang="en-US" sz="1800">
                        <a:latin typeface="Cambria Math" panose="02040503050406030204" pitchFamily="18" charset="0"/>
                      </a:rPr>
                      <m:t>𝑸</m:t>
                    </m:r>
                    <m:d>
                      <m:dPr>
                        <m:ctrlPr>
                          <a:rPr lang="en-US" sz="1800" i="1">
                            <a:latin typeface="Cambria Math" panose="02040503050406030204" pitchFamily="18" charset="0"/>
                          </a:rPr>
                        </m:ctrlPr>
                      </m:dPr>
                      <m:e>
                        <m:sSup>
                          <m:sSupPr>
                            <m:ctrlPr>
                              <a:rPr lang="en-US" sz="1800">
                                <a:latin typeface="Cambria Math" panose="02040503050406030204" pitchFamily="18" charset="0"/>
                              </a:rPr>
                            </m:ctrlPr>
                          </m:sSupPr>
                          <m:e>
                            <m:r>
                              <a:rPr lang="en-US" sz="1800">
                                <a:latin typeface="Cambria Math" panose="02040503050406030204" pitchFamily="18" charset="0"/>
                              </a:rPr>
                              <m:t>𝒔</m:t>
                            </m:r>
                          </m:e>
                          <m:sup>
                            <m:r>
                              <a:rPr lang="en-US" sz="1800">
                                <a:latin typeface="Cambria Math" panose="02040503050406030204" pitchFamily="18" charset="0"/>
                              </a:rPr>
                              <m:t>′</m:t>
                            </m:r>
                          </m:sup>
                        </m:sSup>
                        <m:r>
                          <a:rPr lang="en-US" sz="1800">
                            <a:latin typeface="Cambria Math" panose="02040503050406030204" pitchFamily="18" charset="0"/>
                          </a:rPr>
                          <m:t>, </m:t>
                        </m:r>
                        <m:r>
                          <a:rPr lang="en-US" sz="1800">
                            <a:latin typeface="Cambria Math" panose="02040503050406030204" pitchFamily="18" charset="0"/>
                          </a:rPr>
                          <m:t>𝒂</m:t>
                        </m:r>
                        <m:r>
                          <a:rPr lang="en-US" sz="1800">
                            <a:latin typeface="Cambria Math" panose="02040503050406030204" pitchFamily="18" charset="0"/>
                          </a:rPr>
                          <m:t>′</m:t>
                        </m:r>
                      </m:e>
                    </m:d>
                    <m:r>
                      <a:rPr lang="en-US" sz="1800">
                        <a:latin typeface="Cambria Math" panose="02040503050406030204" pitchFamily="18" charset="0"/>
                      </a:rPr>
                      <m:t>  </m:t>
                    </m:r>
                    <m:r>
                      <a:rPr lang="en-US" sz="1800" b="1" i="0">
                        <a:latin typeface="Cambria Math" panose="02040503050406030204" pitchFamily="18" charset="0"/>
                      </a:rPr>
                      <m:t>𝐢𝐬</m:t>
                    </m:r>
                    <m:r>
                      <a:rPr lang="en-US" sz="1800" b="1" i="0">
                        <a:latin typeface="Cambria Math" panose="02040503050406030204" pitchFamily="18" charset="0"/>
                      </a:rPr>
                      <m:t> </m:t>
                    </m:r>
                    <m:r>
                      <a:rPr lang="en-US" sz="1800" b="1" i="0">
                        <a:latin typeface="Cambria Math" panose="02040503050406030204" pitchFamily="18" charset="0"/>
                      </a:rPr>
                      <m:t>𝐭𝐡𝐞</m:t>
                    </m:r>
                    <m:r>
                      <a:rPr lang="en-US" sz="1800" b="1" i="0">
                        <a:latin typeface="Cambria Math" panose="02040503050406030204" pitchFamily="18" charset="0"/>
                      </a:rPr>
                      <m:t> </m:t>
                    </m:r>
                    <m:r>
                      <a:rPr lang="en-US" sz="1800" b="1" i="0" smtClean="0">
                        <a:latin typeface="Cambria Math" panose="02040503050406030204" pitchFamily="18" charset="0"/>
                      </a:rPr>
                      <m:t>𝐐</m:t>
                    </m:r>
                    <m:r>
                      <a:rPr lang="en-US" sz="1800" b="1" i="0" smtClean="0">
                        <a:latin typeface="Cambria Math" panose="02040503050406030204" pitchFamily="18" charset="0"/>
                      </a:rPr>
                      <m:t>−</m:t>
                    </m:r>
                    <m:r>
                      <a:rPr lang="en-US" sz="1800" b="1" i="0" smtClean="0">
                        <a:latin typeface="Cambria Math" panose="02040503050406030204" pitchFamily="18" charset="0"/>
                      </a:rPr>
                      <m:t>𝐕𝐚𝐥𝐮𝐞</m:t>
                    </m:r>
                    <m:r>
                      <a:rPr lang="en-US" sz="1800" b="1" i="0">
                        <a:latin typeface="Cambria Math" panose="02040503050406030204" pitchFamily="18" charset="0"/>
                      </a:rPr>
                      <m:t> </m:t>
                    </m:r>
                    <m:r>
                      <a:rPr lang="en-US" sz="1800" b="1" i="0">
                        <a:latin typeface="Cambria Math" panose="02040503050406030204" pitchFamily="18" charset="0"/>
                      </a:rPr>
                      <m:t>𝐚𝐬𝐬𝐨𝐜𝐢𝐚𝐭𝐞𝐝</m:t>
                    </m:r>
                    <m:r>
                      <a:rPr lang="en-US" sz="1800" b="1" i="0">
                        <a:latin typeface="Cambria Math" panose="02040503050406030204" pitchFamily="18" charset="0"/>
                      </a:rPr>
                      <m:t> </m:t>
                    </m:r>
                    <m:r>
                      <a:rPr lang="en-US" sz="1800" b="1" i="0">
                        <a:latin typeface="Cambria Math" panose="02040503050406030204" pitchFamily="18" charset="0"/>
                      </a:rPr>
                      <m:t>𝐰𝐢𝐭𝐡</m:t>
                    </m:r>
                    <m:r>
                      <a:rPr lang="en-US" sz="1800" b="1" i="0">
                        <a:latin typeface="Cambria Math" panose="02040503050406030204" pitchFamily="18" charset="0"/>
                      </a:rPr>
                      <m:t> </m:t>
                    </m:r>
                    <m:r>
                      <a:rPr lang="en-US" sz="1800" b="1" i="0">
                        <a:latin typeface="Cambria Math" panose="02040503050406030204" pitchFamily="18" charset="0"/>
                      </a:rPr>
                      <m:t>𝐭𝐡𝐞</m:t>
                    </m:r>
                    <m:r>
                      <a:rPr lang="en-US" sz="1800" b="1" i="0">
                        <a:latin typeface="Cambria Math" panose="02040503050406030204" pitchFamily="18" charset="0"/>
                      </a:rPr>
                      <m:t> </m:t>
                    </m:r>
                    <m:r>
                      <a:rPr lang="en-US" sz="1800" b="1" i="0">
                        <a:latin typeface="Cambria Math" panose="02040503050406030204" pitchFamily="18" charset="0"/>
                      </a:rPr>
                      <m:t>𝐚𝐜𝐭𝐢𝐨𝐧</m:t>
                    </m:r>
                    <m:r>
                      <a:rPr lang="en-US" sz="1800" b="1" i="0">
                        <a:latin typeface="Cambria Math" panose="02040503050406030204" pitchFamily="18" charset="0"/>
                      </a:rPr>
                      <m:t> </m:t>
                    </m:r>
                  </m:oMath>
                </a14:m>
                <a:r>
                  <a:rPr lang="en-US" sz="1800" b="1" dirty="0"/>
                  <a:t>with the max Q-Value in the next state.</a:t>
                </a:r>
              </a:p>
              <a:p>
                <a:pPr>
                  <a:buFont typeface="+mj-lt"/>
                  <a:buAutoNum type="arabicPeriod"/>
                </a:pPr>
                <a:r>
                  <a:rPr lang="en-US" sz="1800" dirty="0"/>
                  <a:t>Apply this rule in every state till you reach the terminal state.</a:t>
                </a:r>
              </a:p>
              <a:p>
                <a:pPr>
                  <a:buFont typeface="+mj-lt"/>
                  <a:buAutoNum type="arabicPeriod"/>
                </a:pPr>
                <a:r>
                  <a:rPr lang="en-US" sz="1800" dirty="0"/>
                  <a:t>The reward system needs to be defined for each environment. Terminal state / s need to be defined – when does an episode end after it has started.</a:t>
                </a:r>
              </a:p>
              <a:p>
                <a:pPr>
                  <a:buFont typeface="+mj-lt"/>
                  <a:buAutoNum type="arabicPeriod"/>
                </a:pPr>
                <a:r>
                  <a:rPr lang="en-US" sz="1800" dirty="0"/>
                  <a:t>Run the training process for n number of episodes till the agent has learned the optimal policy and does what you want it to do every time.</a:t>
                </a:r>
              </a:p>
              <a:p>
                <a:pPr>
                  <a:buFont typeface="+mj-lt"/>
                  <a:buAutoNum type="arabicPeriod"/>
                </a:pPr>
                <a:r>
                  <a:rPr lang="en-US" sz="1800" dirty="0"/>
                  <a:t>Point to note is that the Q values are carried over to the next episode. This is required otherwise the policy will never converge to an optimum one.</a:t>
                </a:r>
              </a:p>
              <a:p>
                <a:pPr>
                  <a:buFont typeface="+mj-lt"/>
                  <a:buAutoNum type="arabicPeriod"/>
                </a:pPr>
                <a:r>
                  <a:rPr lang="en-US" sz="1800" dirty="0"/>
                  <a:t>Once you have the optimal policy, it can be deployed for normal use.</a:t>
                </a:r>
              </a:p>
              <a:p>
                <a:pPr>
                  <a:buFont typeface="+mj-lt"/>
                  <a:buAutoNum type="arabicPeriod"/>
                </a:pPr>
                <a:endParaRPr lang="en-US" sz="1800" dirty="0"/>
              </a:p>
              <a:p>
                <a:pPr marL="0" indent="0">
                  <a:buNone/>
                </a:pPr>
                <a:endParaRPr lang="en-US" sz="1800" dirty="0"/>
              </a:p>
              <a:p>
                <a:pPr marL="0" indent="0">
                  <a:buNone/>
                </a:pPr>
                <a:r>
                  <a:rPr lang="en-US" sz="1800" dirty="0"/>
                  <a:t> 	</a:t>
                </a:r>
              </a:p>
              <a:p>
                <a:pPr marL="0" indent="0">
                  <a:buNone/>
                </a:pPr>
                <a:endParaRPr lang="en-US" sz="1800" dirty="0"/>
              </a:p>
              <a:p>
                <a:endParaRPr lang="en-US" sz="1800" dirty="0"/>
              </a:p>
            </p:txBody>
          </p:sp>
        </mc:Choice>
        <mc:Fallback xmlns="">
          <p:sp>
            <p:nvSpPr>
              <p:cNvPr id="5" name="Content Placeholder 2">
                <a:extLst>
                  <a:ext uri="{FF2B5EF4-FFF2-40B4-BE49-F238E27FC236}">
                    <a16:creationId xmlns:a16="http://schemas.microsoft.com/office/drawing/2014/main" id="{CE4F893B-FAFA-EF4F-8E17-A0C4F7C3C8C4}"/>
                  </a:ext>
                </a:extLst>
              </p:cNvPr>
              <p:cNvSpPr txBox="1">
                <a:spLocks noRot="1" noChangeAspect="1" noMove="1" noResize="1" noEditPoints="1" noAdjustHandles="1" noChangeArrowheads="1" noChangeShapeType="1" noTextEdit="1"/>
              </p:cNvSpPr>
              <p:nvPr/>
            </p:nvSpPr>
            <p:spPr>
              <a:xfrm>
                <a:off x="1512152" y="1164054"/>
                <a:ext cx="10321872" cy="5346474"/>
              </a:xfrm>
              <a:prstGeom prst="rect">
                <a:avLst/>
              </a:prstGeom>
              <a:blipFill>
                <a:blip r:embed="rId3"/>
                <a:stretch>
                  <a:fillRect l="-473" r="-413" b="-912"/>
                </a:stretch>
              </a:blipFill>
            </p:spPr>
            <p:txBody>
              <a:bodyPr/>
              <a:lstStyle/>
              <a:p>
                <a:r>
                  <a:rPr lang="en-US">
                    <a:noFill/>
                  </a:rPr>
                  <a:t> </a:t>
                </a:r>
              </a:p>
            </p:txBody>
          </p:sp>
        </mc:Fallback>
      </mc:AlternateContent>
    </p:spTree>
    <p:extLst>
      <p:ext uri="{BB962C8B-B14F-4D97-AF65-F5344CB8AC3E}">
        <p14:creationId xmlns:p14="http://schemas.microsoft.com/office/powerpoint/2010/main" val="278265091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gymnasium</a:t>
            </a:r>
            <a:r>
              <a:rPr lang="en-US" sz="3600" dirty="0"/>
              <a:t>: Python library</a:t>
            </a:r>
            <a:br>
              <a:rPr lang="en-US" sz="3600" dirty="0"/>
            </a:br>
            <a:r>
              <a:rPr lang="en-US" sz="3600" dirty="0"/>
              <a:t>Simulated environments for RL</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4643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Environments in basic gymnasium</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693742"/>
            <a:ext cx="9554267" cy="4952864"/>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r>
              <a:rPr lang="en-US" sz="1600" dirty="0"/>
              <a:t>Gymnasium includes the following families of environments along with a wide variety of third-party environments:</a:t>
            </a:r>
          </a:p>
          <a:p>
            <a:pPr marL="0" indent="0">
              <a:buNone/>
            </a:pPr>
            <a:r>
              <a:rPr lang="en-US" sz="1600" b="1" dirty="0"/>
              <a:t>Classic Control </a:t>
            </a:r>
            <a:r>
              <a:rPr lang="en-US" sz="1600" dirty="0"/>
              <a:t>- These are classic reinforcement learning based on real-world problems and physics. </a:t>
            </a:r>
          </a:p>
          <a:p>
            <a:pPr marL="0" indent="0">
              <a:buNone/>
            </a:pPr>
            <a:r>
              <a:rPr lang="en-US" sz="1600" b="1" dirty="0"/>
              <a:t>Box2D</a:t>
            </a:r>
            <a:r>
              <a:rPr lang="en-US" sz="1600" dirty="0"/>
              <a:t> - These environments all involve toy games based around physics control, using box2d based physics and </a:t>
            </a:r>
            <a:r>
              <a:rPr lang="en-US" sz="1600" dirty="0" err="1"/>
              <a:t>PyGame</a:t>
            </a:r>
            <a:r>
              <a:rPr lang="en-US" sz="1600" dirty="0"/>
              <a:t>-based rendering </a:t>
            </a:r>
          </a:p>
          <a:p>
            <a:pPr marL="0" indent="0">
              <a:buNone/>
            </a:pPr>
            <a:r>
              <a:rPr lang="en-US" sz="1600" b="1" dirty="0"/>
              <a:t>Toy Text </a:t>
            </a:r>
            <a:r>
              <a:rPr lang="en-US" sz="1600" dirty="0"/>
              <a:t>- These environments are designed to be extremely simple, with small discrete state and action spaces, and hence easy to learn. </a:t>
            </a:r>
          </a:p>
          <a:p>
            <a:pPr marL="0" indent="0">
              <a:buNone/>
            </a:pPr>
            <a:r>
              <a:rPr lang="en-US" sz="1600" b="1" dirty="0" err="1"/>
              <a:t>MuJoCo</a:t>
            </a:r>
            <a:r>
              <a:rPr lang="en-US" sz="1600" b="1" dirty="0"/>
              <a:t> </a:t>
            </a:r>
            <a:r>
              <a:rPr lang="en-US" sz="1600" dirty="0"/>
              <a:t>- A physics engine based environments with multi-joint control which are more complex than the Box2D environments. </a:t>
            </a:r>
          </a:p>
          <a:p>
            <a:pPr marL="0" indent="0">
              <a:buNone/>
            </a:pPr>
            <a:r>
              <a:rPr lang="en-US" sz="1600" b="1" dirty="0"/>
              <a:t>Atari</a:t>
            </a:r>
            <a:r>
              <a:rPr lang="en-US" sz="1600" dirty="0"/>
              <a:t> - A set of 57 Atari 2600 environments simulated through Stella and the Arcade Learning Environment that have a high range of complexity for agents to learn. </a:t>
            </a:r>
          </a:p>
          <a:p>
            <a:pPr marL="0" indent="0">
              <a:buNone/>
            </a:pPr>
            <a:r>
              <a:rPr lang="en-US" sz="1600" b="1" dirty="0"/>
              <a:t>Third-party</a:t>
            </a:r>
            <a:r>
              <a:rPr lang="en-US" sz="1600" dirty="0"/>
              <a:t> - A number of environments have been created that are compatible with the Gymnasium API. </a:t>
            </a:r>
          </a:p>
          <a:p>
            <a:pPr marL="0" indent="0">
              <a:buNone/>
            </a:pPr>
            <a:r>
              <a:rPr lang="en-US" sz="1600" dirty="0"/>
              <a:t>Be aware of the version that the software was created for and use the “</a:t>
            </a:r>
            <a:r>
              <a:rPr lang="en-US" sz="1600" dirty="0" err="1"/>
              <a:t>apply_env_compatibility</a:t>
            </a:r>
            <a:r>
              <a:rPr lang="en-US" sz="1600" dirty="0"/>
              <a:t>” in “</a:t>
            </a:r>
            <a:r>
              <a:rPr lang="en-US" sz="1600" dirty="0" err="1"/>
              <a:t>gymnasium.make“if</a:t>
            </a:r>
            <a:r>
              <a:rPr lang="en-US" sz="1600" dirty="0"/>
              <a:t> necessary.. 	</a:t>
            </a:r>
          </a:p>
          <a:p>
            <a:pPr marL="0" indent="0">
              <a:buNone/>
            </a:pPr>
            <a:endParaRPr lang="en-US" sz="1600" dirty="0"/>
          </a:p>
          <a:p>
            <a:endParaRPr lang="en-US" sz="1600" dirty="0"/>
          </a:p>
        </p:txBody>
      </p:sp>
    </p:spTree>
    <p:extLst>
      <p:ext uri="{BB962C8B-B14F-4D97-AF65-F5344CB8AC3E}">
        <p14:creationId xmlns:p14="http://schemas.microsoft.com/office/powerpoint/2010/main" val="2494998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Interacting with the environment</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381650"/>
            <a:ext cx="10435145" cy="5243437"/>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1600" dirty="0"/>
          </a:p>
          <a:p>
            <a:r>
              <a:rPr lang="en-US" sz="1600" b="1" dirty="0"/>
              <a:t>reset: </a:t>
            </a:r>
            <a:r>
              <a:rPr lang="en-US" sz="1600" dirty="0"/>
              <a:t>This function resets the environment to its initial state and returns the observation of the environment corresponding to the initial state.</a:t>
            </a:r>
          </a:p>
          <a:p>
            <a:r>
              <a:rPr lang="en-US" sz="1600" b="1" dirty="0"/>
              <a:t>step : </a:t>
            </a:r>
            <a:r>
              <a:rPr lang="en-US" sz="1600" dirty="0"/>
              <a:t>This function takes an action as an input and applies it to the environment, which leads to the environment transitioning to a new state. The step function returns four things:</a:t>
            </a:r>
          </a:p>
          <a:p>
            <a:r>
              <a:rPr lang="en-US" sz="1600" b="1" dirty="0"/>
              <a:t>observation: </a:t>
            </a:r>
            <a:r>
              <a:rPr lang="en-US" sz="1600" dirty="0"/>
              <a:t>The observation of the state of the environment.</a:t>
            </a:r>
          </a:p>
          <a:p>
            <a:r>
              <a:rPr lang="en-US" sz="1600" b="1" dirty="0"/>
              <a:t>reward: </a:t>
            </a:r>
            <a:r>
              <a:rPr lang="en-US" sz="1600" dirty="0"/>
              <a:t>The reward that you can get from the environment after executing the action that was given as the input to the step function.</a:t>
            </a:r>
          </a:p>
          <a:p>
            <a:r>
              <a:rPr lang="en-US" sz="1600" b="1" dirty="0"/>
              <a:t>done: </a:t>
            </a:r>
            <a:r>
              <a:rPr lang="en-US" sz="1600" dirty="0"/>
              <a:t>Whether the episode has been terminated. If true, you may need to end the simulation or reset the environment to restart the episode.</a:t>
            </a:r>
          </a:p>
          <a:p>
            <a:r>
              <a:rPr lang="en-US" sz="1600" b="1" dirty="0"/>
              <a:t>info: </a:t>
            </a:r>
            <a:r>
              <a:rPr lang="en-US" sz="1600" dirty="0"/>
              <a:t>This provides additional information depending on the environment, such as number of lives left, or general information that may be conducive in debugging. </a:t>
            </a:r>
          </a:p>
          <a:p>
            <a:pPr marL="0" indent="0">
              <a:buNone/>
            </a:pPr>
            <a:endParaRPr lang="en-US" sz="1600" dirty="0"/>
          </a:p>
          <a:p>
            <a:endParaRPr lang="en-US" sz="1600" dirty="0"/>
          </a:p>
        </p:txBody>
      </p:sp>
    </p:spTree>
    <p:extLst>
      <p:ext uri="{BB962C8B-B14F-4D97-AF65-F5344CB8AC3E}">
        <p14:creationId xmlns:p14="http://schemas.microsoft.com/office/powerpoint/2010/main" val="205643058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541224" cy="2667000"/>
          </a:xfrm>
        </p:spPr>
        <p:txBody>
          <a:bodyPr>
            <a:normAutofit/>
          </a:bodyPr>
          <a:lstStyle/>
          <a:p>
            <a:r>
              <a:rPr lang="en-US" sz="3600" dirty="0"/>
              <a:t>gymnasium – </a:t>
            </a:r>
            <a:br>
              <a:rPr lang="en-US" sz="3600" dirty="0"/>
            </a:br>
            <a:r>
              <a:rPr lang="en-US" sz="2800" dirty="0"/>
              <a:t>Taxicab</a:t>
            </a:r>
            <a:r>
              <a:rPr lang="en-US" sz="3600" dirty="0"/>
              <a:t> </a:t>
            </a:r>
            <a:r>
              <a:rPr lang="en-US" sz="2800" dirty="0"/>
              <a:t>Example 2,2a for discrete space &amp; action</a:t>
            </a:r>
            <a:endParaRPr lang="en-US" sz="3600"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19571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RL for continuous spaces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905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9659356"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Here is what we needed to do in discrete spaces</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542129" y="1313384"/>
            <a:ext cx="9659356" cy="2349352"/>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endParaRPr lang="en-US" sz="1800" b="0" i="1" dirty="0">
              <a:latin typeface="Cambria Math" panose="02040503050406030204" pitchFamily="18" charset="0"/>
            </a:endParaRPr>
          </a:p>
          <a:p>
            <a:r>
              <a:rPr lang="en-US" sz="1800" dirty="0">
                <a:solidFill>
                  <a:schemeClr val="tx1"/>
                </a:solidFill>
              </a:rPr>
              <a:t>We have 2 actions and 6 states (including 2 terminal states).</a:t>
            </a:r>
          </a:p>
          <a:p>
            <a:r>
              <a:rPr lang="en-US" sz="1800" dirty="0">
                <a:solidFill>
                  <a:schemeClr val="tx1"/>
                </a:solidFill>
              </a:rPr>
              <a:t>Q-table has to be a 6 x 2 size table all initialized with zero except the terminal states.</a:t>
            </a:r>
          </a:p>
          <a:p>
            <a:r>
              <a:rPr lang="en-US" sz="1800" dirty="0"/>
              <a:t>It updates them using the Bellman equation.</a:t>
            </a:r>
            <a:endParaRPr lang="en-US" sz="1800" dirty="0">
              <a:solidFill>
                <a:schemeClr val="tx1"/>
              </a:solidFill>
            </a:endParaRPr>
          </a:p>
          <a:p>
            <a:r>
              <a:rPr lang="en-US" sz="1800" dirty="0">
                <a:solidFill>
                  <a:schemeClr val="tx1"/>
                </a:solidFill>
              </a:rPr>
              <a:t>Terminal states are assigned their fixed reward values and episodes end at the terminal states.</a:t>
            </a:r>
          </a:p>
        </p:txBody>
      </p:sp>
      <p:grpSp>
        <p:nvGrpSpPr>
          <p:cNvPr id="2" name="Group 1">
            <a:extLst>
              <a:ext uri="{FF2B5EF4-FFF2-40B4-BE49-F238E27FC236}">
                <a16:creationId xmlns:a16="http://schemas.microsoft.com/office/drawing/2014/main" id="{C3E2DE63-FC90-8F7E-00F8-4F4D2CFD8154}"/>
              </a:ext>
            </a:extLst>
          </p:cNvPr>
          <p:cNvGrpSpPr/>
          <p:nvPr/>
        </p:nvGrpSpPr>
        <p:grpSpPr>
          <a:xfrm>
            <a:off x="4504542" y="4529872"/>
            <a:ext cx="7284196" cy="1015894"/>
            <a:chOff x="2695406" y="3222182"/>
            <a:chExt cx="7284196" cy="1015894"/>
          </a:xfrm>
        </p:grpSpPr>
        <p:grpSp>
          <p:nvGrpSpPr>
            <p:cNvPr id="3" name="Group 2">
              <a:extLst>
                <a:ext uri="{FF2B5EF4-FFF2-40B4-BE49-F238E27FC236}">
                  <a16:creationId xmlns:a16="http://schemas.microsoft.com/office/drawing/2014/main" id="{B326C349-D21A-BC94-DF01-865D08A903DB}"/>
                </a:ext>
              </a:extLst>
            </p:cNvPr>
            <p:cNvGrpSpPr/>
            <p:nvPr/>
          </p:nvGrpSpPr>
          <p:grpSpPr>
            <a:xfrm>
              <a:off x="2695406" y="3222182"/>
              <a:ext cx="7284196" cy="1015894"/>
              <a:chOff x="2001078" y="2006743"/>
              <a:chExt cx="8665334" cy="1359312"/>
            </a:xfrm>
          </p:grpSpPr>
          <p:sp>
            <p:nvSpPr>
              <p:cNvPr id="14" name="Rectangle 13">
                <a:extLst>
                  <a:ext uri="{FF2B5EF4-FFF2-40B4-BE49-F238E27FC236}">
                    <a16:creationId xmlns:a16="http://schemas.microsoft.com/office/drawing/2014/main" id="{31EC72F5-08D9-6709-25BB-73338D74CE79}"/>
                  </a:ext>
                </a:extLst>
              </p:cNvPr>
              <p:cNvSpPr/>
              <p:nvPr/>
            </p:nvSpPr>
            <p:spPr>
              <a:xfrm>
                <a:off x="2001078" y="2054090"/>
                <a:ext cx="8665334" cy="1311965"/>
              </a:xfrm>
              <a:prstGeom prst="rect">
                <a:avLst/>
              </a:prstGeom>
              <a:solidFill>
                <a:srgbClr val="FFFFFF"/>
              </a:solidFill>
              <a:ln w="381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cxnSp>
            <p:nvCxnSpPr>
              <p:cNvPr id="15" name="Straight Connector 14">
                <a:extLst>
                  <a:ext uri="{FF2B5EF4-FFF2-40B4-BE49-F238E27FC236}">
                    <a16:creationId xmlns:a16="http://schemas.microsoft.com/office/drawing/2014/main" id="{BA66FA0E-036E-4DF6-5538-A61239830F70}"/>
                  </a:ext>
                </a:extLst>
              </p:cNvPr>
              <p:cNvCxnSpPr/>
              <p:nvPr/>
            </p:nvCxnSpPr>
            <p:spPr>
              <a:xfrm>
                <a:off x="3419061" y="2054090"/>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6" name="Straight Connector 15">
                <a:extLst>
                  <a:ext uri="{FF2B5EF4-FFF2-40B4-BE49-F238E27FC236}">
                    <a16:creationId xmlns:a16="http://schemas.microsoft.com/office/drawing/2014/main" id="{11D56B39-6AA1-E23C-F3FA-BBA2C9AF08F4}"/>
                  </a:ext>
                </a:extLst>
              </p:cNvPr>
              <p:cNvCxnSpPr/>
              <p:nvPr/>
            </p:nvCxnSpPr>
            <p:spPr>
              <a:xfrm>
                <a:off x="4830417" y="2054090"/>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7" name="Straight Connector 16">
                <a:extLst>
                  <a:ext uri="{FF2B5EF4-FFF2-40B4-BE49-F238E27FC236}">
                    <a16:creationId xmlns:a16="http://schemas.microsoft.com/office/drawing/2014/main" id="{3BE04C2E-4A00-1264-7AA8-D08557B1A758}"/>
                  </a:ext>
                </a:extLst>
              </p:cNvPr>
              <p:cNvCxnSpPr/>
              <p:nvPr/>
            </p:nvCxnSpPr>
            <p:spPr>
              <a:xfrm>
                <a:off x="6301409" y="2054090"/>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AD2F672A-2F34-10C0-FFF7-DD6FAFEA82B5}"/>
                  </a:ext>
                </a:extLst>
              </p:cNvPr>
              <p:cNvCxnSpPr/>
              <p:nvPr/>
            </p:nvCxnSpPr>
            <p:spPr>
              <a:xfrm>
                <a:off x="7785652" y="2054090"/>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952BC8DE-B0F5-E0BA-A8DA-0E5E7F0A5D99}"/>
                  </a:ext>
                </a:extLst>
              </p:cNvPr>
              <p:cNvCxnSpPr/>
              <p:nvPr/>
            </p:nvCxnSpPr>
            <p:spPr>
              <a:xfrm>
                <a:off x="9322904" y="2054090"/>
                <a:ext cx="0" cy="1311965"/>
              </a:xfrm>
              <a:prstGeom prst="line">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pic>
            <p:nvPicPr>
              <p:cNvPr id="20" name="Picture 19">
                <a:extLst>
                  <a:ext uri="{FF2B5EF4-FFF2-40B4-BE49-F238E27FC236}">
                    <a16:creationId xmlns:a16="http://schemas.microsoft.com/office/drawing/2014/main" id="{19EC01D2-C47F-8560-151B-8613E9B290B9}"/>
                  </a:ext>
                </a:extLst>
              </p:cNvPr>
              <p:cNvPicPr>
                <a:picLocks noChangeAspect="1"/>
              </p:cNvPicPr>
              <p:nvPr/>
            </p:nvPicPr>
            <p:blipFill>
              <a:blip r:embed="rId3"/>
              <a:stretch>
                <a:fillRect/>
              </a:stretch>
            </p:blipFill>
            <p:spPr>
              <a:xfrm>
                <a:off x="2201174" y="2408174"/>
                <a:ext cx="853453" cy="598691"/>
              </a:xfrm>
              <a:prstGeom prst="rect">
                <a:avLst/>
              </a:prstGeom>
            </p:spPr>
          </p:pic>
          <p:pic>
            <p:nvPicPr>
              <p:cNvPr id="21" name="Picture 20">
                <a:extLst>
                  <a:ext uri="{FF2B5EF4-FFF2-40B4-BE49-F238E27FC236}">
                    <a16:creationId xmlns:a16="http://schemas.microsoft.com/office/drawing/2014/main" id="{F0A8D12B-419C-99B8-9E58-B41613BA1C9B}"/>
                  </a:ext>
                </a:extLst>
              </p:cNvPr>
              <p:cNvPicPr>
                <a:picLocks noChangeAspect="1"/>
              </p:cNvPicPr>
              <p:nvPr/>
            </p:nvPicPr>
            <p:blipFill>
              <a:blip r:embed="rId4"/>
              <a:stretch>
                <a:fillRect/>
              </a:stretch>
            </p:blipFill>
            <p:spPr>
              <a:xfrm>
                <a:off x="9587635" y="2419905"/>
                <a:ext cx="872644" cy="579640"/>
              </a:xfrm>
              <a:prstGeom prst="rect">
                <a:avLst/>
              </a:prstGeom>
            </p:spPr>
          </p:pic>
          <p:sp>
            <p:nvSpPr>
              <p:cNvPr id="22" name="TextBox 21">
                <a:extLst>
                  <a:ext uri="{FF2B5EF4-FFF2-40B4-BE49-F238E27FC236}">
                    <a16:creationId xmlns:a16="http://schemas.microsoft.com/office/drawing/2014/main" id="{EA2F0476-25C0-6950-00BA-702D07533AAD}"/>
                  </a:ext>
                </a:extLst>
              </p:cNvPr>
              <p:cNvSpPr txBox="1"/>
              <p:nvPr/>
            </p:nvSpPr>
            <p:spPr>
              <a:xfrm>
                <a:off x="2422072" y="2977712"/>
                <a:ext cx="4337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100</a:t>
                </a:r>
              </a:p>
            </p:txBody>
          </p:sp>
          <p:sp>
            <p:nvSpPr>
              <p:cNvPr id="23" name="TextBox 22">
                <a:extLst>
                  <a:ext uri="{FF2B5EF4-FFF2-40B4-BE49-F238E27FC236}">
                    <a16:creationId xmlns:a16="http://schemas.microsoft.com/office/drawing/2014/main" id="{D68D5B71-527A-91E1-FA4B-5337267857E5}"/>
                  </a:ext>
                </a:extLst>
              </p:cNvPr>
              <p:cNvSpPr txBox="1"/>
              <p:nvPr/>
            </p:nvSpPr>
            <p:spPr>
              <a:xfrm>
                <a:off x="9878020" y="2973390"/>
                <a:ext cx="32957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4</a:t>
                </a:r>
                <a:r>
                  <a:rPr kumimoji="0" lang="en-US" sz="1800" b="0" i="0" u="none" strike="noStrike" cap="none" spc="0" normalizeH="0" baseline="0" dirty="0">
                    <a:ln>
                      <a:noFill/>
                    </a:ln>
                    <a:solidFill>
                      <a:srgbClr val="000000"/>
                    </a:solidFill>
                    <a:effectLst/>
                    <a:uFillTx/>
                    <a:latin typeface="+mn-lt"/>
                    <a:ea typeface="+mn-ea"/>
                    <a:cs typeface="+mn-cs"/>
                    <a:sym typeface="Corbel"/>
                  </a:rPr>
                  <a:t>0</a:t>
                </a:r>
              </a:p>
            </p:txBody>
          </p:sp>
          <p:sp>
            <p:nvSpPr>
              <p:cNvPr id="24" name="TextBox 23">
                <a:extLst>
                  <a:ext uri="{FF2B5EF4-FFF2-40B4-BE49-F238E27FC236}">
                    <a16:creationId xmlns:a16="http://schemas.microsoft.com/office/drawing/2014/main" id="{E2140C2B-37D0-21FB-7491-176282215723}"/>
                  </a:ext>
                </a:extLst>
              </p:cNvPr>
              <p:cNvSpPr txBox="1"/>
              <p:nvPr/>
            </p:nvSpPr>
            <p:spPr>
              <a:xfrm>
                <a:off x="3889065" y="2925706"/>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0</a:t>
                </a:r>
              </a:p>
            </p:txBody>
          </p:sp>
          <p:sp>
            <p:nvSpPr>
              <p:cNvPr id="25" name="TextBox 24">
                <a:extLst>
                  <a:ext uri="{FF2B5EF4-FFF2-40B4-BE49-F238E27FC236}">
                    <a16:creationId xmlns:a16="http://schemas.microsoft.com/office/drawing/2014/main" id="{FED6CFDE-523D-4C67-FAC8-547C852D3404}"/>
                  </a:ext>
                </a:extLst>
              </p:cNvPr>
              <p:cNvSpPr txBox="1"/>
              <p:nvPr/>
            </p:nvSpPr>
            <p:spPr>
              <a:xfrm>
                <a:off x="5415585" y="2907129"/>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0</a:t>
                </a:r>
              </a:p>
            </p:txBody>
          </p:sp>
          <p:sp>
            <p:nvSpPr>
              <p:cNvPr id="26" name="TextBox 25">
                <a:extLst>
                  <a:ext uri="{FF2B5EF4-FFF2-40B4-BE49-F238E27FC236}">
                    <a16:creationId xmlns:a16="http://schemas.microsoft.com/office/drawing/2014/main" id="{9CCE8821-3B3B-3F05-6412-D63FAE9106CE}"/>
                  </a:ext>
                </a:extLst>
              </p:cNvPr>
              <p:cNvSpPr txBox="1"/>
              <p:nvPr/>
            </p:nvSpPr>
            <p:spPr>
              <a:xfrm>
                <a:off x="7088831" y="2940299"/>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0</a:t>
                </a:r>
              </a:p>
            </p:txBody>
          </p:sp>
          <p:sp>
            <p:nvSpPr>
              <p:cNvPr id="27" name="TextBox 26">
                <a:extLst>
                  <a:ext uri="{FF2B5EF4-FFF2-40B4-BE49-F238E27FC236}">
                    <a16:creationId xmlns:a16="http://schemas.microsoft.com/office/drawing/2014/main" id="{52C28850-35A4-2240-6BAA-0051601AA1C9}"/>
                  </a:ext>
                </a:extLst>
              </p:cNvPr>
              <p:cNvSpPr txBox="1"/>
              <p:nvPr/>
            </p:nvSpPr>
            <p:spPr>
              <a:xfrm>
                <a:off x="8448802" y="2907129"/>
                <a:ext cx="21095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0</a:t>
                </a:r>
              </a:p>
            </p:txBody>
          </p:sp>
          <p:sp>
            <p:nvSpPr>
              <p:cNvPr id="28" name="TextBox 27">
                <a:extLst>
                  <a:ext uri="{FF2B5EF4-FFF2-40B4-BE49-F238E27FC236}">
                    <a16:creationId xmlns:a16="http://schemas.microsoft.com/office/drawing/2014/main" id="{26B4F810-49D4-069E-7966-7E64BC8A9263}"/>
                  </a:ext>
                </a:extLst>
              </p:cNvPr>
              <p:cNvSpPr txBox="1"/>
              <p:nvPr/>
            </p:nvSpPr>
            <p:spPr>
              <a:xfrm>
                <a:off x="2522785" y="2086704"/>
                <a:ext cx="43377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100</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29" name="TextBox 28">
                <a:extLst>
                  <a:ext uri="{FF2B5EF4-FFF2-40B4-BE49-F238E27FC236}">
                    <a16:creationId xmlns:a16="http://schemas.microsoft.com/office/drawing/2014/main" id="{13A108AE-CDAD-94F2-E10E-E3E9677E5C83}"/>
                  </a:ext>
                </a:extLst>
              </p:cNvPr>
              <p:cNvSpPr txBox="1"/>
              <p:nvPr/>
            </p:nvSpPr>
            <p:spPr>
              <a:xfrm>
                <a:off x="9808241" y="2006743"/>
                <a:ext cx="32957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40</a:t>
                </a:r>
              </a:p>
            </p:txBody>
          </p:sp>
        </p:grpSp>
        <p:sp>
          <p:nvSpPr>
            <p:cNvPr id="4" name="TextBox 3">
              <a:extLst>
                <a:ext uri="{FF2B5EF4-FFF2-40B4-BE49-F238E27FC236}">
                  <a16:creationId xmlns:a16="http://schemas.microsoft.com/office/drawing/2014/main" id="{A42896CC-DA08-E740-C806-E3EE0FDF2877}"/>
                </a:ext>
              </a:extLst>
            </p:cNvPr>
            <p:cNvSpPr txBox="1"/>
            <p:nvPr/>
          </p:nvSpPr>
          <p:spPr>
            <a:xfrm>
              <a:off x="3929680" y="3509121"/>
              <a:ext cx="32156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50</a:t>
              </a:r>
            </a:p>
          </p:txBody>
        </p:sp>
        <p:sp>
          <p:nvSpPr>
            <p:cNvPr id="6" name="TextBox 5">
              <a:extLst>
                <a:ext uri="{FF2B5EF4-FFF2-40B4-BE49-F238E27FC236}">
                  <a16:creationId xmlns:a16="http://schemas.microsoft.com/office/drawing/2014/main" id="{F27AEF4C-CA16-57E7-6CB6-1AD74BC989E9}"/>
                </a:ext>
              </a:extLst>
            </p:cNvPr>
            <p:cNvSpPr txBox="1"/>
            <p:nvPr/>
          </p:nvSpPr>
          <p:spPr>
            <a:xfrm>
              <a:off x="4562671" y="3506516"/>
              <a:ext cx="48667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12.5</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7" name="TextBox 6">
              <a:extLst>
                <a:ext uri="{FF2B5EF4-FFF2-40B4-BE49-F238E27FC236}">
                  <a16:creationId xmlns:a16="http://schemas.microsoft.com/office/drawing/2014/main" id="{C38F50C4-5450-FF50-C45C-0F97FA39E80F}"/>
                </a:ext>
              </a:extLst>
            </p:cNvPr>
            <p:cNvSpPr txBox="1"/>
            <p:nvPr/>
          </p:nvSpPr>
          <p:spPr>
            <a:xfrm>
              <a:off x="5182706" y="3498204"/>
              <a:ext cx="32156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25</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8" name="TextBox 7">
              <a:extLst>
                <a:ext uri="{FF2B5EF4-FFF2-40B4-BE49-F238E27FC236}">
                  <a16:creationId xmlns:a16="http://schemas.microsoft.com/office/drawing/2014/main" id="{DD4C4190-98E4-8644-E9A8-A21B70FDDA8B}"/>
                </a:ext>
              </a:extLst>
            </p:cNvPr>
            <p:cNvSpPr txBox="1"/>
            <p:nvPr/>
          </p:nvSpPr>
          <p:spPr>
            <a:xfrm>
              <a:off x="6367058" y="3511535"/>
              <a:ext cx="48667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12.5</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9" name="TextBox 8">
              <a:extLst>
                <a:ext uri="{FF2B5EF4-FFF2-40B4-BE49-F238E27FC236}">
                  <a16:creationId xmlns:a16="http://schemas.microsoft.com/office/drawing/2014/main" id="{372D8EF1-F69D-04CF-E51A-5BC917ED420D}"/>
                </a:ext>
              </a:extLst>
            </p:cNvPr>
            <p:cNvSpPr txBox="1"/>
            <p:nvPr/>
          </p:nvSpPr>
          <p:spPr>
            <a:xfrm>
              <a:off x="7182906" y="3525599"/>
              <a:ext cx="31514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10</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10" name="TextBox 9">
              <a:extLst>
                <a:ext uri="{FF2B5EF4-FFF2-40B4-BE49-F238E27FC236}">
                  <a16:creationId xmlns:a16="http://schemas.microsoft.com/office/drawing/2014/main" id="{7AE0D310-73D9-6907-3A0A-9A28D08226C7}"/>
                </a:ext>
              </a:extLst>
            </p:cNvPr>
            <p:cNvSpPr txBox="1"/>
            <p:nvPr/>
          </p:nvSpPr>
          <p:spPr>
            <a:xfrm>
              <a:off x="7614732" y="3523284"/>
              <a:ext cx="50430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6.25</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11" name="TextBox 10">
              <a:extLst>
                <a:ext uri="{FF2B5EF4-FFF2-40B4-BE49-F238E27FC236}">
                  <a16:creationId xmlns:a16="http://schemas.microsoft.com/office/drawing/2014/main" id="{4CF110D4-7D98-6244-8C7C-E8CEB18B5086}"/>
                </a:ext>
              </a:extLst>
            </p:cNvPr>
            <p:cNvSpPr txBox="1"/>
            <p:nvPr/>
          </p:nvSpPr>
          <p:spPr>
            <a:xfrm>
              <a:off x="8483164" y="3561368"/>
              <a:ext cx="32957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20</a:t>
              </a:r>
            </a:p>
          </p:txBody>
        </p:sp>
        <p:sp>
          <p:nvSpPr>
            <p:cNvPr id="12" name="TextBox 11">
              <a:extLst>
                <a:ext uri="{FF2B5EF4-FFF2-40B4-BE49-F238E27FC236}">
                  <a16:creationId xmlns:a16="http://schemas.microsoft.com/office/drawing/2014/main" id="{18699EE1-E6E3-1232-02C6-1957A7489750}"/>
                </a:ext>
              </a:extLst>
            </p:cNvPr>
            <p:cNvSpPr txBox="1"/>
            <p:nvPr/>
          </p:nvSpPr>
          <p:spPr>
            <a:xfrm>
              <a:off x="5806785" y="3498204"/>
              <a:ext cx="50430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6.25</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grpSp>
      <p:pic>
        <p:nvPicPr>
          <p:cNvPr id="30" name="Picture 29">
            <a:extLst>
              <a:ext uri="{FF2B5EF4-FFF2-40B4-BE49-F238E27FC236}">
                <a16:creationId xmlns:a16="http://schemas.microsoft.com/office/drawing/2014/main" id="{DEB6E48E-7C82-9401-8826-3E5344EC05DA}"/>
              </a:ext>
            </a:extLst>
          </p:cNvPr>
          <p:cNvPicPr>
            <a:picLocks noChangeAspect="1"/>
          </p:cNvPicPr>
          <p:nvPr/>
        </p:nvPicPr>
        <p:blipFill>
          <a:blip r:embed="rId5"/>
          <a:stretch>
            <a:fillRect/>
          </a:stretch>
        </p:blipFill>
        <p:spPr>
          <a:xfrm>
            <a:off x="531289" y="3813102"/>
            <a:ext cx="3582552" cy="2306751"/>
          </a:xfrm>
          <a:prstGeom prst="rect">
            <a:avLst/>
          </a:prstGeom>
        </p:spPr>
      </p:pic>
    </p:spTree>
    <p:extLst>
      <p:ext uri="{BB962C8B-B14F-4D97-AF65-F5344CB8AC3E}">
        <p14:creationId xmlns:p14="http://schemas.microsoft.com/office/powerpoint/2010/main" val="4596213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Continuous spaces</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381650"/>
            <a:ext cx="10435145" cy="5243437"/>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2800" dirty="0"/>
          </a:p>
          <a:p>
            <a:r>
              <a:rPr lang="en-US" sz="2000" dirty="0"/>
              <a:t>A q-table only works with a discrete state space, or when the agent can only be in a set number of states.</a:t>
            </a:r>
          </a:p>
          <a:p>
            <a:r>
              <a:rPr lang="en-US" sz="2000" dirty="0"/>
              <a:t>Think a grid. A maze. A card game. Not the movements of a robot. Not for a racecar going around a track. </a:t>
            </a:r>
          </a:p>
          <a:p>
            <a:r>
              <a:rPr lang="en-US" sz="2000" dirty="0">
                <a:hlinkClick r:id="rId3">
                  <a:extLst>
                    <a:ext uri="{A12FA001-AC4F-418D-AE19-62706E023703}">
                      <ahyp:hlinkClr xmlns:ahyp="http://schemas.microsoft.com/office/drawing/2018/hyperlinkcolor" val="tx"/>
                    </a:ext>
                  </a:extLst>
                </a:hlinkClick>
              </a:rPr>
              <a:t>Blackjack-v0</a:t>
            </a:r>
            <a:r>
              <a:rPr lang="en-US" sz="2000" dirty="0"/>
              <a:t>: states are made up of the combinations of the players current card sum, the faceup card of the dealer, and if the player has a useable ace. This is discrete states.</a:t>
            </a:r>
          </a:p>
          <a:p>
            <a:r>
              <a:rPr lang="en-US" sz="2000" dirty="0">
                <a:hlinkClick r:id="rId4">
                  <a:extLst>
                    <a:ext uri="{A12FA001-AC4F-418D-AE19-62706E023703}">
                      <ahyp:hlinkClr xmlns:ahyp="http://schemas.microsoft.com/office/drawing/2018/hyperlinkcolor" val="tx"/>
                    </a:ext>
                  </a:extLst>
                </a:hlinkClick>
              </a:rPr>
              <a:t>MountainCar</a:t>
            </a:r>
            <a:r>
              <a:rPr lang="en-US" sz="2000" dirty="0"/>
              <a:t>: state is car position and car velocity. This means continuous states.</a:t>
            </a:r>
          </a:p>
          <a:p>
            <a:r>
              <a:rPr lang="en-US" sz="2000" dirty="0"/>
              <a:t>A q-table assumes that each state is independent of each other. This clearly isn’t true for continuous environments. </a:t>
            </a:r>
          </a:p>
          <a:p>
            <a:r>
              <a:rPr lang="en-US" sz="2000" dirty="0"/>
              <a:t>Many states are very similar to each other, and we’d like our agent to behave similarly in those states.</a:t>
            </a:r>
          </a:p>
          <a:p>
            <a:pPr marL="0" indent="0">
              <a:buNone/>
            </a:pPr>
            <a:endParaRPr lang="en-US" sz="3600" dirty="0"/>
          </a:p>
          <a:p>
            <a:endParaRPr lang="en-US" sz="2800" dirty="0"/>
          </a:p>
        </p:txBody>
      </p:sp>
    </p:spTree>
    <p:extLst>
      <p:ext uri="{BB962C8B-B14F-4D97-AF65-F5344CB8AC3E}">
        <p14:creationId xmlns:p14="http://schemas.microsoft.com/office/powerpoint/2010/main" val="28899496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Developing a function approximator</a:t>
            </a:r>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173178"/>
                <a:ext cx="10567182" cy="5684822"/>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Arial" panose="020B0604020202020204" pitchFamily="34" charset="0"/>
                  <a:buChar char="•"/>
                </a:pPr>
                <a:endParaRPr lang="en-US" sz="2800" dirty="0"/>
              </a:p>
              <a:p>
                <a:pPr>
                  <a:buFont typeface="Arial" panose="020B0604020202020204" pitchFamily="34" charset="0"/>
                  <a:buChar char="•"/>
                </a:pPr>
                <a:r>
                  <a:rPr lang="en-US" sz="1600" dirty="0"/>
                  <a:t>What if we represented the q-values of each state with a model? Something where we could give as input our state and get as output the q-value for that state.</a:t>
                </a:r>
              </a:p>
              <a:p>
                <a:pPr>
                  <a:buFont typeface="Arial" panose="020B0604020202020204" pitchFamily="34" charset="0"/>
                  <a:buChar char="•"/>
                </a:pPr>
                <a:r>
                  <a:rPr lang="en-US" sz="1600" dirty="0"/>
                  <a:t>The q-value is the thing we’re trying to model (the y-variable, response variable, dependent variable), given the state (x-variables, independent variables, explanatory variables).</a:t>
                </a:r>
              </a:p>
              <a:p>
                <a:pPr>
                  <a:buFont typeface="Arial" panose="020B0604020202020204" pitchFamily="34" charset="0"/>
                  <a:buChar char="•"/>
                </a:pPr>
                <a:r>
                  <a:rPr lang="en-US" sz="1600" dirty="0"/>
                  <a:t>So, we are in need to develop a function, </a:t>
                </a:r>
                <a14:m>
                  <m:oMath xmlns:m="http://schemas.openxmlformats.org/officeDocument/2006/math">
                    <m:r>
                      <a:rPr lang="en-US" sz="1600" b="0" i="1" smtClean="0">
                        <a:latin typeface="Cambria Math" panose="02040503050406030204" pitchFamily="18" charset="0"/>
                      </a:rPr>
                      <m:t>𝑦</m:t>
                    </m:r>
                    <m:r>
                      <a:rPr lang="en-US" sz="1600" b="0" i="1" smtClean="0">
                        <a:latin typeface="Cambria Math" panose="02040503050406030204" pitchFamily="18" charset="0"/>
                      </a:rPr>
                      <m:t>=</m:t>
                    </m:r>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oMath>
                </a14:m>
                <a:r>
                  <a:rPr lang="en-US" sz="1600" dirty="0"/>
                  <a:t> , this is best done with a Neural Network as a function approximator.</a:t>
                </a:r>
              </a:p>
              <a:p>
                <a:pPr>
                  <a:buFont typeface="Arial" panose="020B0604020202020204" pitchFamily="34" charset="0"/>
                  <a:buChar char="•"/>
                </a:pPr>
                <a:r>
                  <a:rPr lang="en-US" sz="1600" dirty="0"/>
                  <a:t>If this were a straightforward supervised learning task, we’d use gradient descent and backpropagation to slowly adjust the values of </a:t>
                </a:r>
                <a:r>
                  <a:rPr lang="en-US" sz="1600" b="1" dirty="0"/>
                  <a:t>w</a:t>
                </a:r>
                <a:r>
                  <a:rPr lang="en-US" sz="1600" dirty="0"/>
                  <a:t> until we reach an optimum.</a:t>
                </a:r>
              </a:p>
              <a:p>
                <a:pPr>
                  <a:buFont typeface="Arial" panose="020B0604020202020204" pitchFamily="34" charset="0"/>
                  <a:buChar char="•"/>
                </a:pPr>
                <a:r>
                  <a:rPr lang="en-US" sz="1600" dirty="0"/>
                  <a:t>While the true value of </a:t>
                </a:r>
                <a:r>
                  <a:rPr lang="en-US" sz="1600" i="1" dirty="0"/>
                  <a:t>q(</a:t>
                </a:r>
                <a:r>
                  <a:rPr lang="en-US" sz="1600" i="1" dirty="0" err="1"/>
                  <a:t>s,a</a:t>
                </a:r>
                <a:r>
                  <a:rPr lang="en-US" sz="1600" i="1" dirty="0"/>
                  <a:t>) </a:t>
                </a:r>
                <a:r>
                  <a:rPr lang="en-US" sz="1600" dirty="0"/>
                  <a:t>is a fixed value, we don’t know what that true value is - we just have an estimate for the value. </a:t>
                </a:r>
              </a:p>
              <a:p>
                <a:pPr>
                  <a:buFont typeface="Arial" panose="020B0604020202020204" pitchFamily="34" charset="0"/>
                  <a:buChar char="•"/>
                </a:pPr>
                <a:r>
                  <a:rPr lang="en-US" sz="1600" dirty="0"/>
                  <a:t>Our estimates (obtained using q-learning) will improve over time as the agent collects more information, but they will jump around in the process.</a:t>
                </a:r>
              </a:p>
              <a:p>
                <a:pPr>
                  <a:buFont typeface="Arial" panose="020B0604020202020204" pitchFamily="34" charset="0"/>
                  <a:buChar char="•"/>
                </a:pPr>
                <a:r>
                  <a:rPr lang="en-US" sz="1600" dirty="0"/>
                  <a:t>So, the assumption that we have a fixed target to reach, which we know of, is invalid.</a:t>
                </a:r>
              </a:p>
              <a:p>
                <a:pPr>
                  <a:buFont typeface="Arial" panose="020B0604020202020204" pitchFamily="34" charset="0"/>
                  <a:buChar char="•"/>
                </a:pPr>
                <a:r>
                  <a:rPr lang="en-US" sz="1600" dirty="0"/>
                  <a:t>Imagine you’re playing golf, and every time you hit the ball towards the hole, the hole changed location – three hundred meters to the right, one hundred to the left, twelve meters behind you.</a:t>
                </a:r>
              </a:p>
              <a:p>
                <a:pPr>
                  <a:buFont typeface="Arial" panose="020B0604020202020204" pitchFamily="34" charset="0"/>
                  <a:buChar char="•"/>
                </a:pPr>
                <a:endParaRPr lang="en-US" sz="1800" dirty="0"/>
              </a:p>
              <a:p>
                <a:pPr>
                  <a:buFont typeface="Arial" panose="020B0604020202020204" pitchFamily="34" charset="0"/>
                  <a:buChar char="•"/>
                </a:pPr>
                <a:endParaRPr lang="en-US" sz="1600" dirty="0"/>
              </a:p>
              <a:p>
                <a:pPr>
                  <a:buFont typeface="Arial" panose="020B0604020202020204" pitchFamily="34" charset="0"/>
                  <a:buChar char="•"/>
                </a:pPr>
                <a:endParaRPr lang="en-US" sz="2800" dirty="0"/>
              </a:p>
            </p:txBody>
          </p:sp>
        </mc:Choice>
        <mc:Fallback>
          <p:sp>
            <p:nvSpPr>
              <p:cNvPr id="5" name="Content Placeholder 2">
                <a:extLst>
                  <a:ext uri="{FF2B5EF4-FFF2-40B4-BE49-F238E27FC236}">
                    <a16:creationId xmlns:a16="http://schemas.microsoft.com/office/drawing/2014/main" id="{CE4F893B-FAFA-EF4F-8E17-A0C4F7C3C8C4}"/>
                  </a:ext>
                </a:extLst>
              </p:cNvPr>
              <p:cNvSpPr txBox="1">
                <a:spLocks noRot="1" noChangeAspect="1" noMove="1" noResize="1" noEditPoints="1" noAdjustHandles="1" noChangeArrowheads="1" noChangeShapeType="1" noTextEdit="1"/>
              </p:cNvSpPr>
              <p:nvPr/>
            </p:nvSpPr>
            <p:spPr>
              <a:xfrm>
                <a:off x="1469308" y="1173178"/>
                <a:ext cx="10567182" cy="5684822"/>
              </a:xfrm>
              <a:prstGeom prst="rect">
                <a:avLst/>
              </a:prstGeom>
              <a:blipFill>
                <a:blip r:embed="rId3"/>
                <a:stretch>
                  <a:fillRect l="-240"/>
                </a:stretch>
              </a:blipFill>
            </p:spPr>
            <p:txBody>
              <a:bodyPr/>
              <a:lstStyle/>
              <a:p>
                <a:r>
                  <a:rPr lang="en-US">
                    <a:noFill/>
                  </a:rPr>
                  <a:t> </a:t>
                </a:r>
              </a:p>
            </p:txBody>
          </p:sp>
        </mc:Fallback>
      </mc:AlternateContent>
    </p:spTree>
    <p:extLst>
      <p:ext uri="{BB962C8B-B14F-4D97-AF65-F5344CB8AC3E}">
        <p14:creationId xmlns:p14="http://schemas.microsoft.com/office/powerpoint/2010/main" val="21330318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Continuous Spaces Reinforcement Learning(RL) –</a:t>
            </a:r>
            <a:br>
              <a:rPr lang="en-US" sz="3600" dirty="0"/>
            </a:br>
            <a:r>
              <a:rPr lang="en-US" sz="3600" dirty="0"/>
              <a:t>Deep Q-Learning or DQN</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9856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DQN - basics</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485896" y="1071099"/>
            <a:ext cx="6501499" cy="5476350"/>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endParaRPr lang="en-US" sz="3200" dirty="0"/>
          </a:p>
          <a:p>
            <a:r>
              <a:rPr lang="en-US" sz="1600" dirty="0"/>
              <a:t>Since we use deep neural networks to create the function approximator we alluded to, it gets the name DQN or Deep Q Network.</a:t>
            </a:r>
          </a:p>
          <a:p>
            <a:r>
              <a:rPr lang="en-US" sz="1600" dirty="0"/>
              <a:t>In a traditional reinforcement learning setup only one Q-value is produced at a time</a:t>
            </a:r>
          </a:p>
          <a:p>
            <a:r>
              <a:rPr lang="en-US" sz="1600" dirty="0"/>
              <a:t>Deep Q-network is designed to produce in a single forward pass a Q-value for every possible action available in the Environment:</a:t>
            </a:r>
          </a:p>
          <a:p>
            <a:r>
              <a:rPr lang="en-US" sz="1600" dirty="0"/>
              <a:t>This approach of having all Q-values calculated with one pass through the network avoids having to run the network individually for every action and helps to increase speed significantly..</a:t>
            </a:r>
          </a:p>
          <a:p>
            <a:r>
              <a:rPr lang="en-US" sz="1600" dirty="0"/>
              <a:t>We can simply use this vector to take an action by choosing the one with the maximum value.</a:t>
            </a:r>
          </a:p>
          <a:p>
            <a:r>
              <a:rPr lang="en-US" sz="1600" dirty="0"/>
              <a:t>This neural network can be a simple NN, a CNN or any other structure depending on what the input is.</a:t>
            </a:r>
          </a:p>
          <a:p>
            <a:r>
              <a:rPr lang="en-US" sz="1600" dirty="0"/>
              <a:t>Training such a network requires a lot of data to even do a mini-batch gradient descent and we need to figure out how to provide that data.</a:t>
            </a:r>
          </a:p>
          <a:p>
            <a:endParaRPr lang="en-US" sz="2000" dirty="0"/>
          </a:p>
          <a:p>
            <a:endParaRPr lang="en-US" sz="1800" dirty="0"/>
          </a:p>
          <a:p>
            <a:endParaRPr lang="en-US" sz="3200" dirty="0"/>
          </a:p>
        </p:txBody>
      </p:sp>
      <p:pic>
        <p:nvPicPr>
          <p:cNvPr id="2" name="Picture 1">
            <a:extLst>
              <a:ext uri="{FF2B5EF4-FFF2-40B4-BE49-F238E27FC236}">
                <a16:creationId xmlns:a16="http://schemas.microsoft.com/office/drawing/2014/main" id="{39D2E71B-1F52-D7BD-C15D-FE6714DF47AA}"/>
              </a:ext>
            </a:extLst>
          </p:cNvPr>
          <p:cNvPicPr>
            <a:picLocks noChangeAspect="1"/>
          </p:cNvPicPr>
          <p:nvPr/>
        </p:nvPicPr>
        <p:blipFill>
          <a:blip r:embed="rId3"/>
          <a:stretch>
            <a:fillRect/>
          </a:stretch>
        </p:blipFill>
        <p:spPr>
          <a:xfrm>
            <a:off x="6935235" y="2826327"/>
            <a:ext cx="5200143" cy="2556555"/>
          </a:xfrm>
          <a:prstGeom prst="rect">
            <a:avLst/>
          </a:prstGeom>
        </p:spPr>
      </p:pic>
    </p:spTree>
    <p:extLst>
      <p:ext uri="{BB962C8B-B14F-4D97-AF65-F5344CB8AC3E}">
        <p14:creationId xmlns:p14="http://schemas.microsoft.com/office/powerpoint/2010/main" val="48812883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Bellman Equation for Continuous spaces</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597085"/>
                <a:ext cx="8956566" cy="5036189"/>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endParaRPr lang="en-US" sz="1800" b="1" i="1" dirty="0">
                  <a:latin typeface="Cambria Math" panose="02040503050406030204" pitchFamily="18" charset="0"/>
                </a:endParaRPr>
              </a:p>
              <a:p>
                <a:endParaRPr lang="en-US" sz="1800" b="1" i="1" dirty="0">
                  <a:latin typeface="Cambria Math" panose="02040503050406030204" pitchFamily="18" charset="0"/>
                </a:endParaRPr>
              </a:p>
              <a:p>
                <a14:m>
                  <m:oMath xmlns:m="http://schemas.openxmlformats.org/officeDocument/2006/math">
                    <m:r>
                      <a:rPr lang="en-US" sz="1800" b="1" i="1" smtClean="0">
                        <a:latin typeface="Cambria Math" panose="02040503050406030204" pitchFamily="18" charset="0"/>
                      </a:rPr>
                      <m:t>𝑸</m:t>
                    </m:r>
                    <m:d>
                      <m:dPr>
                        <m:ctrlPr>
                          <a:rPr lang="en-US" sz="1800" b="1" i="1">
                            <a:latin typeface="Cambria Math" panose="02040503050406030204" pitchFamily="18" charset="0"/>
                          </a:rPr>
                        </m:ctrlPr>
                      </m:dPr>
                      <m:e>
                        <m:r>
                          <a:rPr lang="en-US" sz="1800" b="1" i="1">
                            <a:latin typeface="Cambria Math" panose="02040503050406030204" pitchFamily="18" charset="0"/>
                          </a:rPr>
                          <m:t>𝒔</m:t>
                        </m:r>
                        <m:r>
                          <a:rPr lang="en-US" sz="1800" b="1" i="1">
                            <a:latin typeface="Cambria Math" panose="02040503050406030204" pitchFamily="18" charset="0"/>
                          </a:rPr>
                          <m:t>,</m:t>
                        </m:r>
                        <m:r>
                          <a:rPr lang="en-US" sz="1800" b="1" i="1">
                            <a:latin typeface="Cambria Math" panose="02040503050406030204" pitchFamily="18" charset="0"/>
                          </a:rPr>
                          <m:t>𝒂</m:t>
                        </m:r>
                      </m:e>
                    </m:d>
                    <m:r>
                      <a:rPr lang="en-US" sz="1800" b="1" i="1">
                        <a:latin typeface="Cambria Math" panose="02040503050406030204" pitchFamily="18" charset="0"/>
                      </a:rPr>
                      <m:t>=</m:t>
                    </m:r>
                    <m:r>
                      <a:rPr lang="en-US" sz="1800" b="1" i="1" smtClean="0">
                        <a:latin typeface="Cambria Math" panose="02040503050406030204" pitchFamily="18" charset="0"/>
                      </a:rPr>
                      <m:t>𝑸</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𝒔</m:t>
                        </m:r>
                        <m:r>
                          <a:rPr lang="en-US" sz="1800" b="1" i="1" smtClean="0">
                            <a:latin typeface="Cambria Math" panose="02040503050406030204" pitchFamily="18" charset="0"/>
                          </a:rPr>
                          <m:t>,</m:t>
                        </m:r>
                        <m:r>
                          <a:rPr lang="en-US" sz="1800" b="1" i="1" smtClean="0">
                            <a:latin typeface="Cambria Math" panose="02040503050406030204" pitchFamily="18" charset="0"/>
                          </a:rPr>
                          <m:t>𝒂</m:t>
                        </m:r>
                      </m:e>
                    </m:d>
                    <m:r>
                      <a:rPr lang="en-US" sz="1800" b="1" i="1" smtClean="0">
                        <a:latin typeface="Cambria Math" panose="02040503050406030204" pitchFamily="18" charset="0"/>
                      </a:rPr>
                      <m:t>+ </m:t>
                    </m:r>
                    <m:r>
                      <a:rPr lang="en-US" sz="1800" b="1" i="1" smtClean="0">
                        <a:latin typeface="Cambria Math" panose="02040503050406030204" pitchFamily="18" charset="0"/>
                      </a:rPr>
                      <m:t>𝒂</m:t>
                    </m:r>
                    <m:r>
                      <a:rPr lang="en-US" sz="1800" b="1" i="1" smtClean="0">
                        <a:latin typeface="Cambria Math" panose="02040503050406030204" pitchFamily="18" charset="0"/>
                      </a:rPr>
                      <m:t> ( </m:t>
                    </m:r>
                    <m:r>
                      <a:rPr lang="en-US" sz="1800" b="1" i="1" smtClean="0">
                        <a:latin typeface="Cambria Math" panose="02040503050406030204" pitchFamily="18" charset="0"/>
                      </a:rPr>
                      <m:t>𝑹</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𝒔</m:t>
                        </m:r>
                      </m:e>
                    </m:d>
                    <m:r>
                      <a:rPr lang="en-US" sz="1800" b="1" i="1" smtClean="0">
                        <a:latin typeface="Cambria Math" panose="02040503050406030204" pitchFamily="18" charset="0"/>
                      </a:rPr>
                      <m:t>+ </m:t>
                    </m:r>
                    <m:r>
                      <a:rPr lang="en-US" sz="1800" b="1" i="1">
                        <a:latin typeface="Cambria Math" panose="02040503050406030204" pitchFamily="18" charset="0"/>
                        <a:ea typeface="Cambria Math" panose="02040503050406030204" pitchFamily="18" charset="0"/>
                      </a:rPr>
                      <m:t>𝜸</m:t>
                    </m:r>
                    <m:r>
                      <a:rPr lang="en-US" sz="1800" b="1" i="1">
                        <a:latin typeface="Cambria Math" panose="02040503050406030204" pitchFamily="18" charset="0"/>
                        <a:ea typeface="Cambria Math" panose="02040503050406030204" pitchFamily="18" charset="0"/>
                      </a:rPr>
                      <m:t> </m:t>
                    </m:r>
                    <m:f>
                      <m:fPr>
                        <m:ctrlPr>
                          <a:rPr lang="en-US" sz="1800" b="1" i="1">
                            <a:latin typeface="Cambria Math" panose="02040503050406030204" pitchFamily="18" charset="0"/>
                            <a:ea typeface="Cambria Math" panose="02040503050406030204" pitchFamily="18" charset="0"/>
                          </a:rPr>
                        </m:ctrlPr>
                      </m:fPr>
                      <m:num>
                        <m:r>
                          <a:rPr lang="en-US" sz="1800" b="1" i="1">
                            <a:latin typeface="Cambria Math" panose="02040503050406030204" pitchFamily="18" charset="0"/>
                            <a:ea typeface="Cambria Math" panose="02040503050406030204" pitchFamily="18" charset="0"/>
                          </a:rPr>
                          <m:t>𝒎𝒂𝒙</m:t>
                        </m:r>
                      </m:num>
                      <m:den>
                        <m:sSup>
                          <m:sSupPr>
                            <m:ctrlPr>
                              <a:rPr lang="en-US" sz="1800" b="1" i="1">
                                <a:latin typeface="Cambria Math" panose="02040503050406030204" pitchFamily="18" charset="0"/>
                                <a:ea typeface="Cambria Math" panose="02040503050406030204" pitchFamily="18" charset="0"/>
                              </a:rPr>
                            </m:ctrlPr>
                          </m:sSupPr>
                          <m:e>
                            <m:r>
                              <a:rPr lang="en-US" sz="1800" b="1" i="1">
                                <a:latin typeface="Cambria Math" panose="02040503050406030204" pitchFamily="18" charset="0"/>
                                <a:ea typeface="Cambria Math" panose="02040503050406030204" pitchFamily="18" charset="0"/>
                              </a:rPr>
                              <m:t>𝒂</m:t>
                            </m:r>
                          </m:e>
                          <m:sup>
                            <m:r>
                              <a:rPr lang="en-US" sz="1800" b="1" i="1">
                                <a:latin typeface="Cambria Math" panose="02040503050406030204" pitchFamily="18" charset="0"/>
                                <a:ea typeface="Cambria Math" panose="02040503050406030204" pitchFamily="18" charset="0"/>
                              </a:rPr>
                              <m:t>′</m:t>
                            </m:r>
                          </m:sup>
                        </m:sSup>
                      </m:den>
                    </m:f>
                    <m:r>
                      <a:rPr lang="en-US" sz="1800" b="1" i="1">
                        <a:latin typeface="Cambria Math" panose="02040503050406030204" pitchFamily="18" charset="0"/>
                        <a:ea typeface="Cambria Math" panose="02040503050406030204" pitchFamily="18" charset="0"/>
                      </a:rPr>
                      <m:t> </m:t>
                    </m:r>
                    <m:r>
                      <a:rPr lang="en-US" sz="1800" b="1" i="1">
                        <a:latin typeface="Cambria Math" panose="02040503050406030204" pitchFamily="18" charset="0"/>
                        <a:ea typeface="Cambria Math" panose="02040503050406030204" pitchFamily="18" charset="0"/>
                      </a:rPr>
                      <m:t>𝑸</m:t>
                    </m:r>
                    <m:d>
                      <m:dPr>
                        <m:ctrlPr>
                          <a:rPr lang="en-US" sz="1800" b="1" i="1">
                            <a:latin typeface="Cambria Math" panose="02040503050406030204" pitchFamily="18" charset="0"/>
                            <a:ea typeface="Cambria Math" panose="02040503050406030204" pitchFamily="18" charset="0"/>
                          </a:rPr>
                        </m:ctrlPr>
                      </m:dPr>
                      <m:e>
                        <m:sSup>
                          <m:sSupPr>
                            <m:ctrlPr>
                              <a:rPr lang="en-US" sz="1800" b="1" i="1">
                                <a:latin typeface="Cambria Math" panose="02040503050406030204" pitchFamily="18" charset="0"/>
                                <a:ea typeface="Cambria Math" panose="02040503050406030204" pitchFamily="18" charset="0"/>
                              </a:rPr>
                            </m:ctrlPr>
                          </m:sSupPr>
                          <m:e>
                            <m:r>
                              <a:rPr lang="en-US" sz="1800" b="1" i="1">
                                <a:latin typeface="Cambria Math" panose="02040503050406030204" pitchFamily="18" charset="0"/>
                                <a:ea typeface="Cambria Math" panose="02040503050406030204" pitchFamily="18" charset="0"/>
                              </a:rPr>
                              <m:t>𝒔</m:t>
                            </m:r>
                          </m:e>
                          <m:sup>
                            <m:r>
                              <a:rPr lang="en-US" sz="1800" b="1" i="1">
                                <a:latin typeface="Cambria Math" panose="02040503050406030204" pitchFamily="18" charset="0"/>
                                <a:ea typeface="Cambria Math" panose="02040503050406030204" pitchFamily="18" charset="0"/>
                              </a:rPr>
                              <m:t>′</m:t>
                            </m:r>
                          </m:sup>
                        </m:sSup>
                        <m:r>
                          <a:rPr lang="en-US" sz="1800" b="1" i="1" smtClean="0">
                            <a:latin typeface="Cambria Math" panose="02040503050406030204" pitchFamily="18" charset="0"/>
                            <a:ea typeface="Cambria Math" panose="02040503050406030204" pitchFamily="18" charset="0"/>
                          </a:rPr>
                          <m:t>, </m:t>
                        </m:r>
                        <m:r>
                          <a:rPr lang="en-US" sz="1800" b="1" i="1" smtClean="0">
                            <a:latin typeface="Cambria Math" panose="02040503050406030204" pitchFamily="18" charset="0"/>
                            <a:ea typeface="Cambria Math" panose="02040503050406030204" pitchFamily="18" charset="0"/>
                          </a:rPr>
                          <m:t>𝒂</m:t>
                        </m:r>
                        <m:r>
                          <a:rPr lang="en-US" sz="1800" b="1" i="1" smtClean="0">
                            <a:latin typeface="Cambria Math" panose="02040503050406030204" pitchFamily="18" charset="0"/>
                            <a:ea typeface="Cambria Math" panose="02040503050406030204" pitchFamily="18" charset="0"/>
                          </a:rPr>
                          <m:t>′</m:t>
                        </m:r>
                      </m:e>
                    </m:d>
                    <m:r>
                      <a:rPr lang="en-US" sz="1800" b="1" i="1" smtClean="0">
                        <a:latin typeface="Cambria Math" panose="02040503050406030204" pitchFamily="18" charset="0"/>
                        <a:ea typeface="Cambria Math" panose="02040503050406030204" pitchFamily="18" charset="0"/>
                      </a:rPr>
                      <m:t> −</m:t>
                    </m:r>
                    <m:r>
                      <a:rPr lang="en-US" sz="1800" b="1" i="1" smtClean="0">
                        <a:latin typeface="Cambria Math" panose="02040503050406030204" pitchFamily="18" charset="0"/>
                        <a:ea typeface="Cambria Math" panose="02040503050406030204" pitchFamily="18" charset="0"/>
                      </a:rPr>
                      <m:t>𝑸</m:t>
                    </m:r>
                    <m:d>
                      <m:dPr>
                        <m:ctrlPr>
                          <a:rPr lang="en-US" sz="1800" b="1" i="1" smtClean="0">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𝒔</m:t>
                        </m:r>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𝒂</m:t>
                        </m:r>
                      </m:e>
                    </m:d>
                    <m:r>
                      <a:rPr lang="en-US" sz="1800" b="1" i="1" smtClean="0">
                        <a:latin typeface="Cambria Math" panose="02040503050406030204" pitchFamily="18" charset="0"/>
                        <a:ea typeface="Cambria Math" panose="02040503050406030204" pitchFamily="18" charset="0"/>
                      </a:rPr>
                      <m:t>)</m:t>
                    </m:r>
                  </m:oMath>
                </a14:m>
                <a:r>
                  <a:rPr lang="en-US" sz="1800" dirty="0"/>
                  <a:t> the normal Bellman equation.</a:t>
                </a:r>
              </a:p>
              <a:p>
                <a:pPr marL="0" indent="0">
                  <a:buNone/>
                </a:pPr>
                <a:endParaRPr lang="en-US" sz="1800" dirty="0"/>
              </a:p>
              <a:p>
                <a:r>
                  <a:rPr lang="en-US" sz="1800" dirty="0"/>
                  <a:t>Bellman Equations for continuous spaces reduces to:</a:t>
                </a:r>
              </a:p>
              <a:p>
                <a:pPr lvl="1"/>
                <a14:m>
                  <m:oMath xmlns:m="http://schemas.openxmlformats.org/officeDocument/2006/math">
                    <m:r>
                      <a:rPr lang="en-US" sz="1800" b="1" i="1" smtClean="0">
                        <a:latin typeface="Cambria Math" panose="02040503050406030204" pitchFamily="18" charset="0"/>
                      </a:rPr>
                      <m:t>𝑸</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𝒔</m:t>
                        </m:r>
                        <m:r>
                          <a:rPr lang="en-US" sz="1800" b="1" i="1" smtClean="0">
                            <a:latin typeface="Cambria Math" panose="02040503050406030204" pitchFamily="18" charset="0"/>
                          </a:rPr>
                          <m:t>,</m:t>
                        </m:r>
                        <m:r>
                          <a:rPr lang="en-US" sz="1800" b="1" i="1" smtClean="0">
                            <a:latin typeface="Cambria Math" panose="02040503050406030204" pitchFamily="18" charset="0"/>
                          </a:rPr>
                          <m:t>𝒂</m:t>
                        </m:r>
                      </m:e>
                    </m:d>
                    <m:r>
                      <a:rPr lang="en-US" sz="1800" b="1" i="1" smtClean="0">
                        <a:latin typeface="Cambria Math" panose="02040503050406030204" pitchFamily="18" charset="0"/>
                      </a:rPr>
                      <m:t>=</m:t>
                    </m:r>
                    <m:r>
                      <a:rPr lang="en-US" sz="1800" b="1" i="1" smtClean="0">
                        <a:latin typeface="Cambria Math" panose="02040503050406030204" pitchFamily="18" charset="0"/>
                      </a:rPr>
                      <m:t>𝑹</m:t>
                    </m:r>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𝒔</m:t>
                        </m:r>
                      </m:e>
                    </m:d>
                    <m:r>
                      <a:rPr lang="en-US" sz="1800" b="1" i="1" smtClean="0">
                        <a:latin typeface="Cambria Math" panose="02040503050406030204" pitchFamily="18" charset="0"/>
                      </a:rPr>
                      <m:t>+</m:t>
                    </m:r>
                    <m:f>
                      <m:fPr>
                        <m:ctrlPr>
                          <a:rPr lang="en-US" sz="1800" b="1" i="1" smtClean="0">
                            <a:latin typeface="Cambria Math" panose="02040503050406030204" pitchFamily="18" charset="0"/>
                          </a:rPr>
                        </m:ctrlPr>
                      </m:fPr>
                      <m:num>
                        <m:r>
                          <a:rPr lang="en-US" sz="1800" b="1" i="1" smtClean="0">
                            <a:latin typeface="Cambria Math" panose="02040503050406030204" pitchFamily="18" charset="0"/>
                          </a:rPr>
                          <m:t>𝒎𝒂𝒙</m:t>
                        </m:r>
                      </m:num>
                      <m:den>
                        <m:r>
                          <a:rPr lang="en-US" sz="1800" b="1" i="1" smtClean="0">
                            <a:latin typeface="Cambria Math" panose="02040503050406030204" pitchFamily="18" charset="0"/>
                          </a:rPr>
                          <m:t>𝒂</m:t>
                        </m:r>
                        <m:r>
                          <a:rPr lang="en-US" sz="1800" b="1" i="1" smtClean="0">
                            <a:latin typeface="Cambria Math" panose="02040503050406030204" pitchFamily="18" charset="0"/>
                          </a:rPr>
                          <m:t>”</m:t>
                        </m:r>
                      </m:den>
                    </m:f>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𝑸</m:t>
                        </m:r>
                        <m:d>
                          <m:dPr>
                            <m:ctrlPr>
                              <a:rPr lang="en-US" sz="1800" b="1" i="1" smtClean="0">
                                <a:latin typeface="Cambria Math" panose="02040503050406030204" pitchFamily="18" charset="0"/>
                              </a:rPr>
                            </m:ctrlPr>
                          </m:dPr>
                          <m:e>
                            <m:sSup>
                              <m:sSupPr>
                                <m:ctrlPr>
                                  <a:rPr lang="en-US" sz="1800" b="1" i="1" smtClean="0">
                                    <a:latin typeface="Cambria Math" panose="02040503050406030204" pitchFamily="18" charset="0"/>
                                  </a:rPr>
                                </m:ctrlPr>
                              </m:sSupPr>
                              <m:e>
                                <m:r>
                                  <a:rPr lang="en-US" sz="1800" b="1" i="1" smtClean="0">
                                    <a:latin typeface="Cambria Math" panose="02040503050406030204" pitchFamily="18" charset="0"/>
                                  </a:rPr>
                                  <m:t>𝒔</m:t>
                                </m:r>
                              </m:e>
                              <m:sup>
                                <m:r>
                                  <a:rPr lang="en-US" sz="1800" b="1" i="1" smtClean="0">
                                    <a:latin typeface="Cambria Math" panose="02040503050406030204" pitchFamily="18" charset="0"/>
                                  </a:rPr>
                                  <m:t>′</m:t>
                                </m:r>
                              </m:sup>
                            </m:sSup>
                            <m:r>
                              <a:rPr lang="en-US" sz="1800" b="1" i="1" smtClean="0">
                                <a:latin typeface="Cambria Math" panose="02040503050406030204" pitchFamily="18" charset="0"/>
                              </a:rPr>
                              <m:t>,</m:t>
                            </m:r>
                            <m:sSup>
                              <m:sSupPr>
                                <m:ctrlPr>
                                  <a:rPr lang="en-US" sz="1800" b="1" i="1" smtClean="0">
                                    <a:latin typeface="Cambria Math" panose="02040503050406030204" pitchFamily="18" charset="0"/>
                                  </a:rPr>
                                </m:ctrlPr>
                              </m:sSupPr>
                              <m:e>
                                <m:r>
                                  <a:rPr lang="en-US" sz="1800" b="1" i="1" smtClean="0">
                                    <a:latin typeface="Cambria Math" panose="02040503050406030204" pitchFamily="18" charset="0"/>
                                  </a:rPr>
                                  <m:t>𝒂</m:t>
                                </m:r>
                              </m:e>
                              <m:sup>
                                <m:r>
                                  <a:rPr lang="en-US" sz="1800" b="1" i="1" smtClean="0">
                                    <a:latin typeface="Cambria Math" panose="02040503050406030204" pitchFamily="18" charset="0"/>
                                  </a:rPr>
                                  <m:t>′</m:t>
                                </m:r>
                              </m:sup>
                            </m:sSup>
                          </m:e>
                        </m:d>
                      </m:e>
                    </m:d>
                  </m:oMath>
                </a14:m>
                <a:r>
                  <a:rPr lang="en-US" sz="1800" dirty="0"/>
                  <a:t> . </a:t>
                </a:r>
              </a:p>
              <a:p>
                <a:pPr lvl="1"/>
                <a:r>
                  <a:rPr lang="en-US" sz="1800" dirty="0"/>
                  <a:t>This is because NN’s have the learning rate factor built in and the changes to Q values will be incremental.</a:t>
                </a:r>
              </a:p>
              <a:p>
                <a:pPr lvl="1"/>
                <a:endParaRPr lang="en-US" sz="1800" dirty="0"/>
              </a:p>
              <a:p>
                <a:pPr marL="301752" lvl="1" indent="0">
                  <a:buNone/>
                </a:pPr>
                <a:endParaRPr lang="en-US" sz="1800" dirty="0"/>
              </a:p>
              <a:p>
                <a:endParaRPr lang="en-US" sz="1800" dirty="0"/>
              </a:p>
              <a:p>
                <a:pPr marL="0" indent="0">
                  <a:buNone/>
                </a:pPr>
                <a:endParaRPr lang="en-US" sz="1800" dirty="0"/>
              </a:p>
              <a:p>
                <a:endParaRPr lang="en-US" sz="1800" dirty="0"/>
              </a:p>
              <a:p>
                <a:pPr lvl="1"/>
                <a:endParaRPr lang="en-US" sz="1800" dirty="0"/>
              </a:p>
              <a:p>
                <a:pPr lvl="1"/>
                <a:endParaRPr lang="en-US" sz="1800" dirty="0"/>
              </a:p>
              <a:p>
                <a:endParaRPr lang="en-US" sz="1400" dirty="0"/>
              </a:p>
            </p:txBody>
          </p:sp>
        </mc:Choice>
        <mc:Fallback xmlns="">
          <p:sp>
            <p:nvSpPr>
              <p:cNvPr id="5" name="Content Placeholder 2">
                <a:extLst>
                  <a:ext uri="{FF2B5EF4-FFF2-40B4-BE49-F238E27FC236}">
                    <a16:creationId xmlns:a16="http://schemas.microsoft.com/office/drawing/2014/main" id="{CE4F893B-FAFA-EF4F-8E17-A0C4F7C3C8C4}"/>
                  </a:ext>
                </a:extLst>
              </p:cNvPr>
              <p:cNvSpPr txBox="1">
                <a:spLocks noRot="1" noChangeAspect="1" noMove="1" noResize="1" noEditPoints="1" noAdjustHandles="1" noChangeArrowheads="1" noChangeShapeType="1" noTextEdit="1"/>
              </p:cNvSpPr>
              <p:nvPr/>
            </p:nvSpPr>
            <p:spPr>
              <a:xfrm>
                <a:off x="1469308" y="1597085"/>
                <a:ext cx="8956566" cy="5036189"/>
              </a:xfrm>
              <a:prstGeom prst="rect">
                <a:avLst/>
              </a:prstGeom>
              <a:blipFill>
                <a:blip r:embed="rId3"/>
                <a:stretch>
                  <a:fillRect l="-408"/>
                </a:stretch>
              </a:blipFill>
            </p:spPr>
            <p:txBody>
              <a:bodyPr/>
              <a:lstStyle/>
              <a:p>
                <a:r>
                  <a:rPr lang="en-US">
                    <a:noFill/>
                  </a:rPr>
                  <a:t> </a:t>
                </a:r>
              </a:p>
            </p:txBody>
          </p:sp>
        </mc:Fallback>
      </mc:AlternateContent>
    </p:spTree>
    <p:extLst>
      <p:ext uri="{BB962C8B-B14F-4D97-AF65-F5344CB8AC3E}">
        <p14:creationId xmlns:p14="http://schemas.microsoft.com/office/powerpoint/2010/main" val="16196181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Q-Network and Target Network</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7" y="1267692"/>
            <a:ext cx="10435146" cy="5288972"/>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endParaRPr lang="en-US" sz="3600" dirty="0"/>
          </a:p>
          <a:p>
            <a:r>
              <a:rPr lang="en-US" sz="1600" dirty="0"/>
              <a:t>Neural Network is a supervised learning algorithm and to train them and build a model, they need features and a fixed target value to compare with.</a:t>
            </a:r>
          </a:p>
          <a:p>
            <a:r>
              <a:rPr lang="en-US" sz="1600" dirty="0"/>
              <a:t>The feature we provide the NN (Q-Network)  is the current state and the output we should get is the predicted Q-Value of that state. </a:t>
            </a:r>
          </a:p>
          <a:p>
            <a:r>
              <a:rPr lang="en-US" sz="1600" dirty="0"/>
              <a:t>If we knew the final Q-Value then we could train the network by comparing the predicted value with that. But we do not know that final value.</a:t>
            </a:r>
          </a:p>
          <a:p>
            <a:r>
              <a:rPr lang="en-US" sz="1600" dirty="0"/>
              <a:t>So, the trick is to use a target network which provides that target even if they are intermediate targets. We make a 2</a:t>
            </a:r>
            <a:r>
              <a:rPr lang="en-US" sz="1600" baseline="30000" dirty="0"/>
              <a:t>nd</a:t>
            </a:r>
            <a:r>
              <a:rPr lang="en-US" sz="1600" dirty="0"/>
              <a:t> NN which is a copy of the Q-Network to start with. This is called the Target Network.</a:t>
            </a:r>
          </a:p>
          <a:p>
            <a:r>
              <a:rPr lang="en-US" sz="1600" dirty="0"/>
              <a:t>This network is not trained (no back prop). This is important to remember.  Therefore, the Q values this network generates remains the same and hence is a good target value.</a:t>
            </a:r>
          </a:p>
          <a:p>
            <a:r>
              <a:rPr lang="en-US" sz="1600" dirty="0"/>
              <a:t>After every so many episodes, the weights of the original network, which are being updated through gradient descent, is copied on to the Target Network. This enables a smooth progress towards optimal Q values.</a:t>
            </a:r>
          </a:p>
          <a:p>
            <a:endParaRPr lang="en-US" sz="1600" dirty="0"/>
          </a:p>
          <a:p>
            <a:endParaRPr lang="en-US" sz="1600" dirty="0"/>
          </a:p>
          <a:p>
            <a:endParaRPr lang="en-US" sz="2000" dirty="0"/>
          </a:p>
          <a:p>
            <a:endParaRPr lang="en-US" sz="3600" dirty="0"/>
          </a:p>
        </p:txBody>
      </p:sp>
    </p:spTree>
    <p:extLst>
      <p:ext uri="{BB962C8B-B14F-4D97-AF65-F5344CB8AC3E}">
        <p14:creationId xmlns:p14="http://schemas.microsoft.com/office/powerpoint/2010/main" val="206936801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Technique for generating and feeding data – Experience Replay</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7" y="1157363"/>
            <a:ext cx="10435146" cy="5476350"/>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endParaRPr lang="en-US" sz="4000" dirty="0"/>
          </a:p>
          <a:p>
            <a:r>
              <a:rPr lang="en-US" sz="2000" dirty="0"/>
              <a:t>We are trying to approximate a complex, nonlinear function, Q(s, a), with a Neural Network.</a:t>
            </a:r>
          </a:p>
          <a:p>
            <a:r>
              <a:rPr lang="en-US" sz="2000" dirty="0"/>
              <a:t>We need data containing features and we collect this in a “The replay buffer”, that contains a collection of tuples (</a:t>
            </a:r>
            <a:r>
              <a:rPr lang="en-US" sz="2000" i="1" dirty="0"/>
              <a:t>S</a:t>
            </a:r>
            <a:r>
              <a:rPr lang="en-US" sz="2000" dirty="0"/>
              <a:t>, </a:t>
            </a:r>
            <a:r>
              <a:rPr lang="en-US" sz="2000" i="1" dirty="0"/>
              <a:t>A</a:t>
            </a:r>
            <a:r>
              <a:rPr lang="en-US" sz="2000" dirty="0"/>
              <a:t>, </a:t>
            </a:r>
            <a:r>
              <a:rPr lang="en-US" sz="2000" i="1" dirty="0"/>
              <a:t>R</a:t>
            </a:r>
            <a:r>
              <a:rPr lang="en-US" sz="2000" dirty="0"/>
              <a:t>, </a:t>
            </a:r>
            <a:r>
              <a:rPr lang="en-US" sz="2000" i="1" dirty="0"/>
              <a:t>S</a:t>
            </a:r>
            <a:r>
              <a:rPr lang="en-US" sz="2000" dirty="0"/>
              <a:t>′).</a:t>
            </a:r>
          </a:p>
          <a:p>
            <a:r>
              <a:rPr lang="en-US" sz="2000" dirty="0"/>
              <a:t> The buffer can be of a fixed size and is populated based on interactions with the environment. </a:t>
            </a:r>
          </a:p>
          <a:p>
            <a:r>
              <a:rPr lang="en-US" sz="2000" dirty="0"/>
              <a:t>We can then sample training data from this, randomly, in mini-batches. This is also referred to as “ Experience Replay”.</a:t>
            </a:r>
          </a:p>
          <a:p>
            <a:r>
              <a:rPr lang="en-US" sz="2000" dirty="0"/>
              <a:t>In order to store the Agent’s experiences, we used a data structure called “deque” in Python’s built-in collections library. It’s basically a list that you can set a maximum size on so that if you try to append to the list and it is already full, it will remove the first item in the list and add the new item to the end of the list.</a:t>
            </a:r>
          </a:p>
          <a:p>
            <a:r>
              <a:rPr lang="en-US" sz="2000" dirty="0"/>
              <a:t>The experiences themselves are tuples of </a:t>
            </a:r>
            <a:r>
              <a:rPr lang="en-US" sz="2000" i="1" dirty="0"/>
              <a:t>[observation, action, reward, done flag, next state].</a:t>
            </a:r>
          </a:p>
        </p:txBody>
      </p:sp>
    </p:spTree>
    <p:extLst>
      <p:ext uri="{BB962C8B-B14F-4D97-AF65-F5344CB8AC3E}">
        <p14:creationId xmlns:p14="http://schemas.microsoft.com/office/powerpoint/2010/main" val="23724340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Building a dataset for training the NN</a:t>
            </a:r>
          </a:p>
        </p:txBody>
      </p:sp>
      <p:pic>
        <p:nvPicPr>
          <p:cNvPr id="10" name="Picture 9" descr="A diagram of a diagram of a server&#10;&#10;Description automatically generated">
            <a:extLst>
              <a:ext uri="{FF2B5EF4-FFF2-40B4-BE49-F238E27FC236}">
                <a16:creationId xmlns:a16="http://schemas.microsoft.com/office/drawing/2014/main" id="{35DD6F79-607B-6182-2693-C09F994D4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4645" y="1764221"/>
            <a:ext cx="6811588" cy="4844934"/>
          </a:xfrm>
          <a:prstGeom prst="rect">
            <a:avLst/>
          </a:prstGeom>
        </p:spPr>
      </p:pic>
    </p:spTree>
    <p:extLst>
      <p:ext uri="{BB962C8B-B14F-4D97-AF65-F5344CB8AC3E}">
        <p14:creationId xmlns:p14="http://schemas.microsoft.com/office/powerpoint/2010/main" val="262058872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243759" cy="2667000"/>
          </a:xfrm>
        </p:spPr>
        <p:txBody>
          <a:bodyPr/>
          <a:lstStyle/>
          <a:p>
            <a:pPr lvl="1"/>
            <a:br>
              <a:rPr lang="en-US" sz="2400" b="0" dirty="0">
                <a:solidFill>
                  <a:schemeClr val="tx1"/>
                </a:solidFill>
              </a:rPr>
            </a:br>
            <a:r>
              <a:rPr lang="en-US" sz="2400" b="0" dirty="0">
                <a:solidFill>
                  <a:schemeClr val="tx1"/>
                </a:solidFill>
              </a:rPr>
              <a:t>Example 3: How to create Experience Replay buffer</a:t>
            </a:r>
            <a:endParaRPr lang="en-US" sz="2400" dirty="0">
              <a:solidFill>
                <a:schemeClr val="tx1"/>
              </a:solidFill>
            </a:endParaRP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25</a:t>
            </a:fld>
            <a:endParaRPr lang="en-US"/>
          </a:p>
        </p:txBody>
      </p:sp>
    </p:spTree>
    <p:extLst>
      <p:ext uri="{BB962C8B-B14F-4D97-AF65-F5344CB8AC3E}">
        <p14:creationId xmlns:p14="http://schemas.microsoft.com/office/powerpoint/2010/main" val="94998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DQN training and flow</a:t>
            </a:r>
          </a:p>
        </p:txBody>
      </p:sp>
      <p:grpSp>
        <p:nvGrpSpPr>
          <p:cNvPr id="9" name="Group 8">
            <a:extLst>
              <a:ext uri="{FF2B5EF4-FFF2-40B4-BE49-F238E27FC236}">
                <a16:creationId xmlns:a16="http://schemas.microsoft.com/office/drawing/2014/main" id="{E7E155CB-C2AA-7304-A090-88EA5E0BC51B}"/>
              </a:ext>
            </a:extLst>
          </p:cNvPr>
          <p:cNvGrpSpPr/>
          <p:nvPr/>
        </p:nvGrpSpPr>
        <p:grpSpPr>
          <a:xfrm>
            <a:off x="330868" y="2296841"/>
            <a:ext cx="2159668" cy="1476832"/>
            <a:chOff x="1714499" y="1864352"/>
            <a:chExt cx="2159668" cy="1476832"/>
          </a:xfrm>
        </p:grpSpPr>
        <p:sp>
          <p:nvSpPr>
            <p:cNvPr id="3" name="Rectangle 2">
              <a:extLst>
                <a:ext uri="{FF2B5EF4-FFF2-40B4-BE49-F238E27FC236}">
                  <a16:creationId xmlns:a16="http://schemas.microsoft.com/office/drawing/2014/main" id="{7B1777E7-15C8-8A31-2D31-CE2BFBE66D19}"/>
                </a:ext>
              </a:extLst>
            </p:cNvPr>
            <p:cNvSpPr/>
            <p:nvPr/>
          </p:nvSpPr>
          <p:spPr>
            <a:xfrm>
              <a:off x="1720514" y="2233682"/>
              <a:ext cx="2153653" cy="369330"/>
            </a:xfrm>
            <a:prstGeom prst="rect">
              <a:avLst/>
            </a:prstGeom>
            <a:solidFill>
              <a:srgbClr val="FFFFFF"/>
            </a:solidFill>
            <a:ln w="38100" cap="flat">
              <a:solidFill>
                <a:schemeClr val="accent5"/>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err="1"/>
                <a:t>s</a:t>
              </a:r>
              <a:r>
                <a:rPr lang="en-US" baseline="-25000" dirty="0" err="1"/>
                <a:t>t</a:t>
              </a:r>
              <a:r>
                <a:rPr lang="en-US" baseline="-25000" dirty="0"/>
                <a:t>  </a:t>
              </a:r>
              <a:r>
                <a:rPr lang="en-US" dirty="0"/>
                <a:t>, a</a:t>
              </a:r>
              <a:r>
                <a:rPr lang="en-US" baseline="-25000" dirty="0"/>
                <a:t>0</a:t>
              </a:r>
              <a:r>
                <a:rPr lang="en-US" dirty="0"/>
                <a:t>  , r</a:t>
              </a:r>
              <a:r>
                <a:rPr lang="en-US" baseline="-25000" dirty="0"/>
                <a:t>t</a:t>
              </a:r>
              <a:r>
                <a:rPr lang="en-US" dirty="0"/>
                <a:t>  , s</a:t>
              </a:r>
              <a:r>
                <a:rPr lang="en-US" baseline="-25000" dirty="0"/>
                <a:t>t+1</a:t>
              </a:r>
              <a:r>
                <a:rPr lang="en-US" dirty="0"/>
                <a:t>  , done  </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6" name="Rectangle 5">
              <a:extLst>
                <a:ext uri="{FF2B5EF4-FFF2-40B4-BE49-F238E27FC236}">
                  <a16:creationId xmlns:a16="http://schemas.microsoft.com/office/drawing/2014/main" id="{90220030-C2CC-FCE2-681A-60748BF6D30F}"/>
                </a:ext>
              </a:extLst>
            </p:cNvPr>
            <p:cNvSpPr/>
            <p:nvPr/>
          </p:nvSpPr>
          <p:spPr>
            <a:xfrm>
              <a:off x="1720514" y="2615369"/>
              <a:ext cx="2153653"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err="1"/>
                <a:t>s</a:t>
              </a:r>
              <a:r>
                <a:rPr lang="en-US" baseline="-25000" dirty="0" err="1"/>
                <a:t>t</a:t>
              </a:r>
              <a:r>
                <a:rPr lang="en-US" baseline="-25000" dirty="0"/>
                <a:t>  </a:t>
              </a:r>
              <a:r>
                <a:rPr lang="en-US" dirty="0"/>
                <a:t>, a</a:t>
              </a:r>
              <a:r>
                <a:rPr lang="en-US" baseline="-25000" dirty="0"/>
                <a:t>2</a:t>
              </a:r>
              <a:r>
                <a:rPr lang="en-US" dirty="0"/>
                <a:t>  , r</a:t>
              </a:r>
              <a:r>
                <a:rPr lang="en-US" baseline="-25000" dirty="0"/>
                <a:t>t</a:t>
              </a:r>
              <a:r>
                <a:rPr lang="en-US" dirty="0"/>
                <a:t>  , s</a:t>
              </a:r>
              <a:r>
                <a:rPr lang="en-US" baseline="-25000" dirty="0"/>
                <a:t>t+1</a:t>
              </a:r>
              <a:r>
                <a:rPr lang="en-US" dirty="0"/>
                <a:t>  , done  </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7" name="Rectangle 6">
              <a:extLst>
                <a:ext uri="{FF2B5EF4-FFF2-40B4-BE49-F238E27FC236}">
                  <a16:creationId xmlns:a16="http://schemas.microsoft.com/office/drawing/2014/main" id="{B3B4D6B9-981D-9857-9122-F2D624BF115C}"/>
                </a:ext>
              </a:extLst>
            </p:cNvPr>
            <p:cNvSpPr/>
            <p:nvPr/>
          </p:nvSpPr>
          <p:spPr>
            <a:xfrm>
              <a:off x="1714499" y="2971854"/>
              <a:ext cx="2153653" cy="369330"/>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err="1"/>
                <a:t>s</a:t>
              </a:r>
              <a:r>
                <a:rPr lang="en-US" baseline="-25000" dirty="0" err="1"/>
                <a:t>t</a:t>
              </a:r>
              <a:r>
                <a:rPr lang="en-US" baseline="-25000" dirty="0"/>
                <a:t>  </a:t>
              </a:r>
              <a:r>
                <a:rPr lang="en-US" dirty="0"/>
                <a:t>, a</a:t>
              </a:r>
              <a:r>
                <a:rPr lang="en-US" baseline="-25000" dirty="0"/>
                <a:t>1</a:t>
              </a:r>
              <a:r>
                <a:rPr lang="en-US" dirty="0"/>
                <a:t> , r</a:t>
              </a:r>
              <a:r>
                <a:rPr lang="en-US" baseline="-25000" dirty="0"/>
                <a:t>t</a:t>
              </a:r>
              <a:r>
                <a:rPr lang="en-US" dirty="0"/>
                <a:t>  , s</a:t>
              </a:r>
              <a:r>
                <a:rPr lang="en-US" baseline="-25000" dirty="0"/>
                <a:t>t+1</a:t>
              </a:r>
              <a:r>
                <a:rPr lang="en-US" dirty="0"/>
                <a:t>  , done  </a:t>
              </a: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8" name="TextBox 7">
              <a:extLst>
                <a:ext uri="{FF2B5EF4-FFF2-40B4-BE49-F238E27FC236}">
                  <a16:creationId xmlns:a16="http://schemas.microsoft.com/office/drawing/2014/main" id="{D78DFD11-8876-C8EF-35A3-4E23D255E586}"/>
                </a:ext>
              </a:extLst>
            </p:cNvPr>
            <p:cNvSpPr txBox="1"/>
            <p:nvPr/>
          </p:nvSpPr>
          <p:spPr>
            <a:xfrm>
              <a:off x="2074283" y="1864352"/>
              <a:ext cx="138595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Replay Buffer</a:t>
              </a:r>
            </a:p>
          </p:txBody>
        </p:sp>
      </p:grpSp>
      <p:sp>
        <p:nvSpPr>
          <p:cNvPr id="10" name="Rectangle 9">
            <a:extLst>
              <a:ext uri="{FF2B5EF4-FFF2-40B4-BE49-F238E27FC236}">
                <a16:creationId xmlns:a16="http://schemas.microsoft.com/office/drawing/2014/main" id="{E8119BB3-5249-EAC4-ED3A-D65EBBB7C814}"/>
              </a:ext>
            </a:extLst>
          </p:cNvPr>
          <p:cNvSpPr/>
          <p:nvPr/>
        </p:nvSpPr>
        <p:spPr>
          <a:xfrm>
            <a:off x="3826043" y="2233682"/>
            <a:ext cx="1744579" cy="1291571"/>
          </a:xfrm>
          <a:prstGeom prst="rect">
            <a:avLst/>
          </a:prstGeom>
          <a:solidFill>
            <a:srgbClr val="FFFFFF"/>
          </a:solidFill>
          <a:ln w="28575" cap="flat">
            <a:solidFill>
              <a:schemeClr val="tx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11" name="Rectangle 10">
            <a:extLst>
              <a:ext uri="{FF2B5EF4-FFF2-40B4-BE49-F238E27FC236}">
                <a16:creationId xmlns:a16="http://schemas.microsoft.com/office/drawing/2014/main" id="{5D3256BD-F9DE-C3DA-C289-BC82AC2DC196}"/>
              </a:ext>
            </a:extLst>
          </p:cNvPr>
          <p:cNvSpPr/>
          <p:nvPr/>
        </p:nvSpPr>
        <p:spPr>
          <a:xfrm>
            <a:off x="3826042" y="4226913"/>
            <a:ext cx="1744579" cy="1291571"/>
          </a:xfrm>
          <a:prstGeom prst="rect">
            <a:avLst/>
          </a:prstGeom>
          <a:solidFill>
            <a:srgbClr val="FFFFFF"/>
          </a:solidFill>
          <a:ln w="38100" cap="flat">
            <a:solidFill>
              <a:schemeClr val="tx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orbel"/>
            </a:endParaRPr>
          </a:p>
        </p:txBody>
      </p:sp>
      <p:sp>
        <p:nvSpPr>
          <p:cNvPr id="12" name="TextBox 11">
            <a:extLst>
              <a:ext uri="{FF2B5EF4-FFF2-40B4-BE49-F238E27FC236}">
                <a16:creationId xmlns:a16="http://schemas.microsoft.com/office/drawing/2014/main" id="{AB9358B6-DA2F-C9FF-9B7C-0B9C68E48A62}"/>
              </a:ext>
            </a:extLst>
          </p:cNvPr>
          <p:cNvSpPr txBox="1"/>
          <p:nvPr/>
        </p:nvSpPr>
        <p:spPr>
          <a:xfrm>
            <a:off x="4119641" y="1898645"/>
            <a:ext cx="117275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Q-Network</a:t>
            </a:r>
          </a:p>
        </p:txBody>
      </p:sp>
      <p:sp>
        <p:nvSpPr>
          <p:cNvPr id="14" name="TextBox 13">
            <a:extLst>
              <a:ext uri="{FF2B5EF4-FFF2-40B4-BE49-F238E27FC236}">
                <a16:creationId xmlns:a16="http://schemas.microsoft.com/office/drawing/2014/main" id="{717601AF-299C-8293-6F73-B44B6D3D1B1E}"/>
              </a:ext>
            </a:extLst>
          </p:cNvPr>
          <p:cNvSpPr txBox="1"/>
          <p:nvPr/>
        </p:nvSpPr>
        <p:spPr>
          <a:xfrm>
            <a:off x="3886403" y="3860290"/>
            <a:ext cx="1639229"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Target-Network</a:t>
            </a:r>
          </a:p>
        </p:txBody>
      </p:sp>
      <p:sp>
        <p:nvSpPr>
          <p:cNvPr id="15" name="Right Arrow 14">
            <a:extLst>
              <a:ext uri="{FF2B5EF4-FFF2-40B4-BE49-F238E27FC236}">
                <a16:creationId xmlns:a16="http://schemas.microsoft.com/office/drawing/2014/main" id="{73646CD9-04DC-1471-61EF-D20A45F6D988}"/>
              </a:ext>
            </a:extLst>
          </p:cNvPr>
          <p:cNvSpPr/>
          <p:nvPr/>
        </p:nvSpPr>
        <p:spPr>
          <a:xfrm>
            <a:off x="3525260" y="2787677"/>
            <a:ext cx="144379" cy="171820"/>
          </a:xfrm>
          <a:prstGeom prst="rightArrow">
            <a:avLst/>
          </a:prstGeom>
          <a:solidFill>
            <a:srgbClr val="00B0F0"/>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orbel"/>
            </a:endParaRPr>
          </a:p>
        </p:txBody>
      </p:sp>
      <p:sp>
        <p:nvSpPr>
          <p:cNvPr id="16" name="Right Arrow 15">
            <a:extLst>
              <a:ext uri="{FF2B5EF4-FFF2-40B4-BE49-F238E27FC236}">
                <a16:creationId xmlns:a16="http://schemas.microsoft.com/office/drawing/2014/main" id="{05816595-D0B1-A040-FC71-C42C1CDFD97A}"/>
              </a:ext>
            </a:extLst>
          </p:cNvPr>
          <p:cNvSpPr/>
          <p:nvPr/>
        </p:nvSpPr>
        <p:spPr>
          <a:xfrm>
            <a:off x="3549321" y="4776987"/>
            <a:ext cx="144379" cy="171820"/>
          </a:xfrm>
          <a:prstGeom prst="rightArrow">
            <a:avLst/>
          </a:prstGeom>
          <a:solidFill>
            <a:srgbClr val="00B0F0"/>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orbel"/>
            </a:endParaRPr>
          </a:p>
        </p:txBody>
      </p:sp>
      <p:sp>
        <p:nvSpPr>
          <p:cNvPr id="20" name="TextBox 19">
            <a:extLst>
              <a:ext uri="{FF2B5EF4-FFF2-40B4-BE49-F238E27FC236}">
                <a16:creationId xmlns:a16="http://schemas.microsoft.com/office/drawing/2014/main" id="{BC59C1BD-517B-49DD-FF86-4D69C415A8F2}"/>
              </a:ext>
            </a:extLst>
          </p:cNvPr>
          <p:cNvSpPr txBox="1"/>
          <p:nvPr/>
        </p:nvSpPr>
        <p:spPr>
          <a:xfrm>
            <a:off x="3157149" y="2580634"/>
            <a:ext cx="287897"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err="1">
                <a:ln>
                  <a:noFill/>
                </a:ln>
                <a:solidFill>
                  <a:srgbClr val="000000"/>
                </a:solidFill>
                <a:effectLst/>
                <a:uFillTx/>
                <a:latin typeface="+mn-lt"/>
                <a:ea typeface="+mn-ea"/>
                <a:cs typeface="+mn-cs"/>
                <a:sym typeface="Corbel"/>
              </a:rPr>
              <a:t>s</a:t>
            </a:r>
            <a:r>
              <a:rPr kumimoji="0" lang="en-US" sz="2400" b="0" i="0" u="none" strike="noStrike" cap="none" spc="0" normalizeH="0" baseline="-25000" dirty="0" err="1">
                <a:ln>
                  <a:noFill/>
                </a:ln>
                <a:solidFill>
                  <a:srgbClr val="000000"/>
                </a:solidFill>
                <a:effectLst/>
                <a:uFillTx/>
                <a:latin typeface="+mn-lt"/>
                <a:ea typeface="+mn-ea"/>
                <a:cs typeface="+mn-cs"/>
                <a:sym typeface="Corbel"/>
              </a:rPr>
              <a:t>t</a:t>
            </a:r>
            <a:endParaRPr kumimoji="0" lang="en-US" sz="2400" b="0" i="0" u="none" strike="noStrike" cap="none" spc="0" normalizeH="0" baseline="0" dirty="0">
              <a:ln>
                <a:noFill/>
              </a:ln>
              <a:solidFill>
                <a:srgbClr val="000000"/>
              </a:solidFill>
              <a:effectLst/>
              <a:uFillTx/>
              <a:latin typeface="+mn-lt"/>
              <a:ea typeface="+mn-ea"/>
              <a:cs typeface="+mn-cs"/>
              <a:sym typeface="Corbel"/>
            </a:endParaRPr>
          </a:p>
        </p:txBody>
      </p:sp>
      <p:sp>
        <p:nvSpPr>
          <p:cNvPr id="21" name="TextBox 20">
            <a:extLst>
              <a:ext uri="{FF2B5EF4-FFF2-40B4-BE49-F238E27FC236}">
                <a16:creationId xmlns:a16="http://schemas.microsoft.com/office/drawing/2014/main" id="{C2A0D068-CFAB-4B0A-D860-E4D1BAE4D1BF}"/>
              </a:ext>
            </a:extLst>
          </p:cNvPr>
          <p:cNvSpPr txBox="1"/>
          <p:nvPr/>
        </p:nvSpPr>
        <p:spPr>
          <a:xfrm>
            <a:off x="3005526" y="4520131"/>
            <a:ext cx="485067"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2400" dirty="0"/>
              <a:t>s</a:t>
            </a:r>
            <a:r>
              <a:rPr kumimoji="0" lang="en-US" sz="2400" b="0" i="0" u="none" strike="noStrike" cap="none" spc="0" normalizeH="0" baseline="-25000" dirty="0">
                <a:ln>
                  <a:noFill/>
                </a:ln>
                <a:solidFill>
                  <a:srgbClr val="000000"/>
                </a:solidFill>
                <a:effectLst/>
                <a:uFillTx/>
                <a:latin typeface="+mn-lt"/>
                <a:ea typeface="+mn-ea"/>
                <a:cs typeface="+mn-cs"/>
                <a:sym typeface="Corbel"/>
              </a:rPr>
              <a:t>t+1</a:t>
            </a:r>
            <a:endParaRPr kumimoji="0" lang="en-US" sz="2400" b="0" i="0" u="none" strike="noStrike" cap="none" spc="0" normalizeH="0" baseline="0" dirty="0">
              <a:ln>
                <a:noFill/>
              </a:ln>
              <a:solidFill>
                <a:srgbClr val="000000"/>
              </a:solidFill>
              <a:effectLst/>
              <a:uFillTx/>
              <a:latin typeface="+mn-lt"/>
              <a:ea typeface="+mn-ea"/>
              <a:cs typeface="+mn-cs"/>
              <a:sym typeface="Corbel"/>
            </a:endParaRPr>
          </a:p>
        </p:txBody>
      </p:sp>
      <p:cxnSp>
        <p:nvCxnSpPr>
          <p:cNvPr id="23" name="Straight Arrow Connector 22">
            <a:extLst>
              <a:ext uri="{FF2B5EF4-FFF2-40B4-BE49-F238E27FC236}">
                <a16:creationId xmlns:a16="http://schemas.microsoft.com/office/drawing/2014/main" id="{9C31BC07-78B5-C509-709F-FD79495EF228}"/>
              </a:ext>
            </a:extLst>
          </p:cNvPr>
          <p:cNvCxnSpPr/>
          <p:nvPr/>
        </p:nvCxnSpPr>
        <p:spPr>
          <a:xfrm>
            <a:off x="2634916" y="2873587"/>
            <a:ext cx="3706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ED624995-94F7-6768-F96F-6E6E69869149}"/>
              </a:ext>
            </a:extLst>
          </p:cNvPr>
          <p:cNvSpPr txBox="1"/>
          <p:nvPr/>
        </p:nvSpPr>
        <p:spPr>
          <a:xfrm>
            <a:off x="4828795" y="2120548"/>
            <a:ext cx="709863" cy="1754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914400" rtl="0" fontAlgn="auto" latinLnBrk="0" hangingPunct="0">
              <a:lnSpc>
                <a:spcPct val="100000"/>
              </a:lnSpc>
              <a:spcBef>
                <a:spcPts val="0"/>
              </a:spcBef>
              <a:spcAft>
                <a:spcPts val="0"/>
              </a:spcAft>
              <a:buClrTx/>
              <a:buSzTx/>
              <a:buFontTx/>
              <a:buNone/>
              <a:tabLst/>
            </a:pPr>
            <a:r>
              <a:rPr lang="en-US" dirty="0"/>
              <a:t>a0</a:t>
            </a:r>
          </a:p>
          <a:p>
            <a:pPr marL="0" marR="0" indent="0" algn="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a:p>
            <a:pPr marL="0" marR="0" indent="0" algn="r" defTabSz="914400" rtl="0" fontAlgn="auto" latinLnBrk="0" hangingPunct="0">
              <a:lnSpc>
                <a:spcPct val="100000"/>
              </a:lnSpc>
              <a:spcBef>
                <a:spcPts val="0"/>
              </a:spcBef>
              <a:spcAft>
                <a:spcPts val="0"/>
              </a:spcAft>
              <a:buClrTx/>
              <a:buSzTx/>
              <a:buFontTx/>
              <a:buNone/>
              <a:tabLst/>
            </a:pPr>
            <a:r>
              <a:rPr lang="en-US" dirty="0"/>
              <a:t>a1</a:t>
            </a:r>
          </a:p>
          <a:p>
            <a:pPr marL="0" marR="0" indent="0" algn="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a:p>
            <a:pPr marL="0" marR="0" indent="0" algn="r" defTabSz="914400" rtl="0" fontAlgn="auto" latinLnBrk="0" hangingPunct="0">
              <a:lnSpc>
                <a:spcPct val="100000"/>
              </a:lnSpc>
              <a:spcBef>
                <a:spcPts val="0"/>
              </a:spcBef>
              <a:spcAft>
                <a:spcPts val="0"/>
              </a:spcAft>
              <a:buClrTx/>
              <a:buSzTx/>
              <a:buFontTx/>
              <a:buNone/>
              <a:tabLst/>
            </a:pPr>
            <a:r>
              <a:rPr lang="en-US" dirty="0"/>
              <a:t>a2</a:t>
            </a:r>
            <a:endParaRPr kumimoji="0" lang="en-US" sz="1800" b="0" i="0" u="none" strike="noStrike" cap="none" spc="0" normalizeH="0" baseline="0" dirty="0">
              <a:ln>
                <a:noFill/>
              </a:ln>
              <a:solidFill>
                <a:srgbClr val="000000"/>
              </a:solidFill>
              <a:effectLst/>
              <a:uFillTx/>
              <a:latin typeface="+mn-lt"/>
              <a:ea typeface="+mn-ea"/>
              <a:cs typeface="+mn-cs"/>
              <a:sym typeface="Corbel"/>
            </a:endParaRPr>
          </a:p>
          <a:p>
            <a:pPr marL="0" marR="0" indent="0" algn="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sp>
        <p:nvSpPr>
          <p:cNvPr id="32" name="Right Arrow 31">
            <a:extLst>
              <a:ext uri="{FF2B5EF4-FFF2-40B4-BE49-F238E27FC236}">
                <a16:creationId xmlns:a16="http://schemas.microsoft.com/office/drawing/2014/main" id="{C52EC1C8-DBA8-C30D-6E74-7060835D14AF}"/>
              </a:ext>
            </a:extLst>
          </p:cNvPr>
          <p:cNvSpPr/>
          <p:nvPr/>
        </p:nvSpPr>
        <p:spPr>
          <a:xfrm>
            <a:off x="5859380" y="2663172"/>
            <a:ext cx="348915" cy="356485"/>
          </a:xfrm>
          <a:prstGeom prst="rightArrow">
            <a:avLst/>
          </a:prstGeom>
          <a:solidFill>
            <a:srgbClr val="00B0F0"/>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orbel"/>
            </a:endParaRPr>
          </a:p>
        </p:txBody>
      </p:sp>
      <p:sp>
        <p:nvSpPr>
          <p:cNvPr id="33" name="Double Bracket 32">
            <a:extLst>
              <a:ext uri="{FF2B5EF4-FFF2-40B4-BE49-F238E27FC236}">
                <a16:creationId xmlns:a16="http://schemas.microsoft.com/office/drawing/2014/main" id="{54C9A1BF-DFF6-DA93-45DC-F4B6BD16DF47}"/>
              </a:ext>
            </a:extLst>
          </p:cNvPr>
          <p:cNvSpPr/>
          <p:nvPr/>
        </p:nvSpPr>
        <p:spPr>
          <a:xfrm>
            <a:off x="6376733" y="2243911"/>
            <a:ext cx="709863" cy="1291570"/>
          </a:xfrm>
          <a:prstGeom prst="bracketPair">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4" name="TextBox 33">
            <a:extLst>
              <a:ext uri="{FF2B5EF4-FFF2-40B4-BE49-F238E27FC236}">
                <a16:creationId xmlns:a16="http://schemas.microsoft.com/office/drawing/2014/main" id="{7FDB90DF-0869-FD5E-BAAB-07991A228BC7}"/>
              </a:ext>
            </a:extLst>
          </p:cNvPr>
          <p:cNvSpPr txBox="1"/>
          <p:nvPr/>
        </p:nvSpPr>
        <p:spPr>
          <a:xfrm>
            <a:off x="6513014" y="2120120"/>
            <a:ext cx="438580" cy="1477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chemeClr val="accent5">
                    <a:lumMod val="75000"/>
                  </a:schemeClr>
                </a:solidFill>
                <a:effectLst/>
                <a:uFillTx/>
                <a:latin typeface="+mn-lt"/>
                <a:ea typeface="+mn-ea"/>
                <a:cs typeface="+mn-cs"/>
                <a:sym typeface="Corbel"/>
              </a:rPr>
              <a:t>0.2</a:t>
            </a:r>
          </a:p>
          <a:p>
            <a:pPr marL="0" marR="0" indent="0" algn="l" defTabSz="914400" rtl="0" fontAlgn="auto" latinLnBrk="0" hangingPunct="0">
              <a:lnSpc>
                <a:spcPct val="100000"/>
              </a:lnSpc>
              <a:spcBef>
                <a:spcPts val="0"/>
              </a:spcBef>
              <a:spcAft>
                <a:spcPts val="0"/>
              </a:spcAft>
              <a:buClrTx/>
              <a:buSzTx/>
              <a:buFontTx/>
              <a:buNone/>
              <a:tabLst/>
            </a:pPr>
            <a:endParaRPr lang="en-US" dirty="0"/>
          </a:p>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0.8</a:t>
            </a:r>
          </a:p>
          <a:p>
            <a:pPr marL="0" marR="0" indent="0" algn="l" defTabSz="914400" rtl="0" fontAlgn="auto" latinLnBrk="0" hangingPunct="0">
              <a:lnSpc>
                <a:spcPct val="100000"/>
              </a:lnSpc>
              <a:spcBef>
                <a:spcPts val="0"/>
              </a:spcBef>
              <a:spcAft>
                <a:spcPts val="0"/>
              </a:spcAft>
              <a:buClrTx/>
              <a:buSzTx/>
              <a:buFontTx/>
              <a:buNone/>
              <a:tabLst/>
            </a:pPr>
            <a:endParaRPr lang="en-US" dirty="0"/>
          </a:p>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-1.1</a:t>
            </a:r>
          </a:p>
        </p:txBody>
      </p:sp>
      <p:sp>
        <p:nvSpPr>
          <p:cNvPr id="35" name="Double Bracket 34">
            <a:extLst>
              <a:ext uri="{FF2B5EF4-FFF2-40B4-BE49-F238E27FC236}">
                <a16:creationId xmlns:a16="http://schemas.microsoft.com/office/drawing/2014/main" id="{2CC09154-F1DC-B8A0-5E34-743FFB8D2F17}"/>
              </a:ext>
            </a:extLst>
          </p:cNvPr>
          <p:cNvSpPr/>
          <p:nvPr/>
        </p:nvSpPr>
        <p:spPr>
          <a:xfrm>
            <a:off x="6376733" y="4226913"/>
            <a:ext cx="709863" cy="1291570"/>
          </a:xfrm>
          <a:prstGeom prst="bracketPair">
            <a:avLst/>
          </a:prstGeom>
          <a:no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6" name="TextBox 35">
            <a:extLst>
              <a:ext uri="{FF2B5EF4-FFF2-40B4-BE49-F238E27FC236}">
                <a16:creationId xmlns:a16="http://schemas.microsoft.com/office/drawing/2014/main" id="{937D307B-4A32-0914-8763-404E1262F365}"/>
              </a:ext>
            </a:extLst>
          </p:cNvPr>
          <p:cNvSpPr txBox="1"/>
          <p:nvPr/>
        </p:nvSpPr>
        <p:spPr>
          <a:xfrm>
            <a:off x="6561142" y="4103122"/>
            <a:ext cx="376063" cy="1477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1</a:t>
            </a:r>
            <a:r>
              <a:rPr kumimoji="0" lang="en-US" sz="1800" b="0" i="0" u="none" strike="noStrike" cap="none" spc="0" normalizeH="0" baseline="0" dirty="0">
                <a:ln>
                  <a:noFill/>
                </a:ln>
                <a:solidFill>
                  <a:srgbClr val="000000"/>
                </a:solidFill>
                <a:effectLst/>
                <a:uFillTx/>
                <a:latin typeface="+mn-lt"/>
                <a:ea typeface="+mn-ea"/>
                <a:cs typeface="+mn-cs"/>
                <a:sym typeface="Corbel"/>
              </a:rPr>
              <a:t>.2</a:t>
            </a:r>
          </a:p>
          <a:p>
            <a:pPr marL="0" marR="0" indent="0" algn="l" defTabSz="914400" rtl="0" fontAlgn="auto" latinLnBrk="0" hangingPunct="0">
              <a:lnSpc>
                <a:spcPct val="100000"/>
              </a:lnSpc>
              <a:spcBef>
                <a:spcPts val="0"/>
              </a:spcBef>
              <a:spcAft>
                <a:spcPts val="0"/>
              </a:spcAft>
              <a:buClrTx/>
              <a:buSzTx/>
              <a:buFontTx/>
              <a:buNone/>
              <a:tabLst/>
            </a:pPr>
            <a:endParaRPr lang="en-US" dirty="0"/>
          </a:p>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0.3</a:t>
            </a:r>
          </a:p>
          <a:p>
            <a:pPr marL="0" marR="0" indent="0" algn="l" defTabSz="914400" rtl="0" fontAlgn="auto" latinLnBrk="0" hangingPunct="0">
              <a:lnSpc>
                <a:spcPct val="100000"/>
              </a:lnSpc>
              <a:spcBef>
                <a:spcPts val="0"/>
              </a:spcBef>
              <a:spcAft>
                <a:spcPts val="0"/>
              </a:spcAft>
              <a:buClrTx/>
              <a:buSzTx/>
              <a:buFontTx/>
              <a:buNone/>
              <a:tabLst/>
            </a:pPr>
            <a:endParaRPr lang="en-US" dirty="0"/>
          </a:p>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orbel"/>
              </a:rPr>
              <a:t>-1</a:t>
            </a:r>
          </a:p>
        </p:txBody>
      </p:sp>
      <p:sp>
        <p:nvSpPr>
          <p:cNvPr id="37" name="Right Arrow 36">
            <a:extLst>
              <a:ext uri="{FF2B5EF4-FFF2-40B4-BE49-F238E27FC236}">
                <a16:creationId xmlns:a16="http://schemas.microsoft.com/office/drawing/2014/main" id="{A998C887-0074-EBDE-A76B-0914961F3911}"/>
              </a:ext>
            </a:extLst>
          </p:cNvPr>
          <p:cNvSpPr/>
          <p:nvPr/>
        </p:nvSpPr>
        <p:spPr>
          <a:xfrm>
            <a:off x="5868930" y="4598744"/>
            <a:ext cx="348915" cy="356485"/>
          </a:xfrm>
          <a:prstGeom prst="rightArrow">
            <a:avLst/>
          </a:prstGeom>
          <a:solidFill>
            <a:srgbClr val="00B0F0"/>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orbel"/>
            </a:endParaRPr>
          </a:p>
        </p:txBody>
      </p:sp>
      <p:sp>
        <p:nvSpPr>
          <p:cNvPr id="38" name="Rectangle 37">
            <a:extLst>
              <a:ext uri="{FF2B5EF4-FFF2-40B4-BE49-F238E27FC236}">
                <a16:creationId xmlns:a16="http://schemas.microsoft.com/office/drawing/2014/main" id="{7915E0CA-B518-E7BF-6339-ADDD8C2BD29D}"/>
              </a:ext>
            </a:extLst>
          </p:cNvPr>
          <p:cNvSpPr/>
          <p:nvPr/>
        </p:nvSpPr>
        <p:spPr>
          <a:xfrm>
            <a:off x="10824519" y="3282956"/>
            <a:ext cx="822053" cy="761999"/>
          </a:xfrm>
          <a:prstGeom prst="rect">
            <a:avLst/>
          </a:prstGeom>
          <a:solidFill>
            <a:srgbClr val="FFFFFF"/>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orbel"/>
            </a:endParaRPr>
          </a:p>
        </p:txBody>
      </p:sp>
      <p:sp>
        <p:nvSpPr>
          <p:cNvPr id="39" name="TextBox 38">
            <a:extLst>
              <a:ext uri="{FF2B5EF4-FFF2-40B4-BE49-F238E27FC236}">
                <a16:creationId xmlns:a16="http://schemas.microsoft.com/office/drawing/2014/main" id="{8F1373CB-8B66-57C4-1F93-6D0DF38F6900}"/>
              </a:ext>
            </a:extLst>
          </p:cNvPr>
          <p:cNvSpPr txBox="1"/>
          <p:nvPr/>
        </p:nvSpPr>
        <p:spPr>
          <a:xfrm>
            <a:off x="10881496" y="3525253"/>
            <a:ext cx="706282"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dirty="0"/>
              <a:t>MSE Loss</a:t>
            </a:r>
            <a:endParaRPr kumimoji="0" lang="en-US" sz="1200" b="0" i="0" u="none" strike="noStrike" cap="none" spc="0" normalizeH="0" baseline="0" dirty="0">
              <a:ln>
                <a:noFill/>
              </a:ln>
              <a:solidFill>
                <a:srgbClr val="000000"/>
              </a:solidFill>
              <a:effectLst/>
              <a:uFillTx/>
              <a:latin typeface="+mn-lt"/>
              <a:ea typeface="+mn-ea"/>
              <a:cs typeface="+mn-cs"/>
              <a:sym typeface="Corbel"/>
            </a:endParaRPr>
          </a:p>
        </p:txBody>
      </p:sp>
      <p:cxnSp>
        <p:nvCxnSpPr>
          <p:cNvPr id="41" name="Straight Arrow Connector 40">
            <a:extLst>
              <a:ext uri="{FF2B5EF4-FFF2-40B4-BE49-F238E27FC236}">
                <a16:creationId xmlns:a16="http://schemas.microsoft.com/office/drawing/2014/main" id="{A26B4D56-9305-5F8C-FFFC-B8C27850434A}"/>
              </a:ext>
            </a:extLst>
          </p:cNvPr>
          <p:cNvCxnSpPr/>
          <p:nvPr/>
        </p:nvCxnSpPr>
        <p:spPr>
          <a:xfrm>
            <a:off x="7218947" y="4776986"/>
            <a:ext cx="324853" cy="0"/>
          </a:xfrm>
          <a:prstGeom prst="straightConnector1">
            <a:avLst/>
          </a:prstGeom>
          <a:noFill/>
          <a:ln w="381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42" name="TextBox 41">
            <a:extLst>
              <a:ext uri="{FF2B5EF4-FFF2-40B4-BE49-F238E27FC236}">
                <a16:creationId xmlns:a16="http://schemas.microsoft.com/office/drawing/2014/main" id="{ECAADE5D-49D0-ED77-C1BA-729616EAB37F}"/>
              </a:ext>
            </a:extLst>
          </p:cNvPr>
          <p:cNvSpPr txBox="1"/>
          <p:nvPr/>
        </p:nvSpPr>
        <p:spPr>
          <a:xfrm>
            <a:off x="7676151" y="4151120"/>
            <a:ext cx="2700417" cy="1508103"/>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dirty="0"/>
              <a:t>Q(</a:t>
            </a:r>
            <a:r>
              <a:rPr lang="en-US" dirty="0" err="1"/>
              <a:t>s</a:t>
            </a:r>
            <a:r>
              <a:rPr lang="en-US" baseline="-25000" dirty="0" err="1"/>
              <a:t>t</a:t>
            </a:r>
            <a:r>
              <a:rPr lang="en-US" dirty="0"/>
              <a:t> , </a:t>
            </a:r>
            <a:r>
              <a:rPr lang="en-US" dirty="0" err="1"/>
              <a:t>a</a:t>
            </a:r>
            <a:r>
              <a:rPr lang="en-US" baseline="-25000" dirty="0" err="1"/>
              <a:t>o</a:t>
            </a:r>
            <a:r>
              <a:rPr lang="en-US" dirty="0"/>
              <a:t> ) = r</a:t>
            </a:r>
            <a:r>
              <a:rPr lang="en-US" baseline="-25000" dirty="0"/>
              <a:t>t</a:t>
            </a:r>
            <a:r>
              <a:rPr lang="en-US" dirty="0"/>
              <a:t>   + </a:t>
            </a:r>
            <a:r>
              <a:rPr lang="el-GR" dirty="0"/>
              <a:t>γ</a:t>
            </a:r>
            <a:r>
              <a:rPr lang="en-US" dirty="0"/>
              <a:t>. max(Q)</a:t>
            </a:r>
          </a:p>
          <a:p>
            <a:pPr marL="0" marR="0" indent="0" algn="ctr" defTabSz="914400" rtl="0" fontAlgn="auto" latinLnBrk="0" hangingPunct="0">
              <a:lnSpc>
                <a:spcPct val="100000"/>
              </a:lnSpc>
              <a:spcBef>
                <a:spcPts val="0"/>
              </a:spcBef>
              <a:spcAft>
                <a:spcPts val="0"/>
              </a:spcAft>
              <a:buClrTx/>
              <a:buSzTx/>
              <a:buFontTx/>
              <a:buNone/>
              <a:tabLst/>
            </a:pPr>
            <a:r>
              <a:rPr lang="en-US" dirty="0"/>
              <a:t>OR</a:t>
            </a:r>
          </a:p>
          <a:p>
            <a:pPr marL="0" marR="0" indent="0" defTabSz="914400" rtl="0" fontAlgn="auto" latinLnBrk="0" hangingPunct="0">
              <a:lnSpc>
                <a:spcPct val="100000"/>
              </a:lnSpc>
              <a:spcBef>
                <a:spcPts val="0"/>
              </a:spcBef>
              <a:spcAft>
                <a:spcPts val="0"/>
              </a:spcAft>
              <a:buClrTx/>
              <a:buSzTx/>
              <a:buFontTx/>
              <a:buNone/>
              <a:tabLst/>
            </a:pPr>
            <a:r>
              <a:rPr lang="en-US" sz="2000" dirty="0"/>
              <a:t>Q(</a:t>
            </a:r>
            <a:r>
              <a:rPr lang="en-US" sz="2000" dirty="0" err="1"/>
              <a:t>s</a:t>
            </a:r>
            <a:r>
              <a:rPr lang="en-US" sz="2000" baseline="-25000" dirty="0" err="1"/>
              <a:t>t</a:t>
            </a:r>
            <a:r>
              <a:rPr lang="en-US" sz="2000" dirty="0"/>
              <a:t> , </a:t>
            </a:r>
            <a:r>
              <a:rPr lang="en-US" sz="2000" dirty="0" err="1"/>
              <a:t>a</a:t>
            </a:r>
            <a:r>
              <a:rPr lang="en-US" sz="2000" baseline="-25000" dirty="0" err="1"/>
              <a:t>o</a:t>
            </a:r>
            <a:r>
              <a:rPr lang="en-US" sz="2000" dirty="0"/>
              <a:t> ) = r</a:t>
            </a:r>
            <a:r>
              <a:rPr lang="en-US" sz="2000" baseline="-25000" dirty="0"/>
              <a:t>t</a:t>
            </a:r>
            <a:r>
              <a:rPr lang="en-US" dirty="0"/>
              <a:t>   (</a:t>
            </a:r>
            <a:r>
              <a:rPr lang="en-US" sz="1400" dirty="0"/>
              <a:t>if done = True)</a:t>
            </a:r>
            <a:endParaRPr lang="en-US" dirty="0"/>
          </a:p>
          <a:p>
            <a:pPr marL="0" marR="0" indent="0" defTabSz="914400" rtl="0" fontAlgn="auto" latinLnBrk="0" hangingPunct="0">
              <a:lnSpc>
                <a:spcPct val="100000"/>
              </a:lnSpc>
              <a:spcBef>
                <a:spcPts val="0"/>
              </a:spcBef>
              <a:spcAft>
                <a:spcPts val="0"/>
              </a:spcAft>
              <a:buClrTx/>
              <a:buSzTx/>
              <a:buFontTx/>
              <a:buNone/>
              <a:tabLst/>
            </a:pPr>
            <a:r>
              <a:rPr lang="en-US" dirty="0"/>
              <a:t>                               (</a:t>
            </a:r>
            <a:r>
              <a:rPr lang="en-US" sz="1400" dirty="0"/>
              <a:t>terminal state</a:t>
            </a:r>
            <a:r>
              <a:rPr lang="en-US" dirty="0"/>
              <a:t>)</a:t>
            </a:r>
          </a:p>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mn-lt"/>
              <a:ea typeface="+mn-ea"/>
              <a:cs typeface="+mn-cs"/>
              <a:sym typeface="Corbel"/>
            </a:endParaRPr>
          </a:p>
        </p:txBody>
      </p:sp>
      <p:cxnSp>
        <p:nvCxnSpPr>
          <p:cNvPr id="44" name="Curved Connector 43">
            <a:extLst>
              <a:ext uri="{FF2B5EF4-FFF2-40B4-BE49-F238E27FC236}">
                <a16:creationId xmlns:a16="http://schemas.microsoft.com/office/drawing/2014/main" id="{BCAC5DCA-A7A2-7A82-7343-65D3C4D56EC5}"/>
              </a:ext>
            </a:extLst>
          </p:cNvPr>
          <p:cNvCxnSpPr>
            <a:cxnSpLocks/>
          </p:cNvCxnSpPr>
          <p:nvPr/>
        </p:nvCxnSpPr>
        <p:spPr>
          <a:xfrm rot="5400000" flipH="1" flipV="1">
            <a:off x="10533465" y="4159396"/>
            <a:ext cx="878672" cy="716696"/>
          </a:xfrm>
          <a:prstGeom prst="curvedConnector3">
            <a:avLst>
              <a:gd name="adj1" fmla="val -62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Curved Connector 46">
            <a:extLst>
              <a:ext uri="{FF2B5EF4-FFF2-40B4-BE49-F238E27FC236}">
                <a16:creationId xmlns:a16="http://schemas.microsoft.com/office/drawing/2014/main" id="{7B40DF33-6717-A196-2035-70ED7EB0D85B}"/>
              </a:ext>
            </a:extLst>
          </p:cNvPr>
          <p:cNvCxnSpPr>
            <a:cxnSpLocks/>
          </p:cNvCxnSpPr>
          <p:nvPr/>
        </p:nvCxnSpPr>
        <p:spPr>
          <a:xfrm rot="16200000" flipH="1">
            <a:off x="1913021" y="3835596"/>
            <a:ext cx="1435392" cy="447387"/>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A124E74C-7008-5F80-7FB0-1CF68D789151}"/>
              </a:ext>
            </a:extLst>
          </p:cNvPr>
          <p:cNvSpPr txBox="1"/>
          <p:nvPr/>
        </p:nvSpPr>
        <p:spPr>
          <a:xfrm>
            <a:off x="7201537" y="2706880"/>
            <a:ext cx="2033568"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n-lt"/>
                <a:ea typeface="+mn-ea"/>
                <a:cs typeface="+mn-cs"/>
                <a:sym typeface="Corbel"/>
              </a:rPr>
              <a:t>Q _ Predicted for action a</a:t>
            </a:r>
            <a:r>
              <a:rPr kumimoji="0" lang="en-US" sz="1400" b="0" i="0" u="none" strike="noStrike" cap="none" spc="0" normalizeH="0" baseline="-25000" dirty="0">
                <a:ln>
                  <a:noFill/>
                </a:ln>
                <a:solidFill>
                  <a:srgbClr val="000000"/>
                </a:solidFill>
                <a:effectLst/>
                <a:uFillTx/>
                <a:latin typeface="+mn-lt"/>
                <a:ea typeface="+mn-ea"/>
                <a:cs typeface="+mn-cs"/>
                <a:sym typeface="Corbel"/>
              </a:rPr>
              <a:t>0</a:t>
            </a:r>
            <a:endParaRPr kumimoji="0" lang="en-US" sz="1400" b="0" i="0" u="none" strike="noStrike" cap="none" spc="0" normalizeH="0" baseline="0" dirty="0">
              <a:ln>
                <a:noFill/>
              </a:ln>
              <a:solidFill>
                <a:srgbClr val="000000"/>
              </a:solidFill>
              <a:effectLst/>
              <a:uFillTx/>
              <a:latin typeface="+mn-lt"/>
              <a:ea typeface="+mn-ea"/>
              <a:cs typeface="+mn-cs"/>
              <a:sym typeface="Corbel"/>
            </a:endParaRPr>
          </a:p>
        </p:txBody>
      </p:sp>
      <p:cxnSp>
        <p:nvCxnSpPr>
          <p:cNvPr id="59" name="Curved Connector 58">
            <a:extLst>
              <a:ext uri="{FF2B5EF4-FFF2-40B4-BE49-F238E27FC236}">
                <a16:creationId xmlns:a16="http://schemas.microsoft.com/office/drawing/2014/main" id="{F9E31DFC-FF7F-E9B4-6C88-BD9A7929AA05}"/>
              </a:ext>
            </a:extLst>
          </p:cNvPr>
          <p:cNvCxnSpPr>
            <a:cxnSpLocks/>
          </p:cNvCxnSpPr>
          <p:nvPr/>
        </p:nvCxnSpPr>
        <p:spPr>
          <a:xfrm>
            <a:off x="9544384" y="2848873"/>
            <a:ext cx="1691162" cy="40936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1BB7936E-4C9E-5719-E3D4-51D51E82DCAD}"/>
              </a:ext>
            </a:extLst>
          </p:cNvPr>
          <p:cNvSpPr txBox="1"/>
          <p:nvPr/>
        </p:nvSpPr>
        <p:spPr>
          <a:xfrm>
            <a:off x="4213693" y="2682500"/>
            <a:ext cx="79284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n-lt"/>
                <a:ea typeface="+mn-ea"/>
                <a:cs typeface="+mn-cs"/>
                <a:sym typeface="Corbel"/>
              </a:rPr>
              <a:t>Trainable</a:t>
            </a:r>
          </a:p>
        </p:txBody>
      </p:sp>
      <p:sp>
        <p:nvSpPr>
          <p:cNvPr id="71" name="TextBox 70">
            <a:extLst>
              <a:ext uri="{FF2B5EF4-FFF2-40B4-BE49-F238E27FC236}">
                <a16:creationId xmlns:a16="http://schemas.microsoft.com/office/drawing/2014/main" id="{BADCCEF5-B200-44FE-06BE-C7E7F437E55F}"/>
              </a:ext>
            </a:extLst>
          </p:cNvPr>
          <p:cNvSpPr txBox="1"/>
          <p:nvPr/>
        </p:nvSpPr>
        <p:spPr>
          <a:xfrm>
            <a:off x="4428169" y="4672168"/>
            <a:ext cx="491479"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000000"/>
                </a:solidFill>
                <a:effectLst/>
                <a:uFillTx/>
                <a:latin typeface="+mn-lt"/>
                <a:ea typeface="+mn-ea"/>
                <a:cs typeface="+mn-cs"/>
                <a:sym typeface="Corbel"/>
              </a:rPr>
              <a:t>Fixed</a:t>
            </a:r>
          </a:p>
        </p:txBody>
      </p:sp>
      <p:sp>
        <p:nvSpPr>
          <p:cNvPr id="76" name="TextBox 75">
            <a:extLst>
              <a:ext uri="{FF2B5EF4-FFF2-40B4-BE49-F238E27FC236}">
                <a16:creationId xmlns:a16="http://schemas.microsoft.com/office/drawing/2014/main" id="{AA733234-AA92-12E8-1D72-BA1A96571DEF}"/>
              </a:ext>
            </a:extLst>
          </p:cNvPr>
          <p:cNvSpPr txBox="1"/>
          <p:nvPr/>
        </p:nvSpPr>
        <p:spPr>
          <a:xfrm>
            <a:off x="3604305" y="5631612"/>
            <a:ext cx="2264625" cy="830995"/>
          </a:xfrm>
          <a:prstGeom prst="rect">
            <a:avLst/>
          </a:prstGeom>
          <a:noFill/>
          <a:ln w="127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n-lt"/>
                <a:ea typeface="+mn-ea"/>
                <a:cs typeface="+mn-cs"/>
                <a:sym typeface="Corbel"/>
              </a:rPr>
              <a:t>After every so many episodes copy the weights  from the Q-Network</a:t>
            </a:r>
            <a:r>
              <a:rPr kumimoji="0" lang="en-US" sz="1200" b="0" i="0" u="none" strike="noStrike" cap="none" spc="0" normalizeH="0" dirty="0">
                <a:ln>
                  <a:noFill/>
                </a:ln>
                <a:solidFill>
                  <a:srgbClr val="000000"/>
                </a:solidFill>
                <a:effectLst/>
                <a:uFillTx/>
                <a:latin typeface="+mn-lt"/>
                <a:ea typeface="+mn-ea"/>
                <a:cs typeface="+mn-cs"/>
                <a:sym typeface="Corbel"/>
              </a:rPr>
              <a:t> to the Target-Network and continue the journey</a:t>
            </a:r>
            <a:endParaRPr kumimoji="0" lang="en-US" sz="1200" b="0" i="0" u="none" strike="noStrike" cap="none" spc="0" normalizeH="0" baseline="0" dirty="0">
              <a:ln>
                <a:noFill/>
              </a:ln>
              <a:solidFill>
                <a:srgbClr val="000000"/>
              </a:solidFill>
              <a:effectLst/>
              <a:uFillTx/>
              <a:latin typeface="+mn-lt"/>
              <a:ea typeface="+mn-ea"/>
              <a:cs typeface="+mn-cs"/>
              <a:sym typeface="Corbel"/>
            </a:endParaRPr>
          </a:p>
        </p:txBody>
      </p:sp>
    </p:spTree>
    <p:extLst>
      <p:ext uri="{BB962C8B-B14F-4D97-AF65-F5344CB8AC3E}">
        <p14:creationId xmlns:p14="http://schemas.microsoft.com/office/powerpoint/2010/main" val="32077930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Numerical example to illustrate previous slide details</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7" y="1808018"/>
            <a:ext cx="10435146" cy="4540827"/>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r>
              <a:rPr lang="en-US" sz="1600" dirty="0"/>
              <a:t>Assumptions: actions = 4 and </a:t>
            </a:r>
            <a:r>
              <a:rPr lang="el-GR" sz="1600" dirty="0"/>
              <a:t>γ</a:t>
            </a:r>
            <a:r>
              <a:rPr lang="en-US" sz="1600" dirty="0"/>
              <a:t> = 0.95</a:t>
            </a:r>
          </a:p>
          <a:p>
            <a:pPr marL="0" indent="0">
              <a:buNone/>
            </a:pPr>
            <a:r>
              <a:rPr lang="en-US" sz="1600" dirty="0"/>
              <a:t>Replay buffer row content = [current state = 100,  action = 0,  reward = 5, next state = 102]</a:t>
            </a:r>
          </a:p>
          <a:p>
            <a:pPr marL="0" indent="0">
              <a:buNone/>
            </a:pPr>
            <a:r>
              <a:rPr lang="en-US" sz="1600" dirty="0"/>
              <a:t>Q-Network output = [2.3, -1.5, 0.8, 0.1]    Predicted Q-values for actions 0, 1, 2, 3 respectively</a:t>
            </a:r>
          </a:p>
          <a:p>
            <a:pPr marL="0" indent="0">
              <a:buNone/>
            </a:pPr>
            <a:r>
              <a:rPr lang="en-US" sz="1600" dirty="0"/>
              <a:t>Target Network output = [3.1, 0.5, 2.2, -0.3]    Predicted Q-values for actions 0, 1, 2, 3 in the next state</a:t>
            </a:r>
          </a:p>
          <a:p>
            <a:pPr marL="0" indent="0">
              <a:buNone/>
            </a:pPr>
            <a:endParaRPr lang="en-US" sz="1600" b="1" dirty="0"/>
          </a:p>
          <a:p>
            <a:pPr marL="0" indent="0">
              <a:buNone/>
            </a:pPr>
            <a:r>
              <a:rPr lang="en-US" sz="1600" b="1" dirty="0"/>
              <a:t>Bellman Equation and Loss Calculation:</a:t>
            </a:r>
          </a:p>
          <a:p>
            <a:pPr marL="0" indent="0">
              <a:buNone/>
            </a:pPr>
            <a:r>
              <a:rPr lang="en-US" sz="1600" dirty="0"/>
              <a:t>max Q from Target network for next state = 3.1</a:t>
            </a:r>
          </a:p>
          <a:p>
            <a:pPr marL="0" indent="0">
              <a:buNone/>
            </a:pPr>
            <a:r>
              <a:rPr lang="en-US" sz="1600" dirty="0"/>
              <a:t>Target Q value for the current state-action pair is :     Q(s,a) =R(s) + </a:t>
            </a:r>
            <a:r>
              <a:rPr lang="el-GR" sz="1600" dirty="0"/>
              <a:t>γ</a:t>
            </a:r>
            <a:r>
              <a:rPr lang="en-US" sz="1600" dirty="0"/>
              <a:t> * max Q(</a:t>
            </a:r>
            <a:r>
              <a:rPr lang="en-US" sz="1600" dirty="0" err="1"/>
              <a:t>s’,a</a:t>
            </a:r>
            <a:r>
              <a:rPr lang="en-US" sz="1600" dirty="0"/>
              <a:t>’)  which is 5 + 0.95 * 3.1 = 7.945</a:t>
            </a:r>
          </a:p>
          <a:p>
            <a:pPr marL="0" indent="0">
              <a:buNone/>
            </a:pPr>
            <a:r>
              <a:rPr lang="en-US" sz="1600" dirty="0"/>
              <a:t>Predicted Q value from the Q-network is 2.3 for action 0</a:t>
            </a:r>
          </a:p>
          <a:p>
            <a:pPr marL="0" indent="0">
              <a:buNone/>
            </a:pPr>
            <a:r>
              <a:rPr lang="en-US" sz="1600" dirty="0"/>
              <a:t>MSE = 1/2 * (7.945 – 2.3) </a:t>
            </a:r>
            <a:r>
              <a:rPr lang="en-US" sz="1600" baseline="30000" dirty="0"/>
              <a:t>2</a:t>
            </a:r>
          </a:p>
        </p:txBody>
      </p:sp>
    </p:spTree>
    <p:extLst>
      <p:ext uri="{BB962C8B-B14F-4D97-AF65-F5344CB8AC3E}">
        <p14:creationId xmlns:p14="http://schemas.microsoft.com/office/powerpoint/2010/main" val="2493097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DQN training and flow</a:t>
            </a:r>
          </a:p>
        </p:txBody>
      </p:sp>
      <p:pic>
        <p:nvPicPr>
          <p:cNvPr id="3" name="Picture 2">
            <a:extLst>
              <a:ext uri="{FF2B5EF4-FFF2-40B4-BE49-F238E27FC236}">
                <a16:creationId xmlns:a16="http://schemas.microsoft.com/office/drawing/2014/main" id="{1F2A4D56-F815-1C6B-0ACB-C0CF263ECBC2}"/>
              </a:ext>
            </a:extLst>
          </p:cNvPr>
          <p:cNvPicPr>
            <a:picLocks noChangeAspect="1"/>
          </p:cNvPicPr>
          <p:nvPr/>
        </p:nvPicPr>
        <p:blipFill>
          <a:blip r:embed="rId3"/>
          <a:stretch>
            <a:fillRect/>
          </a:stretch>
        </p:blipFill>
        <p:spPr>
          <a:xfrm>
            <a:off x="2170566" y="1936247"/>
            <a:ext cx="8015850" cy="4563371"/>
          </a:xfrm>
          <a:prstGeom prst="rect">
            <a:avLst/>
          </a:prstGeom>
        </p:spPr>
      </p:pic>
    </p:spTree>
    <p:extLst>
      <p:ext uri="{BB962C8B-B14F-4D97-AF65-F5344CB8AC3E}">
        <p14:creationId xmlns:p14="http://schemas.microsoft.com/office/powerpoint/2010/main" val="15400607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243759" cy="2667000"/>
          </a:xfrm>
        </p:spPr>
        <p:txBody>
          <a:bodyPr/>
          <a:lstStyle/>
          <a:p>
            <a:pPr lvl="1"/>
            <a:br>
              <a:rPr lang="en-US" sz="2400" b="0" dirty="0">
                <a:solidFill>
                  <a:schemeClr val="tx1"/>
                </a:solidFill>
              </a:rPr>
            </a:br>
            <a:r>
              <a:rPr lang="en-US" sz="2800" b="0" dirty="0">
                <a:solidFill>
                  <a:schemeClr val="tx1"/>
                </a:solidFill>
              </a:rPr>
              <a:t>Example 4: </a:t>
            </a:r>
            <a:r>
              <a:rPr lang="en-US" sz="2400" b="0" dirty="0">
                <a:solidFill>
                  <a:schemeClr val="tx1"/>
                </a:solidFill>
              </a:rPr>
              <a:t>Cartpole</a:t>
            </a:r>
            <a:endParaRPr lang="en-US" sz="2400" dirty="0">
              <a:solidFill>
                <a:schemeClr val="tx1"/>
              </a:solidFill>
            </a:endParaRP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29</a:t>
            </a:fld>
            <a:endParaRPr lang="en-US"/>
          </a:p>
        </p:txBody>
      </p:sp>
    </p:spTree>
    <p:extLst>
      <p:ext uri="{BB962C8B-B14F-4D97-AF65-F5344CB8AC3E}">
        <p14:creationId xmlns:p14="http://schemas.microsoft.com/office/powerpoint/2010/main" val="1661176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243759" cy="2667000"/>
          </a:xfrm>
        </p:spPr>
        <p:txBody>
          <a:bodyPr/>
          <a:lstStyle/>
          <a:p>
            <a:pPr lvl="1"/>
            <a:br>
              <a:rPr lang="en-US" sz="2400" b="0" dirty="0">
                <a:solidFill>
                  <a:schemeClr val="tx1"/>
                </a:solidFill>
              </a:rPr>
            </a:br>
            <a:r>
              <a:rPr lang="en-US" sz="2400" b="0" dirty="0">
                <a:solidFill>
                  <a:schemeClr val="tx1"/>
                </a:solidFill>
              </a:rPr>
              <a:t>RL in Environments with:</a:t>
            </a:r>
            <a:br>
              <a:rPr lang="en-US" sz="2400" b="0" dirty="0">
                <a:solidFill>
                  <a:schemeClr val="tx1"/>
                </a:solidFill>
              </a:rPr>
            </a:br>
            <a:r>
              <a:rPr lang="en-US" sz="2800" b="0" dirty="0">
                <a:solidFill>
                  <a:schemeClr val="tx1"/>
                </a:solidFill>
              </a:rPr>
              <a:t>Continuous actions and continuous spaces</a:t>
            </a:r>
            <a:endParaRPr lang="en-US" sz="2400" dirty="0">
              <a:solidFill>
                <a:schemeClr val="tx1"/>
              </a:solidFill>
            </a:endParaRP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30</a:t>
            </a:fld>
            <a:endParaRPr lang="en-US"/>
          </a:p>
        </p:txBody>
      </p:sp>
    </p:spTree>
    <p:extLst>
      <p:ext uri="{BB962C8B-B14F-4D97-AF65-F5344CB8AC3E}">
        <p14:creationId xmlns:p14="http://schemas.microsoft.com/office/powerpoint/2010/main" val="3484949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What is the continuous action space?</a:t>
            </a:r>
          </a:p>
        </p:txBody>
      </p:sp>
      <p:pic>
        <p:nvPicPr>
          <p:cNvPr id="3" name="Picture 2">
            <a:extLst>
              <a:ext uri="{FF2B5EF4-FFF2-40B4-BE49-F238E27FC236}">
                <a16:creationId xmlns:a16="http://schemas.microsoft.com/office/drawing/2014/main" id="{1EA8C446-CC9B-B93A-E90D-15AC826BEFC0}"/>
              </a:ext>
            </a:extLst>
          </p:cNvPr>
          <p:cNvPicPr>
            <a:picLocks noChangeAspect="1"/>
          </p:cNvPicPr>
          <p:nvPr/>
        </p:nvPicPr>
        <p:blipFill>
          <a:blip r:embed="rId3"/>
          <a:stretch>
            <a:fillRect/>
          </a:stretch>
        </p:blipFill>
        <p:spPr>
          <a:xfrm>
            <a:off x="5592205" y="2860726"/>
            <a:ext cx="5144620" cy="2301209"/>
          </a:xfrm>
          <a:prstGeom prst="rect">
            <a:avLst/>
          </a:prstGeom>
        </p:spPr>
      </p:pic>
      <p:sp>
        <p:nvSpPr>
          <p:cNvPr id="4" name="TextBox 3">
            <a:extLst>
              <a:ext uri="{FF2B5EF4-FFF2-40B4-BE49-F238E27FC236}">
                <a16:creationId xmlns:a16="http://schemas.microsoft.com/office/drawing/2014/main" id="{D3A45BA1-B577-389A-ADF4-BBD1AD67DD16}"/>
              </a:ext>
            </a:extLst>
          </p:cNvPr>
          <p:cNvSpPr txBox="1"/>
          <p:nvPr/>
        </p:nvSpPr>
        <p:spPr>
          <a:xfrm>
            <a:off x="560438" y="2192593"/>
            <a:ext cx="4758813" cy="30469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600" b="1" i="0" u="sng" strike="noStrike" cap="none" spc="0" normalizeH="0" baseline="0" dirty="0">
                <a:ln>
                  <a:noFill/>
                </a:ln>
                <a:solidFill>
                  <a:srgbClr val="000000"/>
                </a:solidFill>
                <a:effectLst/>
                <a:uFillTx/>
                <a:latin typeface="+mn-lt"/>
                <a:ea typeface="+mn-ea"/>
                <a:cs typeface="+mn-cs"/>
                <a:sym typeface="Corbel"/>
              </a:rPr>
              <a:t>Example 1:</a:t>
            </a:r>
          </a:p>
          <a:p>
            <a:pPr marL="0" marR="0" indent="0" algn="l" defTabSz="914400" rtl="0" fontAlgn="auto" latinLnBrk="0" hangingPunct="0">
              <a:lnSpc>
                <a:spcPct val="100000"/>
              </a:lnSpc>
              <a:spcBef>
                <a:spcPts val="0"/>
              </a:spcBef>
              <a:spcAft>
                <a:spcPts val="0"/>
              </a:spcAft>
              <a:buClrTx/>
              <a:buSzTx/>
              <a:buFontTx/>
              <a:buNone/>
              <a:tabLst/>
            </a:pPr>
            <a:endParaRPr lang="en-US" sz="1600" dirty="0"/>
          </a:p>
          <a:p>
            <a:pPr marL="342900" marR="0" indent="-342900" algn="l" defTabSz="9144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000000"/>
                </a:solidFill>
                <a:effectLst/>
                <a:uFillTx/>
                <a:latin typeface="+mn-lt"/>
                <a:ea typeface="+mn-ea"/>
                <a:cs typeface="+mn-cs"/>
                <a:sym typeface="Corbel"/>
              </a:rPr>
              <a:t>When you're driving of your car and you turn the wheel, it is continuous, because you can control </a:t>
            </a:r>
          </a:p>
          <a:p>
            <a:pPr marR="0" algn="l" defTabSz="914400" rtl="0" fontAlgn="auto" latinLnBrk="0" hangingPunct="0">
              <a:lnSpc>
                <a:spcPct val="100000"/>
              </a:lnSpc>
              <a:spcBef>
                <a:spcPts val="0"/>
              </a:spcBef>
              <a:spcAft>
                <a:spcPts val="0"/>
              </a:spcAft>
              <a:buClrTx/>
              <a:buSzTx/>
              <a:tabLst/>
            </a:pPr>
            <a:r>
              <a:rPr lang="en-US" sz="1600" dirty="0"/>
              <a:t>	- H</a:t>
            </a:r>
            <a:r>
              <a:rPr kumimoji="0" lang="en-US" sz="1600" b="0" i="0" u="none" strike="noStrike" cap="none" spc="0" normalizeH="0" baseline="0" dirty="0">
                <a:ln>
                  <a:noFill/>
                </a:ln>
                <a:solidFill>
                  <a:srgbClr val="000000"/>
                </a:solidFill>
                <a:effectLst/>
                <a:uFillTx/>
                <a:latin typeface="+mn-lt"/>
                <a:ea typeface="+mn-ea"/>
                <a:cs typeface="+mn-cs"/>
                <a:sym typeface="Corbel"/>
              </a:rPr>
              <a:t>ow much you turn the wheel. </a:t>
            </a:r>
          </a:p>
          <a:p>
            <a:pPr marR="0" algn="l" defTabSz="914400" rtl="0" fontAlgn="auto" latinLnBrk="0" hangingPunct="0">
              <a:lnSpc>
                <a:spcPct val="100000"/>
              </a:lnSpc>
              <a:spcBef>
                <a:spcPts val="0"/>
              </a:spcBef>
              <a:spcAft>
                <a:spcPts val="0"/>
              </a:spcAft>
              <a:buClrTx/>
              <a:buSzTx/>
              <a:tabLst/>
            </a:pPr>
            <a:r>
              <a:rPr kumimoji="0" lang="en-US" sz="1600" b="0" i="0" u="none" strike="noStrike" cap="none" spc="0" normalizeH="0" baseline="0" dirty="0">
                <a:ln>
                  <a:noFill/>
                </a:ln>
                <a:solidFill>
                  <a:srgbClr val="000000"/>
                </a:solidFill>
                <a:effectLst/>
                <a:uFillTx/>
                <a:latin typeface="+mn-lt"/>
                <a:ea typeface="+mn-ea"/>
                <a:cs typeface="+mn-cs"/>
                <a:sym typeface="Corbel"/>
              </a:rPr>
              <a:t>	</a:t>
            </a:r>
            <a:r>
              <a:rPr lang="en-US" sz="1600" dirty="0"/>
              <a:t>- </a:t>
            </a:r>
            <a:r>
              <a:rPr kumimoji="0" lang="en-US" sz="1600" b="0" i="0" u="none" strike="noStrike" cap="none" spc="0" normalizeH="0" baseline="0" dirty="0">
                <a:ln>
                  <a:noFill/>
                </a:ln>
                <a:solidFill>
                  <a:srgbClr val="000000"/>
                </a:solidFill>
                <a:effectLst/>
                <a:uFillTx/>
                <a:latin typeface="+mn-lt"/>
                <a:ea typeface="+mn-ea"/>
                <a:cs typeface="+mn-cs"/>
                <a:sym typeface="Corbel"/>
              </a:rPr>
              <a:t>How much do you press the gas</a:t>
            </a:r>
          </a:p>
          <a:p>
            <a:pPr marR="0" algn="l" defTabSz="914400" rtl="0" fontAlgn="auto" latinLnBrk="0" hangingPunct="0">
              <a:lnSpc>
                <a:spcPct val="100000"/>
              </a:lnSpc>
              <a:spcBef>
                <a:spcPts val="0"/>
              </a:spcBef>
              <a:spcAft>
                <a:spcPts val="0"/>
              </a:spcAft>
              <a:buClrTx/>
              <a:buSzTx/>
              <a:tabLst/>
            </a:pPr>
            <a:r>
              <a:rPr lang="en-US" sz="1600" dirty="0"/>
              <a:t>                       </a:t>
            </a:r>
            <a:r>
              <a:rPr kumimoji="0" lang="en-US" sz="1600" b="0" i="0" u="none" strike="noStrike" cap="none" spc="0" normalizeH="0" baseline="0" dirty="0">
                <a:ln>
                  <a:noFill/>
                </a:ln>
                <a:solidFill>
                  <a:srgbClr val="000000"/>
                </a:solidFill>
                <a:effectLst/>
                <a:uFillTx/>
                <a:latin typeface="+mn-lt"/>
                <a:ea typeface="+mn-ea"/>
                <a:cs typeface="+mn-cs"/>
                <a:sym typeface="Corbel"/>
              </a:rPr>
              <a:t>  pedal? </a:t>
            </a:r>
          </a:p>
          <a:p>
            <a:pPr marR="0" algn="l" defTabSz="914400" rtl="0" fontAlgn="auto" latinLnBrk="0" hangingPunct="0">
              <a:lnSpc>
                <a:spcPct val="100000"/>
              </a:lnSpc>
              <a:spcBef>
                <a:spcPts val="0"/>
              </a:spcBef>
              <a:spcAft>
                <a:spcPts val="0"/>
              </a:spcAft>
              <a:buClrTx/>
              <a:buSzTx/>
              <a:tabLst/>
            </a:pPr>
            <a:endParaRPr lang="en-US" sz="1600" dirty="0"/>
          </a:p>
          <a:p>
            <a:pPr marR="0" algn="l" defTabSz="914400" rtl="0" fontAlgn="auto" latinLnBrk="0" hangingPunct="0">
              <a:lnSpc>
                <a:spcPct val="100000"/>
              </a:lnSpc>
              <a:spcBef>
                <a:spcPts val="0"/>
              </a:spcBef>
              <a:spcAft>
                <a:spcPts val="0"/>
              </a:spcAft>
              <a:buClrTx/>
              <a:buSzTx/>
              <a:tabLst/>
            </a:pPr>
            <a:r>
              <a:rPr kumimoji="0" lang="en-US" sz="1600" b="0" i="0" u="none" strike="noStrike" cap="none" spc="0" normalizeH="0" baseline="0" dirty="0">
                <a:ln>
                  <a:noFill/>
                </a:ln>
                <a:solidFill>
                  <a:srgbClr val="000000"/>
                </a:solidFill>
                <a:effectLst/>
                <a:uFillTx/>
                <a:latin typeface="+mn-lt"/>
                <a:ea typeface="+mn-ea"/>
                <a:cs typeface="+mn-cs"/>
                <a:sym typeface="Corbel"/>
              </a:rPr>
              <a:t>2.     This leads to a continuous action space: </a:t>
            </a:r>
          </a:p>
          <a:p>
            <a:pPr marR="0" algn="l" defTabSz="914400" rtl="0" fontAlgn="auto" latinLnBrk="0" hangingPunct="0">
              <a:lnSpc>
                <a:spcPct val="100000"/>
              </a:lnSpc>
              <a:spcBef>
                <a:spcPts val="0"/>
              </a:spcBef>
              <a:spcAft>
                <a:spcPts val="0"/>
              </a:spcAft>
              <a:buClrTx/>
              <a:buSzTx/>
              <a:tabLst/>
            </a:pPr>
            <a:r>
              <a:rPr lang="en-US" sz="1600" dirty="0"/>
              <a:t>              - </a:t>
            </a:r>
            <a:r>
              <a:rPr kumimoji="0" lang="en-US" sz="1600" b="0" i="0" u="none" strike="noStrike" cap="none" spc="0" normalizeH="0" baseline="0" dirty="0">
                <a:ln>
                  <a:noFill/>
                </a:ln>
                <a:solidFill>
                  <a:srgbClr val="000000"/>
                </a:solidFill>
                <a:effectLst/>
                <a:uFillTx/>
                <a:latin typeface="+mn-lt"/>
                <a:ea typeface="+mn-ea"/>
                <a:cs typeface="+mn-cs"/>
                <a:sym typeface="Corbel"/>
              </a:rPr>
              <a:t>e.g., for each positive real number x in some</a:t>
            </a:r>
          </a:p>
          <a:p>
            <a:pPr marR="0" algn="l" defTabSz="914400" rtl="0" fontAlgn="auto" latinLnBrk="0" hangingPunct="0">
              <a:lnSpc>
                <a:spcPct val="100000"/>
              </a:lnSpc>
              <a:spcBef>
                <a:spcPts val="0"/>
              </a:spcBef>
              <a:spcAft>
                <a:spcPts val="0"/>
              </a:spcAft>
              <a:buClrTx/>
              <a:buSzTx/>
              <a:tabLst/>
            </a:pPr>
            <a:r>
              <a:rPr lang="en-US" sz="1600" dirty="0"/>
              <a:t>                          </a:t>
            </a:r>
            <a:r>
              <a:rPr kumimoji="0" lang="en-US" sz="1600" b="0" i="0" u="none" strike="noStrike" cap="none" spc="0" normalizeH="0" baseline="0" dirty="0">
                <a:ln>
                  <a:noFill/>
                </a:ln>
                <a:solidFill>
                  <a:srgbClr val="000000"/>
                </a:solidFill>
                <a:effectLst/>
                <a:uFillTx/>
                <a:latin typeface="+mn-lt"/>
                <a:ea typeface="+mn-ea"/>
                <a:cs typeface="+mn-cs"/>
                <a:sym typeface="Corbel"/>
              </a:rPr>
              <a:t> range, "turn the wheel x degrees to the</a:t>
            </a:r>
          </a:p>
          <a:p>
            <a:pPr marR="0" algn="l" defTabSz="914400" rtl="0" fontAlgn="auto" latinLnBrk="0" hangingPunct="0">
              <a:lnSpc>
                <a:spcPct val="100000"/>
              </a:lnSpc>
              <a:spcBef>
                <a:spcPts val="0"/>
              </a:spcBef>
              <a:spcAft>
                <a:spcPts val="0"/>
              </a:spcAft>
              <a:buClrTx/>
              <a:buSzTx/>
              <a:tabLst/>
            </a:pPr>
            <a:r>
              <a:rPr lang="en-US" sz="1600" dirty="0"/>
              <a:t>                          </a:t>
            </a:r>
            <a:r>
              <a:rPr kumimoji="0" lang="en-US" sz="1600" b="0" i="0" u="none" strike="noStrike" cap="none" spc="0" normalizeH="0" baseline="0" dirty="0">
                <a:ln>
                  <a:noFill/>
                </a:ln>
                <a:solidFill>
                  <a:srgbClr val="000000"/>
                </a:solidFill>
                <a:effectLst/>
                <a:uFillTx/>
                <a:latin typeface="+mn-lt"/>
                <a:ea typeface="+mn-ea"/>
                <a:cs typeface="+mn-cs"/>
                <a:sym typeface="Corbel"/>
              </a:rPr>
              <a:t> right" is a possible action.</a:t>
            </a:r>
          </a:p>
        </p:txBody>
      </p:sp>
      <p:sp>
        <p:nvSpPr>
          <p:cNvPr id="9" name="TextBox 8">
            <a:extLst>
              <a:ext uri="{FF2B5EF4-FFF2-40B4-BE49-F238E27FC236}">
                <a16:creationId xmlns:a16="http://schemas.microsoft.com/office/drawing/2014/main" id="{FE9F54D1-1C1F-F939-525B-BFAF119499B9}"/>
              </a:ext>
            </a:extLst>
          </p:cNvPr>
          <p:cNvSpPr txBox="1"/>
          <p:nvPr/>
        </p:nvSpPr>
        <p:spPr>
          <a:xfrm>
            <a:off x="6860051" y="2192593"/>
            <a:ext cx="186116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1" i="0" u="sng" strike="noStrike" cap="none" spc="0" normalizeH="0" baseline="0" dirty="0">
                <a:ln>
                  <a:noFill/>
                </a:ln>
                <a:solidFill>
                  <a:srgbClr val="000000"/>
                </a:solidFill>
                <a:effectLst/>
                <a:uFillTx/>
                <a:latin typeface="+mn-lt"/>
                <a:ea typeface="+mn-ea"/>
                <a:cs typeface="+mn-cs"/>
                <a:sym typeface="Corbel"/>
              </a:rPr>
              <a:t>Example 2:</a:t>
            </a:r>
          </a:p>
        </p:txBody>
      </p:sp>
    </p:spTree>
    <p:extLst>
      <p:ext uri="{BB962C8B-B14F-4D97-AF65-F5344CB8AC3E}">
        <p14:creationId xmlns:p14="http://schemas.microsoft.com/office/powerpoint/2010/main" val="38571892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8921601"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Challenges in continuous space and action environments</a:t>
            </a:r>
          </a:p>
        </p:txBody>
      </p:sp>
      <p:pic>
        <p:nvPicPr>
          <p:cNvPr id="3" name="Picture 2">
            <a:extLst>
              <a:ext uri="{FF2B5EF4-FFF2-40B4-BE49-F238E27FC236}">
                <a16:creationId xmlns:a16="http://schemas.microsoft.com/office/drawing/2014/main" id="{1EA8C446-CC9B-B93A-E90D-15AC826BEFC0}"/>
              </a:ext>
            </a:extLst>
          </p:cNvPr>
          <p:cNvPicPr>
            <a:picLocks noChangeAspect="1"/>
          </p:cNvPicPr>
          <p:nvPr/>
        </p:nvPicPr>
        <p:blipFill>
          <a:blip r:embed="rId3"/>
          <a:stretch>
            <a:fillRect/>
          </a:stretch>
        </p:blipFill>
        <p:spPr>
          <a:xfrm>
            <a:off x="7041471" y="2782984"/>
            <a:ext cx="5137830" cy="2298171"/>
          </a:xfrm>
          <a:prstGeom prst="rect">
            <a:avLst/>
          </a:prstGeom>
        </p:spPr>
      </p:pic>
      <p:sp>
        <p:nvSpPr>
          <p:cNvPr id="2" name="Content Placeholder 2">
            <a:extLst>
              <a:ext uri="{FF2B5EF4-FFF2-40B4-BE49-F238E27FC236}">
                <a16:creationId xmlns:a16="http://schemas.microsoft.com/office/drawing/2014/main" id="{970E4ECD-87E4-B9C5-0840-124E50BB0940}"/>
              </a:ext>
            </a:extLst>
          </p:cNvPr>
          <p:cNvSpPr txBox="1">
            <a:spLocks/>
          </p:cNvSpPr>
          <p:nvPr/>
        </p:nvSpPr>
        <p:spPr>
          <a:xfrm>
            <a:off x="1469307" y="2449363"/>
            <a:ext cx="4931493" cy="3526520"/>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r>
              <a:rPr lang="en-US" sz="1400" dirty="0"/>
              <a:t>Challenges of a robot learning to pick n place,</a:t>
            </a:r>
          </a:p>
          <a:p>
            <a:pPr marL="699516" lvl="1" indent="-342900"/>
            <a:r>
              <a:rPr lang="en-US" sz="1400" dirty="0"/>
              <a:t>It has countless joint angles (continuous state space) and</a:t>
            </a:r>
          </a:p>
          <a:p>
            <a:pPr marL="699516" lvl="1" indent="-342900"/>
            <a:r>
              <a:rPr lang="en-US" sz="1400" dirty="0"/>
              <a:t>It can apply varying forces to its motors (continuous action space). </a:t>
            </a:r>
          </a:p>
          <a:p>
            <a:pPr marL="699516" lvl="1" indent="-342900"/>
            <a:r>
              <a:rPr lang="en-US" sz="1400" dirty="0"/>
              <a:t>The number of possible states and actions explodes</a:t>
            </a:r>
          </a:p>
          <a:p>
            <a:pPr marL="699516" lvl="1" indent="-342900"/>
            <a:r>
              <a:rPr lang="en-US" sz="1400" dirty="0"/>
              <a:t>The robot must decide on precise values (e.g., rotate joint 32.5 degrees). </a:t>
            </a:r>
          </a:p>
          <a:p>
            <a:pPr marL="699516" lvl="1" indent="-342900"/>
            <a:r>
              <a:rPr lang="en-US" sz="1400" dirty="0"/>
              <a:t>All this requires more sophisticated decision-making.</a:t>
            </a:r>
          </a:p>
        </p:txBody>
      </p:sp>
    </p:spTree>
    <p:extLst>
      <p:ext uri="{BB962C8B-B14F-4D97-AF65-F5344CB8AC3E}">
        <p14:creationId xmlns:p14="http://schemas.microsoft.com/office/powerpoint/2010/main" val="39292216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8921601"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Question is, how do we solve the RL problem under these conditions</a:t>
            </a:r>
          </a:p>
        </p:txBody>
      </p:sp>
      <p:sp>
        <p:nvSpPr>
          <p:cNvPr id="2" name="Content Placeholder 2">
            <a:extLst>
              <a:ext uri="{FF2B5EF4-FFF2-40B4-BE49-F238E27FC236}">
                <a16:creationId xmlns:a16="http://schemas.microsoft.com/office/drawing/2014/main" id="{970E4ECD-87E4-B9C5-0840-124E50BB0940}"/>
              </a:ext>
            </a:extLst>
          </p:cNvPr>
          <p:cNvSpPr txBox="1">
            <a:spLocks/>
          </p:cNvSpPr>
          <p:nvPr/>
        </p:nvSpPr>
        <p:spPr>
          <a:xfrm>
            <a:off x="1469307" y="2546538"/>
            <a:ext cx="6718729" cy="3449351"/>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342900" indent="-342900"/>
            <a:r>
              <a:rPr lang="en-US" sz="1600" b="1" dirty="0"/>
              <a:t>Policy Gradients:</a:t>
            </a:r>
            <a:r>
              <a:rPr lang="en-US" sz="1600" dirty="0"/>
              <a:t> These methods directly optimize the policy (the strategy for choosing actions) by adjusting it based on feedback. </a:t>
            </a:r>
          </a:p>
          <a:p>
            <a:pPr marL="699516" lvl="1" indent="-342900"/>
            <a:r>
              <a:rPr lang="en-US" sz="1600" dirty="0"/>
              <a:t>A robot can slightly tweak its walking style after each step based on how well it's doing.</a:t>
            </a:r>
          </a:p>
          <a:p>
            <a:pPr marL="342900" indent="-342900"/>
            <a:r>
              <a:rPr lang="en-US" sz="1600" b="1" dirty="0"/>
              <a:t>Actor-Critic Methods:</a:t>
            </a:r>
            <a:r>
              <a:rPr lang="en-US" sz="1600" dirty="0"/>
              <a:t> These combine value estimation (critic) with policy improvement (actor) for more efficient learning. </a:t>
            </a:r>
          </a:p>
          <a:p>
            <a:pPr marL="699516" lvl="1" indent="-342900"/>
            <a:r>
              <a:rPr lang="en-US" sz="1600" dirty="0"/>
              <a:t>Think of it as the robot having a coach (critic) who provides feedback on its performance, helping it refine its walking technique (actor).</a:t>
            </a:r>
          </a:p>
        </p:txBody>
      </p:sp>
      <p:pic>
        <p:nvPicPr>
          <p:cNvPr id="9" name="Picture 8" descr="A cartoon of two people with a video game controller&#10;&#10;Description automatically generated">
            <a:extLst>
              <a:ext uri="{FF2B5EF4-FFF2-40B4-BE49-F238E27FC236}">
                <a16:creationId xmlns:a16="http://schemas.microsoft.com/office/drawing/2014/main" id="{2E8950FA-74F6-0405-AE3D-5E5C0CAB9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8036" y="3051912"/>
            <a:ext cx="3918832" cy="1794164"/>
          </a:xfrm>
          <a:prstGeom prst="rect">
            <a:avLst/>
          </a:prstGeom>
        </p:spPr>
      </p:pic>
    </p:spTree>
    <p:extLst>
      <p:ext uri="{BB962C8B-B14F-4D97-AF65-F5344CB8AC3E}">
        <p14:creationId xmlns:p14="http://schemas.microsoft.com/office/powerpoint/2010/main" val="3076377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8921601"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Actor-Critic: How does it work?</a:t>
            </a:r>
          </a:p>
        </p:txBody>
      </p:sp>
      <p:sp>
        <p:nvSpPr>
          <p:cNvPr id="2" name="Content Placeholder 2">
            <a:extLst>
              <a:ext uri="{FF2B5EF4-FFF2-40B4-BE49-F238E27FC236}">
                <a16:creationId xmlns:a16="http://schemas.microsoft.com/office/drawing/2014/main" id="{970E4ECD-87E4-B9C5-0840-124E50BB0940}"/>
              </a:ext>
            </a:extLst>
          </p:cNvPr>
          <p:cNvSpPr txBox="1">
            <a:spLocks/>
          </p:cNvSpPr>
          <p:nvPr/>
        </p:nvSpPr>
        <p:spPr>
          <a:xfrm>
            <a:off x="960152" y="1662977"/>
            <a:ext cx="7934466" cy="4987205"/>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r>
              <a:rPr lang="en-US" sz="1400" dirty="0"/>
              <a:t>They address the challenges by combining two key components:</a:t>
            </a:r>
            <a:endParaRPr lang="en-US" sz="1400" b="1" dirty="0"/>
          </a:p>
          <a:p>
            <a:pPr marL="342900" indent="-342900"/>
            <a:r>
              <a:rPr lang="en-US" sz="1400" b="1" dirty="0"/>
              <a:t>Actor:</a:t>
            </a:r>
            <a:r>
              <a:rPr lang="en-US" sz="1400" dirty="0"/>
              <a:t> </a:t>
            </a:r>
          </a:p>
          <a:p>
            <a:pPr marL="699516" lvl="1" indent="-342900"/>
            <a:r>
              <a:rPr lang="en-US" sz="1400" dirty="0"/>
              <a:t>This is a neural network that learns the optimal policy, mapping states to actions – unlike DQN which does states to Q-Values</a:t>
            </a:r>
          </a:p>
          <a:p>
            <a:pPr marL="699516" lvl="1" indent="-342900"/>
            <a:r>
              <a:rPr lang="en-US" sz="1400" dirty="0"/>
              <a:t>Think of it as the "brain" of the robot, deciding what actions to take based on the current situation.</a:t>
            </a:r>
          </a:p>
          <a:p>
            <a:pPr marL="699516" lvl="1" indent="-342900"/>
            <a:r>
              <a:rPr lang="en-US" sz="1400" dirty="0"/>
              <a:t>Because it is continuous action, the actions are picked up from a normal probability distribution.</a:t>
            </a:r>
          </a:p>
          <a:p>
            <a:pPr marL="699516" lvl="1" indent="-342900"/>
            <a:r>
              <a:rPr lang="en-US" sz="1400" dirty="0"/>
              <a:t>In other words, the actor outputs parameters for a probability distribution - mean and standard deviation of a Gaussian</a:t>
            </a:r>
          </a:p>
          <a:p>
            <a:pPr marL="342900" indent="-342900"/>
            <a:r>
              <a:rPr lang="en-US" sz="1400" b="1" dirty="0"/>
              <a:t>Critic:</a:t>
            </a:r>
            <a:r>
              <a:rPr lang="en-US" sz="1400" dirty="0"/>
              <a:t> </a:t>
            </a:r>
          </a:p>
          <a:p>
            <a:pPr marL="699516" lvl="1" indent="-342900"/>
            <a:r>
              <a:rPr lang="en-US" sz="1400" dirty="0"/>
              <a:t>This is another neural network that estimates the value function, </a:t>
            </a:r>
          </a:p>
          <a:p>
            <a:pPr marL="699516" lvl="1" indent="-342900"/>
            <a:r>
              <a:rPr lang="en-US" sz="1400" dirty="0"/>
              <a:t>Predicting the expected cumulative reward from a given state. </a:t>
            </a:r>
          </a:p>
          <a:p>
            <a:pPr marL="699516" lvl="1" indent="-342900"/>
            <a:r>
              <a:rPr lang="en-US" sz="1400" dirty="0"/>
              <a:t>It acts as a "coach" or "evaluator," providing feedback to the actor on how good its actions are.</a:t>
            </a:r>
          </a:p>
          <a:p>
            <a:pPr marL="699516" lvl="1" indent="-342900"/>
            <a:r>
              <a:rPr lang="en-US" sz="1400" dirty="0"/>
              <a:t> This helps the actor learn more efficiently by focusing on actions that lead to higher values.</a:t>
            </a:r>
          </a:p>
        </p:txBody>
      </p:sp>
      <p:pic>
        <p:nvPicPr>
          <p:cNvPr id="7" name="Picture 6" descr="A diagram of a system&#10;&#10;Description automatically generated">
            <a:extLst>
              <a:ext uri="{FF2B5EF4-FFF2-40B4-BE49-F238E27FC236}">
                <a16:creationId xmlns:a16="http://schemas.microsoft.com/office/drawing/2014/main" id="{3A61421C-CCE7-36C8-A47D-B32DCE09E9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0100" y="1850448"/>
            <a:ext cx="3439200" cy="2576080"/>
          </a:xfrm>
          <a:prstGeom prst="rect">
            <a:avLst/>
          </a:prstGeom>
        </p:spPr>
      </p:pic>
      <p:pic>
        <p:nvPicPr>
          <p:cNvPr id="4" name="Picture 3">
            <a:extLst>
              <a:ext uri="{FF2B5EF4-FFF2-40B4-BE49-F238E27FC236}">
                <a16:creationId xmlns:a16="http://schemas.microsoft.com/office/drawing/2014/main" id="{51537A22-E43C-431E-D2A7-E9DB834DA935}"/>
              </a:ext>
            </a:extLst>
          </p:cNvPr>
          <p:cNvPicPr>
            <a:picLocks noChangeAspect="1"/>
          </p:cNvPicPr>
          <p:nvPr/>
        </p:nvPicPr>
        <p:blipFill>
          <a:blip r:embed="rId4"/>
          <a:stretch>
            <a:fillRect/>
          </a:stretch>
        </p:blipFill>
        <p:spPr>
          <a:xfrm>
            <a:off x="9379671" y="4830907"/>
            <a:ext cx="2314575" cy="1819275"/>
          </a:xfrm>
          <a:prstGeom prst="rect">
            <a:avLst/>
          </a:prstGeom>
        </p:spPr>
      </p:pic>
    </p:spTree>
    <p:extLst>
      <p:ext uri="{BB962C8B-B14F-4D97-AF65-F5344CB8AC3E}">
        <p14:creationId xmlns:p14="http://schemas.microsoft.com/office/powerpoint/2010/main" val="4407963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D4407-F95F-F713-9A3C-C9628605D1FF}"/>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7E0B3E59-695B-33E8-36B1-4166E1B3ED6F}"/>
              </a:ext>
            </a:extLst>
          </p:cNvPr>
          <p:cNvSpPr txBox="1">
            <a:spLocks/>
          </p:cNvSpPr>
          <p:nvPr/>
        </p:nvSpPr>
        <p:spPr bwMode="auto">
          <a:xfrm>
            <a:off x="1469307" y="619650"/>
            <a:ext cx="9777813"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Proximal Policy Optimization (PPO) – Most popular variant of Actor-Critic</a:t>
            </a:r>
          </a:p>
          <a:p>
            <a:r>
              <a:rPr lang="en-US" sz="2400" b="0" dirty="0">
                <a:solidFill>
                  <a:schemeClr val="tx1"/>
                </a:solidFill>
              </a:rPr>
              <a:t>What is it?</a:t>
            </a:r>
          </a:p>
        </p:txBody>
      </p:sp>
      <p:sp>
        <p:nvSpPr>
          <p:cNvPr id="2" name="Content Placeholder 2">
            <a:extLst>
              <a:ext uri="{FF2B5EF4-FFF2-40B4-BE49-F238E27FC236}">
                <a16:creationId xmlns:a16="http://schemas.microsoft.com/office/drawing/2014/main" id="{AC1C766A-5607-EFD0-2E9E-5E718A3006B7}"/>
              </a:ext>
            </a:extLst>
          </p:cNvPr>
          <p:cNvSpPr txBox="1">
            <a:spLocks/>
          </p:cNvSpPr>
          <p:nvPr/>
        </p:nvSpPr>
        <p:spPr>
          <a:xfrm>
            <a:off x="1530438" y="1555743"/>
            <a:ext cx="10411626" cy="5174241"/>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r>
              <a:rPr lang="en-US" sz="1800" dirty="0"/>
              <a:t>Imagine teaching someone to </a:t>
            </a:r>
            <a:r>
              <a:rPr lang="en-US" sz="1800" b="1" dirty="0"/>
              <a:t>drive</a:t>
            </a:r>
            <a:r>
              <a:rPr lang="en-US" sz="1800" dirty="0"/>
              <a:t>.</a:t>
            </a:r>
          </a:p>
          <a:p>
            <a:pPr lvl="1"/>
            <a:r>
              <a:rPr lang="en-US" sz="1400" dirty="0"/>
              <a:t>The </a:t>
            </a:r>
            <a:r>
              <a:rPr lang="en-US" sz="1400" b="1" dirty="0"/>
              <a:t>actor</a:t>
            </a:r>
            <a:r>
              <a:rPr lang="en-US" sz="1400" dirty="0"/>
              <a:t> is the driver’s hands and feet.</a:t>
            </a:r>
          </a:p>
          <a:p>
            <a:pPr lvl="1"/>
            <a:r>
              <a:rPr lang="en-US" sz="1400" dirty="0"/>
              <a:t>The </a:t>
            </a:r>
            <a:r>
              <a:rPr lang="en-US" sz="1400" b="1" dirty="0"/>
              <a:t>critic</a:t>
            </a:r>
            <a:r>
              <a:rPr lang="en-US" sz="1400" dirty="0"/>
              <a:t> is a calm instructor in the passenger seat saying, “that move was better/worse than average.”</a:t>
            </a:r>
          </a:p>
          <a:p>
            <a:pPr lvl="1"/>
            <a:r>
              <a:rPr lang="en-US" sz="1400" dirty="0"/>
              <a:t>Training = lots of short drives. After each drive, you tweak the driver’s habits.</a:t>
            </a:r>
          </a:p>
          <a:p>
            <a:r>
              <a:rPr lang="en-US" sz="1800" b="1" dirty="0"/>
              <a:t>PPO specific: </a:t>
            </a:r>
          </a:p>
          <a:p>
            <a:pPr lvl="1"/>
            <a:r>
              <a:rPr lang="en-US" sz="1400" dirty="0"/>
              <a:t>You put </a:t>
            </a:r>
            <a:r>
              <a:rPr lang="en-US" sz="1400" b="1" dirty="0"/>
              <a:t>guardrails</a:t>
            </a:r>
            <a:r>
              <a:rPr lang="en-US" sz="1400" dirty="0"/>
              <a:t> on how much you’re allowed to change the driver after each lesson. </a:t>
            </a:r>
          </a:p>
          <a:p>
            <a:pPr lvl="1"/>
            <a:r>
              <a:rPr lang="en-US" sz="1400" dirty="0"/>
              <a:t>Even if the instructor thinks “wow, turning hard like </a:t>
            </a:r>
            <a:r>
              <a:rPr lang="en-US" sz="1400" i="1" dirty="0"/>
              <a:t>that</a:t>
            </a:r>
            <a:r>
              <a:rPr lang="en-US" sz="1400" dirty="0"/>
              <a:t> worked great once,” you </a:t>
            </a:r>
            <a:r>
              <a:rPr lang="en-US" sz="1400" b="1" dirty="0"/>
              <a:t>don’t</a:t>
            </a:r>
            <a:r>
              <a:rPr lang="en-US" sz="1400" dirty="0"/>
              <a:t> overhaul the driver’s whole style in one go. </a:t>
            </a:r>
          </a:p>
          <a:p>
            <a:pPr lvl="1"/>
            <a:r>
              <a:rPr lang="en-US" sz="1400" dirty="0"/>
              <a:t>You only allow </a:t>
            </a:r>
            <a:r>
              <a:rPr lang="en-US" sz="1400" b="1" dirty="0"/>
              <a:t>small, safe nudges</a:t>
            </a:r>
            <a:r>
              <a:rPr lang="en-US" sz="1400" dirty="0"/>
              <a:t> toward what seemed better.</a:t>
            </a:r>
          </a:p>
          <a:p>
            <a:pPr lvl="1"/>
            <a:r>
              <a:rPr lang="en-US" sz="1400" dirty="0"/>
              <a:t>So, If a suggested change is too big, PPO </a:t>
            </a:r>
            <a:r>
              <a:rPr lang="en-US" sz="1400" b="1" dirty="0"/>
              <a:t>clips</a:t>
            </a:r>
            <a:r>
              <a:rPr lang="en-US" sz="1400" dirty="0"/>
              <a:t> it — “that’s past the guardrail; no extra credit for pushing further.”</a:t>
            </a:r>
          </a:p>
          <a:p>
            <a:r>
              <a:rPr lang="en-US" sz="1800" b="1" dirty="0"/>
              <a:t>Why?</a:t>
            </a:r>
          </a:p>
          <a:p>
            <a:pPr lvl="1"/>
            <a:r>
              <a:rPr lang="en-US" sz="1800" b="1" dirty="0"/>
              <a:t> </a:t>
            </a:r>
            <a:r>
              <a:rPr lang="en-US" sz="1400" dirty="0"/>
              <a:t>Because sometimes a move looks amazing just by luck (traffic broke your way). If you overreact, you teach the driver bad habits. </a:t>
            </a:r>
          </a:p>
          <a:p>
            <a:pPr lvl="1"/>
            <a:r>
              <a:rPr lang="en-US" sz="1400" dirty="0"/>
              <a:t>PPO’s guardrails keep each update </a:t>
            </a:r>
            <a:r>
              <a:rPr lang="en-US" sz="1400" b="1" dirty="0"/>
              <a:t>proportional but modest</a:t>
            </a:r>
            <a:r>
              <a:rPr lang="en-US" sz="1400" dirty="0"/>
              <a:t>, so learning is steady, not swingy.</a:t>
            </a:r>
            <a:endParaRPr lang="en-US" sz="1800" dirty="0"/>
          </a:p>
        </p:txBody>
      </p:sp>
    </p:spTree>
    <p:extLst>
      <p:ext uri="{BB962C8B-B14F-4D97-AF65-F5344CB8AC3E}">
        <p14:creationId xmlns:p14="http://schemas.microsoft.com/office/powerpoint/2010/main" val="326530526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75286-1E7F-9E5F-66E6-C58081735F2C}"/>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55A0BA6A-F657-C287-ED56-0C8FA6B2EFC1}"/>
              </a:ext>
            </a:extLst>
          </p:cNvPr>
          <p:cNvSpPr txBox="1">
            <a:spLocks/>
          </p:cNvSpPr>
          <p:nvPr/>
        </p:nvSpPr>
        <p:spPr bwMode="auto">
          <a:xfrm>
            <a:off x="1469307" y="619650"/>
            <a:ext cx="9777813"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The “Advantage function”:</a:t>
            </a:r>
          </a:p>
          <a:p>
            <a:r>
              <a:rPr lang="en-US" sz="2400" b="0" dirty="0">
                <a:solidFill>
                  <a:schemeClr val="tx1"/>
                </a:solidFill>
              </a:rPr>
              <a:t>The difference between actual reward and expected value</a:t>
            </a:r>
          </a:p>
        </p:txBody>
      </p:sp>
      <p:sp>
        <p:nvSpPr>
          <p:cNvPr id="2" name="Content Placeholder 2">
            <a:extLst>
              <a:ext uri="{FF2B5EF4-FFF2-40B4-BE49-F238E27FC236}">
                <a16:creationId xmlns:a16="http://schemas.microsoft.com/office/drawing/2014/main" id="{FA428FB8-5208-5D0C-BD1A-6E23B41004B8}"/>
              </a:ext>
            </a:extLst>
          </p:cNvPr>
          <p:cNvSpPr txBox="1">
            <a:spLocks/>
          </p:cNvSpPr>
          <p:nvPr/>
        </p:nvSpPr>
        <p:spPr>
          <a:xfrm>
            <a:off x="1530438" y="1555743"/>
            <a:ext cx="10648862" cy="5302257"/>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r>
              <a:rPr lang="en-US" sz="1600" dirty="0"/>
              <a:t>Imagine you're training an agent to play a game, like a racing game or a simple Atari game: </a:t>
            </a:r>
          </a:p>
          <a:p>
            <a:pPr lvl="1"/>
            <a:r>
              <a:rPr lang="en-US" sz="1600" dirty="0"/>
              <a:t>The advantage function helps the agent figure out how *good* an action was in a particular situation,</a:t>
            </a:r>
          </a:p>
          <a:p>
            <a:pPr lvl="1"/>
            <a:r>
              <a:rPr lang="en-US" sz="1600" dirty="0"/>
              <a:t>It is measured as , compared to what it *expected* to be good.</a:t>
            </a:r>
          </a:p>
          <a:p>
            <a:r>
              <a:rPr lang="en-US" sz="1600" dirty="0"/>
              <a:t>The advantage function provides a way to isolate:</a:t>
            </a:r>
          </a:p>
          <a:p>
            <a:pPr lvl="1"/>
            <a:r>
              <a:rPr lang="en-US" sz="1600" dirty="0"/>
              <a:t> how much better an action was than the average action in that situation. </a:t>
            </a:r>
          </a:p>
          <a:p>
            <a:pPr lvl="1"/>
            <a:r>
              <a:rPr lang="en-US" sz="1600" dirty="0"/>
              <a:t>It’s like, did the student perform above, same as or below the class average.</a:t>
            </a:r>
          </a:p>
          <a:p>
            <a:r>
              <a:rPr lang="en-US" sz="1600" dirty="0"/>
              <a:t>The Importance of the Advantage computation</a:t>
            </a:r>
          </a:p>
          <a:p>
            <a:pPr lvl="1"/>
            <a:r>
              <a:rPr lang="en-US" sz="1600" dirty="0"/>
              <a:t>Without an advantage function, the agent would be constantly learning from noisy rewards. It's hard to tell if a reward was due to a good action or just random luck.</a:t>
            </a:r>
          </a:p>
          <a:p>
            <a:pPr lvl="1"/>
            <a:r>
              <a:rPr lang="en-US" sz="1600" dirty="0"/>
              <a:t>Focus on Improvement: The advantage function helps the agent focus on actions that  actually improve its performance. It tells the agent which actions are worth learning.</a:t>
            </a:r>
          </a:p>
          <a:p>
            <a:pPr lvl="1"/>
            <a:r>
              <a:rPr lang="en-US" sz="1600" dirty="0"/>
              <a:t>Faster Learning: By focusing on good actions, the agent can learn much faster than if it had to learn from every single reward.</a:t>
            </a:r>
          </a:p>
        </p:txBody>
      </p:sp>
    </p:spTree>
    <p:extLst>
      <p:ext uri="{BB962C8B-B14F-4D97-AF65-F5344CB8AC3E}">
        <p14:creationId xmlns:p14="http://schemas.microsoft.com/office/powerpoint/2010/main" val="7814199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777813"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Proximal Policy Optimization (PPO) – How does it work?</a:t>
            </a:r>
          </a:p>
        </p:txBody>
      </p:sp>
      <p:sp>
        <p:nvSpPr>
          <p:cNvPr id="2" name="Content Placeholder 2">
            <a:extLst>
              <a:ext uri="{FF2B5EF4-FFF2-40B4-BE49-F238E27FC236}">
                <a16:creationId xmlns:a16="http://schemas.microsoft.com/office/drawing/2014/main" id="{970E4ECD-87E4-B9C5-0840-124E50BB0940}"/>
              </a:ext>
            </a:extLst>
          </p:cNvPr>
          <p:cNvSpPr txBox="1">
            <a:spLocks/>
          </p:cNvSpPr>
          <p:nvPr/>
        </p:nvSpPr>
        <p:spPr>
          <a:xfrm>
            <a:off x="173115" y="1683759"/>
            <a:ext cx="6355048" cy="5174241"/>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699516" lvl="1" indent="-342900"/>
            <a:r>
              <a:rPr lang="en-US" sz="1400" dirty="0"/>
              <a:t>Agent is in a particular state - s</a:t>
            </a:r>
          </a:p>
          <a:p>
            <a:pPr marL="699516" lvl="1" indent="-342900"/>
            <a:r>
              <a:rPr lang="en-US" sz="1400" dirty="0"/>
              <a:t>The actor network outputs actions from the probability distribution and from this action can be picked randomly or max value basis</a:t>
            </a:r>
          </a:p>
          <a:p>
            <a:pPr marL="699516" lvl="1" indent="-342900"/>
            <a:r>
              <a:rPr lang="en-US" sz="1400" dirty="0"/>
              <a:t>At the same time the critic network makes a prediction of the value of the current state – V(s ; </a:t>
            </a:r>
            <a:r>
              <a:rPr lang="el-GR" sz="1400" dirty="0"/>
              <a:t>θ</a:t>
            </a:r>
            <a:r>
              <a:rPr lang="en-US" sz="1400" dirty="0"/>
              <a:t>)</a:t>
            </a:r>
          </a:p>
          <a:p>
            <a:pPr marL="699516" lvl="1" indent="-342900"/>
            <a:r>
              <a:rPr lang="en-US" sz="1400" dirty="0"/>
              <a:t>Based on the action taken by the actor the environment gives back (as always) a reward and the next state – s’</a:t>
            </a:r>
          </a:p>
          <a:p>
            <a:pPr marL="699516" lvl="1" indent="-342900"/>
            <a:r>
              <a:rPr lang="en-US" sz="1400" dirty="0"/>
              <a:t>The critic which predicted the value of state s can now predict the value of the next state and therefore compute what the real estimated value of s is using the Bellman equations as the foundation and the reward                                              -&gt; </a:t>
            </a:r>
            <a:r>
              <a:rPr lang="en-US" sz="1400" b="1" dirty="0"/>
              <a:t>V(s ; </a:t>
            </a:r>
            <a:r>
              <a:rPr lang="el-GR" sz="1400" b="1" dirty="0"/>
              <a:t>θ</a:t>
            </a:r>
            <a:r>
              <a:rPr lang="en-US" sz="1400" b="1" dirty="0"/>
              <a:t>) =  R(s) + </a:t>
            </a:r>
            <a:r>
              <a:rPr lang="el-GR" sz="1400" b="1" dirty="0"/>
              <a:t>γ</a:t>
            </a:r>
            <a:r>
              <a:rPr lang="en-US" sz="1400" b="1" dirty="0"/>
              <a:t> V(s’ ; </a:t>
            </a:r>
            <a:r>
              <a:rPr lang="el-GR" sz="1400" b="1" dirty="0"/>
              <a:t>θ</a:t>
            </a:r>
            <a:r>
              <a:rPr lang="en-US" sz="1400" b="1" dirty="0"/>
              <a:t>)</a:t>
            </a:r>
          </a:p>
          <a:p>
            <a:pPr marL="699516" lvl="1" indent="-342900"/>
            <a:r>
              <a:rPr lang="en-US" sz="1400" dirty="0"/>
              <a:t>Now the MSE can be computed between the predicted and estimated value as -&gt; </a:t>
            </a:r>
            <a:r>
              <a:rPr lang="en-US" sz="1400" b="1" dirty="0"/>
              <a:t>MSE = (TD error)² = (R + </a:t>
            </a:r>
            <a:r>
              <a:rPr lang="el-GR" sz="1400" b="1" dirty="0"/>
              <a:t>γ</a:t>
            </a:r>
            <a:r>
              <a:rPr lang="en-US" sz="1400" b="1" dirty="0"/>
              <a:t>V(s'; </a:t>
            </a:r>
            <a:r>
              <a:rPr lang="el-GR" sz="1400" b="1" dirty="0"/>
              <a:t>θ) - </a:t>
            </a:r>
            <a:r>
              <a:rPr lang="en-US" sz="1400" b="1" dirty="0"/>
              <a:t>V(s; </a:t>
            </a:r>
            <a:r>
              <a:rPr lang="el-GR" sz="1400" b="1" dirty="0"/>
              <a:t>θ))² </a:t>
            </a:r>
            <a:endParaRPr lang="en-US" sz="1400" b="1" dirty="0"/>
          </a:p>
          <a:p>
            <a:pPr marL="699516" lvl="1" indent="-342900"/>
            <a:r>
              <a:rPr lang="en-US" sz="1400" dirty="0"/>
              <a:t>The actor network uses the same MSE loss, but we also add a couple of other terms to it (ratio of probability of previous to current action in the same state) and we clip the network update value to avoid big changes in actor parameter values.</a:t>
            </a:r>
          </a:p>
        </p:txBody>
      </p:sp>
      <p:pic>
        <p:nvPicPr>
          <p:cNvPr id="4" name="Picture 3" descr="A screenshot of a chat&#10;&#10;Description automatically generated">
            <a:extLst>
              <a:ext uri="{FF2B5EF4-FFF2-40B4-BE49-F238E27FC236}">
                <a16:creationId xmlns:a16="http://schemas.microsoft.com/office/drawing/2014/main" id="{F6DBA368-5E74-D8F2-CE98-5DA0CEBF7E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5082" y="2115625"/>
            <a:ext cx="5451103" cy="2004199"/>
          </a:xfrm>
          <a:prstGeom prst="rect">
            <a:avLst/>
          </a:prstGeom>
        </p:spPr>
      </p:pic>
      <p:sp>
        <p:nvSpPr>
          <p:cNvPr id="3" name="TextBox 2">
            <a:extLst>
              <a:ext uri="{FF2B5EF4-FFF2-40B4-BE49-F238E27FC236}">
                <a16:creationId xmlns:a16="http://schemas.microsoft.com/office/drawing/2014/main" id="{46E19B70-BEF4-2B40-213C-259BF6DA1F33}"/>
              </a:ext>
            </a:extLst>
          </p:cNvPr>
          <p:cNvSpPr txBox="1"/>
          <p:nvPr/>
        </p:nvSpPr>
        <p:spPr>
          <a:xfrm>
            <a:off x="6555081" y="4270879"/>
            <a:ext cx="5451104" cy="2031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b="1" dirty="0"/>
              <a:t>Policy Network (actor</a:t>
            </a:r>
            <a:r>
              <a:rPr lang="en-US" sz="1400" dirty="0"/>
              <a:t>): This network is responsible for predicting the parameters of the policy.  It takes the current state (`s`) as input and outputs the parameters that define the probability distribution over actions</a:t>
            </a:r>
            <a:br>
              <a:rPr lang="en-US" sz="1400" dirty="0"/>
            </a:br>
            <a:br>
              <a:rPr lang="en-US" sz="1400" dirty="0"/>
            </a:br>
            <a:r>
              <a:rPr lang="en-US" sz="1400" b="1" dirty="0"/>
              <a:t>Value Network (critic): </a:t>
            </a:r>
            <a:r>
              <a:rPr lang="en-US" sz="1400" dirty="0"/>
              <a:t>This network estimates the value of being in a given state. It takes the current state (`s`) as input and outputs an estimate of the expected cumulative reward from that state onwards.  This is often referred to as the state-value function.</a:t>
            </a:r>
            <a:endParaRPr kumimoji="0" lang="en-US" sz="1400" b="0" i="0" u="none" strike="noStrike" cap="none" spc="0" normalizeH="0" baseline="0" dirty="0">
              <a:ln>
                <a:noFill/>
              </a:ln>
              <a:solidFill>
                <a:srgbClr val="000000"/>
              </a:solidFill>
              <a:effectLst/>
              <a:uFillTx/>
              <a:latin typeface="+mn-lt"/>
              <a:ea typeface="+mn-ea"/>
              <a:cs typeface="+mn-cs"/>
              <a:sym typeface="Corbel"/>
            </a:endParaRPr>
          </a:p>
        </p:txBody>
      </p:sp>
    </p:spTree>
    <p:extLst>
      <p:ext uri="{BB962C8B-B14F-4D97-AF65-F5344CB8AC3E}">
        <p14:creationId xmlns:p14="http://schemas.microsoft.com/office/powerpoint/2010/main" val="295393075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F2B16-9BC0-4550-2763-AA49F1513550}"/>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C036F15-ABCC-AB25-A3B6-3C4C156F3CBE}"/>
              </a:ext>
            </a:extLst>
          </p:cNvPr>
          <p:cNvSpPr txBox="1">
            <a:spLocks/>
          </p:cNvSpPr>
          <p:nvPr/>
        </p:nvSpPr>
        <p:spPr bwMode="auto">
          <a:xfrm>
            <a:off x="1469307" y="619650"/>
            <a:ext cx="9777813"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Proximal Policy Optimization (PPO) – Mathematically</a:t>
            </a:r>
          </a:p>
        </p:txBody>
      </p:sp>
      <mc:AlternateContent xmlns:mc="http://schemas.openxmlformats.org/markup-compatibility/2006">
        <mc:Choice xmlns:a14="http://schemas.microsoft.com/office/drawing/2010/main" Requires="a14">
          <p:sp>
            <p:nvSpPr>
              <p:cNvPr id="2" name="Content Placeholder 2">
                <a:extLst>
                  <a:ext uri="{FF2B5EF4-FFF2-40B4-BE49-F238E27FC236}">
                    <a16:creationId xmlns:a16="http://schemas.microsoft.com/office/drawing/2014/main" id="{4586BB98-2A76-9E0F-4D21-C204CAB9D796}"/>
                  </a:ext>
                </a:extLst>
              </p:cNvPr>
              <p:cNvSpPr txBox="1">
                <a:spLocks/>
              </p:cNvSpPr>
              <p:nvPr/>
            </p:nvSpPr>
            <p:spPr>
              <a:xfrm>
                <a:off x="173115" y="1683759"/>
                <a:ext cx="6355048" cy="5174241"/>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r>
                  <a:rPr lang="en-US" sz="1600" b="1" dirty="0"/>
                  <a:t>Bellman-style target &amp; error</a:t>
                </a:r>
                <a:r>
                  <a:rPr lang="en-US" sz="1600" dirty="0"/>
                  <a:t> (critic learning):</a:t>
                </a:r>
              </a:p>
              <a:p>
                <a:pPr lvl="1"/>
                <a:r>
                  <a:rPr lang="en-US" sz="1600" b="1" dirty="0"/>
                  <a:t>Value of  state after action:</a:t>
                </a:r>
                <a14:m>
                  <m:oMath xmlns:m="http://schemas.openxmlformats.org/officeDocument/2006/math">
                    <m:r>
                      <a:rPr lang="en-US" sz="1600" b="1" i="0" smtClean="0">
                        <a:latin typeface="Cambria Math" panose="02040503050406030204" pitchFamily="18" charset="0"/>
                      </a:rPr>
                      <m:t> </m:t>
                    </m:r>
                    <m:r>
                      <a:rPr lang="en-US" sz="1600" i="1">
                        <a:latin typeface="Cambria Math" panose="02040503050406030204" pitchFamily="18" charset="0"/>
                      </a:rPr>
                      <m:t>𝑄</m:t>
                    </m:r>
                    <m:r>
                      <a:rPr lang="en-US" sz="1600" i="1">
                        <a:latin typeface="Cambria Math" panose="02040503050406030204" pitchFamily="18" charset="0"/>
                      </a:rPr>
                      <m:t>(</m:t>
                    </m:r>
                    <m:r>
                      <a:rPr lang="en-US" sz="1600" i="1">
                        <a:latin typeface="Cambria Math" panose="02040503050406030204" pitchFamily="18" charset="0"/>
                      </a:rPr>
                      <m:t>𝑠𝑡</m:t>
                    </m:r>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r>
                      <m:rPr>
                        <m:nor/>
                      </m:rPr>
                      <a:rPr lang="ar-AE" sz="1600" i="1"/>
                      <m:t>  </m:t>
                    </m:r>
                    <m:sSub>
                      <m:sSubPr>
                        <m:ctrlPr>
                          <a:rPr lang="ar-AE" sz="1600" i="1">
                            <a:latin typeface="Cambria Math" panose="02040503050406030204" pitchFamily="18" charset="0"/>
                          </a:rPr>
                        </m:ctrlPr>
                      </m:sSubPr>
                      <m:e>
                        <m:r>
                          <a:rPr lang="ar-AE" sz="1600" i="1">
                            <a:latin typeface="Cambria Math" panose="02040503050406030204" pitchFamily="18" charset="0"/>
                          </a:rPr>
                          <m:t>𝑟</m:t>
                        </m:r>
                      </m:e>
                      <m:sub>
                        <m:r>
                          <a:rPr lang="ar-AE" sz="1600" i="1">
                            <a:latin typeface="Cambria Math" panose="02040503050406030204" pitchFamily="18" charset="0"/>
                          </a:rPr>
                          <m:t>𝑡</m:t>
                        </m:r>
                      </m:sub>
                    </m:sSub>
                    <m:r>
                      <m:rPr>
                        <m:nor/>
                      </m:rPr>
                      <a:rPr lang="ar-AE" sz="1600" i="1"/>
                      <m:t>  </m:t>
                    </m:r>
                    <m:r>
                      <a:rPr lang="ar-AE" sz="1600">
                        <a:latin typeface="Cambria Math" panose="02040503050406030204" pitchFamily="18" charset="0"/>
                      </a:rPr>
                      <m:t>+</m:t>
                    </m:r>
                    <m:r>
                      <m:rPr>
                        <m:nor/>
                      </m:rPr>
                      <a:rPr lang="ar-AE" sz="1600" i="1"/>
                      <m:t>  </m:t>
                    </m:r>
                    <m:r>
                      <a:rPr lang="ar-AE" sz="1600" i="1">
                        <a:latin typeface="Cambria Math" panose="02040503050406030204" pitchFamily="18" charset="0"/>
                      </a:rPr>
                      <m:t>𝛾</m:t>
                    </m:r>
                    <m:r>
                      <m:rPr>
                        <m:nor/>
                      </m:rPr>
                      <a:rPr lang="ar-AE" sz="1600" i="1"/>
                      <m:t> </m:t>
                    </m:r>
                    <m:sSub>
                      <m:sSubPr>
                        <m:ctrlPr>
                          <a:rPr lang="ar-AE" sz="1600" i="1">
                            <a:latin typeface="Cambria Math" panose="02040503050406030204" pitchFamily="18" charset="0"/>
                          </a:rPr>
                        </m:ctrlPr>
                      </m:sSubPr>
                      <m:e>
                        <m:r>
                          <a:rPr lang="ar-AE" sz="1600" i="1">
                            <a:latin typeface="Cambria Math" panose="02040503050406030204" pitchFamily="18" charset="0"/>
                          </a:rPr>
                          <m:t>𝑉</m:t>
                        </m:r>
                      </m:e>
                      <m:sub>
                        <m:r>
                          <a:rPr lang="ar-AE" sz="1600" i="1">
                            <a:latin typeface="Cambria Math" panose="02040503050406030204" pitchFamily="18" charset="0"/>
                          </a:rPr>
                          <m:t>𝜙</m:t>
                        </m:r>
                      </m:sub>
                    </m:sSub>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𝑠</m:t>
                            </m:r>
                          </m:e>
                          <m:sub>
                            <m:r>
                              <a:rPr lang="ar-AE" sz="1600" i="1">
                                <a:latin typeface="Cambria Math" panose="02040503050406030204" pitchFamily="18" charset="0"/>
                              </a:rPr>
                              <m:t>𝑡</m:t>
                            </m:r>
                            <m:r>
                              <a:rPr lang="ar-AE" sz="1600">
                                <a:latin typeface="Cambria Math" panose="02040503050406030204" pitchFamily="18" charset="0"/>
                              </a:rPr>
                              <m:t>+1</m:t>
                            </m:r>
                          </m:sub>
                        </m:sSub>
                      </m:e>
                    </m:d>
                  </m:oMath>
                </a14:m>
                <a:endParaRPr lang="ar-AE" sz="1600" dirty="0"/>
              </a:p>
              <a:p>
                <a:pPr lvl="1"/>
                <a:r>
                  <a:rPr lang="en-US" sz="1600" b="1" dirty="0"/>
                  <a:t>TD error (how surprised we were):</a:t>
                </a:r>
                <a:r>
                  <a:rPr lang="en-US"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𝛿</m:t>
                        </m:r>
                      </m:e>
                      <m:sub>
                        <m:r>
                          <a:rPr lang="ar-AE" sz="1600" i="1">
                            <a:latin typeface="Cambria Math" panose="02040503050406030204" pitchFamily="18" charset="0"/>
                          </a:rPr>
                          <m:t>𝑡</m:t>
                        </m:r>
                      </m:sub>
                    </m:sSub>
                    <m:r>
                      <m:rPr>
                        <m:nor/>
                      </m:rPr>
                      <a:rPr lang="ar-AE" sz="1600" i="1"/>
                      <m:t>  </m:t>
                    </m:r>
                    <m:r>
                      <a:rPr lang="ar-AE" sz="1600">
                        <a:latin typeface="Cambria Math" panose="02040503050406030204" pitchFamily="18" charset="0"/>
                      </a:rPr>
                      <m:t>=</m:t>
                    </m:r>
                    <m:r>
                      <m:rPr>
                        <m:nor/>
                      </m:rPr>
                      <a:rPr lang="ar-AE" sz="1600" i="1"/>
                      <m:t>  </m:t>
                    </m:r>
                    <m:r>
                      <a:rPr lang="en-US" sz="1600" b="0" i="1" smtClean="0">
                        <a:latin typeface="Cambria Math" panose="02040503050406030204" pitchFamily="18" charset="0"/>
                      </a:rPr>
                      <m:t>𝑄</m:t>
                    </m:r>
                    <m:r>
                      <a:rPr lang="en-US" sz="1600" b="0" i="1" smtClean="0">
                        <a:latin typeface="Cambria Math" panose="02040503050406030204" pitchFamily="18" charset="0"/>
                      </a:rPr>
                      <m:t>(</m:t>
                    </m:r>
                    <m:r>
                      <a:rPr lang="en-US" sz="1600" b="0" i="1" smtClean="0">
                        <a:latin typeface="Cambria Math" panose="02040503050406030204" pitchFamily="18" charset="0"/>
                      </a:rPr>
                      <m:t>𝑠𝑡</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𝑉</m:t>
                        </m:r>
                      </m:e>
                      <m:sub>
                        <m:r>
                          <a:rPr lang="ar-AE" sz="1600" i="1">
                            <a:latin typeface="Cambria Math" panose="02040503050406030204" pitchFamily="18" charset="0"/>
                          </a:rPr>
                          <m:t>𝜙</m:t>
                        </m:r>
                      </m:sub>
                    </m:sSub>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𝑠</m:t>
                            </m:r>
                          </m:e>
                          <m:sub>
                            <m:r>
                              <a:rPr lang="ar-AE" sz="1600" i="1">
                                <a:latin typeface="Cambria Math" panose="02040503050406030204" pitchFamily="18" charset="0"/>
                              </a:rPr>
                              <m:t>𝑡</m:t>
                            </m:r>
                          </m:sub>
                        </m:sSub>
                      </m:e>
                    </m:d>
                  </m:oMath>
                </a14:m>
                <a:endParaRPr lang="en-US" sz="1600" dirty="0"/>
              </a:p>
              <a:p>
                <a:r>
                  <a:rPr lang="en-US" sz="1600" b="1" dirty="0"/>
                  <a:t>Critic update:</a:t>
                </a:r>
                <a:r>
                  <a:rPr lang="en-US" sz="1600" dirty="0"/>
                  <a:t> make </a:t>
                </a:r>
                <a14:m>
                  <m:oMath xmlns:m="http://schemas.openxmlformats.org/officeDocument/2006/math">
                    <m:sSub>
                      <m:sSubPr>
                        <m:ctrlPr>
                          <a:rPr lang="ar-AE" sz="1800" i="1">
                            <a:latin typeface="Cambria Math" panose="02040503050406030204" pitchFamily="18" charset="0"/>
                          </a:rPr>
                        </m:ctrlPr>
                      </m:sSubPr>
                      <m:e>
                        <m:r>
                          <a:rPr lang="ar-AE" sz="1800" i="1">
                            <a:latin typeface="Cambria Math" panose="02040503050406030204" pitchFamily="18" charset="0"/>
                          </a:rPr>
                          <m:t>𝑉</m:t>
                        </m:r>
                      </m:e>
                      <m:sub>
                        <m:r>
                          <a:rPr lang="ar-AE" sz="1800" i="1">
                            <a:latin typeface="Cambria Math" panose="02040503050406030204" pitchFamily="18" charset="0"/>
                          </a:rPr>
                          <m:t>𝜙</m:t>
                        </m:r>
                      </m:sub>
                    </m:sSub>
                    <m:d>
                      <m:dPr>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ar-AE" sz="1800" i="1">
                                <a:latin typeface="Cambria Math" panose="02040503050406030204" pitchFamily="18" charset="0"/>
                              </a:rPr>
                              <m:t>𝑠</m:t>
                            </m:r>
                          </m:e>
                          <m:sub>
                            <m:r>
                              <a:rPr lang="ar-AE" sz="1800" i="1">
                                <a:latin typeface="Cambria Math" panose="02040503050406030204" pitchFamily="18" charset="0"/>
                              </a:rPr>
                              <m:t>𝑡</m:t>
                            </m:r>
                          </m:sub>
                        </m:sSub>
                      </m:e>
                    </m:d>
                  </m:oMath>
                </a14:m>
                <a:r>
                  <a:rPr lang="en-US" sz="1600" dirty="0"/>
                  <a:t> closer to </a:t>
                </a:r>
                <a14:m>
                  <m:oMath xmlns:m="http://schemas.openxmlformats.org/officeDocument/2006/math">
                    <m:r>
                      <a:rPr lang="en-US" sz="1600" i="1">
                        <a:latin typeface="Cambria Math" panose="02040503050406030204" pitchFamily="18" charset="0"/>
                      </a:rPr>
                      <m:t>𝑄</m:t>
                    </m:r>
                    <m:r>
                      <a:rPr lang="en-US" sz="1600" i="1">
                        <a:latin typeface="Cambria Math" panose="02040503050406030204" pitchFamily="18" charset="0"/>
                      </a:rPr>
                      <m:t>(</m:t>
                    </m:r>
                    <m:r>
                      <a:rPr lang="en-US" sz="1600" i="1">
                        <a:latin typeface="Cambria Math" panose="02040503050406030204" pitchFamily="18" charset="0"/>
                      </a:rPr>
                      <m:t>𝑠𝑡</m:t>
                    </m:r>
                    <m:r>
                      <a:rPr lang="en-US" sz="1600" i="1">
                        <a:latin typeface="Cambria Math" panose="02040503050406030204" pitchFamily="18" charset="0"/>
                      </a:rPr>
                      <m:t>,</m:t>
                    </m:r>
                    <m:r>
                      <a:rPr lang="en-US" sz="1600" i="1" smtClean="0">
                        <a:latin typeface="Cambria Math" panose="02040503050406030204" pitchFamily="18" charset="0"/>
                      </a:rPr>
                      <m:t>𝑎</m:t>
                    </m:r>
                    <m:r>
                      <a:rPr lang="en-US" sz="1600" i="1" smtClean="0">
                        <a:latin typeface="Cambria Math" panose="02040503050406030204" pitchFamily="18" charset="0"/>
                      </a:rPr>
                      <m:t>)</m:t>
                    </m:r>
                  </m:oMath>
                </a14:m>
                <a:r>
                  <a:rPr lang="ar-AE" sz="1600" dirty="0"/>
                  <a:t>(</a:t>
                </a:r>
                <a:endParaRPr lang="en-US" sz="1600" dirty="0"/>
              </a:p>
              <a:p>
                <a:r>
                  <a:rPr lang="en-US" sz="1600" b="1" dirty="0"/>
                  <a:t>Advantage </a:t>
                </a:r>
                <a:r>
                  <a:rPr lang="en-US" sz="1600" dirty="0"/>
                  <a:t>= “was that action better than expected?” </a:t>
                </a:r>
                <a:r>
                  <a:rPr lang="en-US" sz="1600" dirty="0">
                    <a:sym typeface="Wingdings" panose="05000000000000000000" pitchFamily="2" charset="2"/>
                  </a:rPr>
                  <a:t></a:t>
                </a:r>
                <a:r>
                  <a:rPr lang="en-US" sz="1600" dirty="0"/>
                  <a:t> </a:t>
                </a:r>
                <a:r>
                  <a:rPr lang="en-US" sz="1800" dirty="0"/>
                  <a:t>A</a:t>
                </a:r>
                <a:r>
                  <a:rPr lang="en-US" sz="1800" baseline="-25000" dirty="0"/>
                  <a:t>t</a:t>
                </a:r>
                <a:r>
                  <a:rPr lang="en-US" sz="1800" dirty="0"/>
                  <a:t>​≈</a:t>
                </a:r>
                <a:r>
                  <a:rPr lang="el-GR" sz="1800" dirty="0"/>
                  <a:t>δ</a:t>
                </a:r>
                <a:r>
                  <a:rPr lang="en-US" sz="1600" baseline="-25000" dirty="0"/>
                  <a:t>t</a:t>
                </a:r>
              </a:p>
              <a:p>
                <a:pPr lvl="1"/>
                <a:r>
                  <a:rPr lang="en-US" sz="1600" b="1" dirty="0"/>
                  <a:t>If </a:t>
                </a:r>
                <a:r>
                  <a:rPr lang="en-US" sz="1600" b="1" i="1" dirty="0"/>
                  <a:t>A</a:t>
                </a:r>
                <a:r>
                  <a:rPr lang="en-US" sz="1600" b="1" i="1" baseline="-25000" dirty="0"/>
                  <a:t>t</a:t>
                </a:r>
                <a:r>
                  <a:rPr lang="en-US" sz="1600" b="1" dirty="0"/>
                  <a:t> &gt; 0 </a:t>
                </a:r>
                <a:r>
                  <a:rPr lang="en-US" sz="1600" dirty="0"/>
                  <a:t>then the action helped more than critic expected</a:t>
                </a:r>
              </a:p>
              <a:p>
                <a:pPr lvl="1"/>
                <a:r>
                  <a:rPr lang="en-US" sz="1600" b="1" dirty="0"/>
                  <a:t>If </a:t>
                </a:r>
                <a14:m>
                  <m:oMath xmlns:m="http://schemas.openxmlformats.org/officeDocument/2006/math">
                    <m:sSub>
                      <m:sSubPr>
                        <m:ctrlPr>
                          <a:rPr lang="ar-AE" sz="1600" b="1" i="1">
                            <a:latin typeface="Cambria Math" panose="02040503050406030204" pitchFamily="18" charset="0"/>
                          </a:rPr>
                        </m:ctrlPr>
                      </m:sSubPr>
                      <m:e>
                        <m:acc>
                          <m:accPr>
                            <m:chr m:val="̂"/>
                            <m:ctrlPr>
                              <a:rPr lang="ar-AE" sz="1600" b="1" i="1">
                                <a:latin typeface="Cambria Math" panose="02040503050406030204" pitchFamily="18" charset="0"/>
                              </a:rPr>
                            </m:ctrlPr>
                          </m:accPr>
                          <m:e>
                            <m:r>
                              <a:rPr lang="ar-AE" sz="1600" b="1" i="1">
                                <a:latin typeface="Cambria Math" panose="02040503050406030204" pitchFamily="18" charset="0"/>
                              </a:rPr>
                              <m:t>𝑨</m:t>
                            </m:r>
                          </m:e>
                        </m:acc>
                      </m:e>
                      <m:sub>
                        <m:r>
                          <a:rPr lang="ar-AE" sz="1600" b="1" i="1">
                            <a:latin typeface="Cambria Math" panose="02040503050406030204" pitchFamily="18" charset="0"/>
                          </a:rPr>
                          <m:t>𝒕</m:t>
                        </m:r>
                      </m:sub>
                    </m:sSub>
                    <m:r>
                      <a:rPr lang="ar-AE" sz="1600" b="1">
                        <a:latin typeface="Cambria Math" panose="02040503050406030204" pitchFamily="18" charset="0"/>
                      </a:rPr>
                      <m:t>&lt;</m:t>
                    </m:r>
                    <m:r>
                      <a:rPr lang="ar-AE" sz="1600" b="1" i="1">
                        <a:latin typeface="Cambria Math" panose="02040503050406030204" pitchFamily="18" charset="0"/>
                      </a:rPr>
                      <m:t>𝟎</m:t>
                    </m:r>
                  </m:oMath>
                </a14:m>
                <a:r>
                  <a:rPr lang="ar-AE" sz="1600" b="1" dirty="0"/>
                  <a:t>: </a:t>
                </a:r>
                <a:r>
                  <a:rPr lang="en-US" sz="1600" dirty="0"/>
                  <a:t>it hurt.</a:t>
                </a:r>
              </a:p>
              <a:p>
                <a:r>
                  <a:rPr lang="en-US" sz="1600" dirty="0"/>
                  <a:t>Actor update (policy learning) with PPO’s guardrails:</a:t>
                </a:r>
              </a:p>
              <a:p>
                <a:pPr lvl="1"/>
                <a:r>
                  <a:rPr lang="en-US" sz="1600" dirty="0"/>
                  <a:t>increase the action’s probability if </a:t>
                </a:r>
                <a14:m>
                  <m:oMath xmlns:m="http://schemas.openxmlformats.org/officeDocument/2006/math">
                    <m:sSub>
                      <m:sSubPr>
                        <m:ctrlPr>
                          <a:rPr lang="ar-AE" sz="1600" i="1">
                            <a:latin typeface="Cambria Math" panose="02040503050406030204" pitchFamily="18" charset="0"/>
                          </a:rPr>
                        </m:ctrlPr>
                      </m:sSubPr>
                      <m:e>
                        <m:acc>
                          <m:accPr>
                            <m:chr m:val="̂"/>
                            <m:ctrlPr>
                              <a:rPr lang="ar-AE" sz="1600" i="1">
                                <a:latin typeface="Cambria Math" panose="02040503050406030204" pitchFamily="18" charset="0"/>
                              </a:rPr>
                            </m:ctrlPr>
                          </m:accPr>
                          <m:e>
                            <m:r>
                              <a:rPr lang="ar-AE" sz="1600" i="1">
                                <a:latin typeface="Cambria Math" panose="02040503050406030204" pitchFamily="18" charset="0"/>
                              </a:rPr>
                              <m:t>𝐴</m:t>
                            </m:r>
                          </m:e>
                        </m:acc>
                      </m:e>
                      <m:sub>
                        <m:r>
                          <a:rPr lang="ar-AE" sz="1600" i="1">
                            <a:latin typeface="Cambria Math" panose="02040503050406030204" pitchFamily="18" charset="0"/>
                          </a:rPr>
                          <m:t>𝑡</m:t>
                        </m:r>
                      </m:sub>
                    </m:sSub>
                    <m:r>
                      <a:rPr lang="ar-AE" sz="1600">
                        <a:latin typeface="Cambria Math" panose="02040503050406030204" pitchFamily="18" charset="0"/>
                      </a:rPr>
                      <m:t>&gt;0</m:t>
                    </m:r>
                    <m:r>
                      <a:rPr lang="en-US" sz="1600" b="0" i="0" smtClean="0">
                        <a:latin typeface="Cambria Math" panose="02040503050406030204" pitchFamily="18" charset="0"/>
                      </a:rPr>
                      <m:t> </m:t>
                    </m:r>
                  </m:oMath>
                </a14:m>
                <a:r>
                  <a:rPr lang="en-US" sz="1600" dirty="0"/>
                  <a:t>and decrease </a:t>
                </a:r>
                <a:r>
                  <a:rPr lang="en-US" sz="1200" dirty="0"/>
                  <a:t>if </a:t>
                </a:r>
                <a14:m>
                  <m:oMath xmlns:m="http://schemas.openxmlformats.org/officeDocument/2006/math">
                    <m:sSub>
                      <m:sSubPr>
                        <m:ctrlPr>
                          <a:rPr lang="ar-AE" sz="1600" i="1">
                            <a:latin typeface="Cambria Math" panose="02040503050406030204" pitchFamily="18" charset="0"/>
                          </a:rPr>
                        </m:ctrlPr>
                      </m:sSubPr>
                      <m:e>
                        <m:acc>
                          <m:accPr>
                            <m:chr m:val="̂"/>
                            <m:ctrlPr>
                              <a:rPr lang="ar-AE" sz="1600" i="1">
                                <a:latin typeface="Cambria Math" panose="02040503050406030204" pitchFamily="18" charset="0"/>
                              </a:rPr>
                            </m:ctrlPr>
                          </m:accPr>
                          <m:e>
                            <m:r>
                              <a:rPr lang="ar-AE" sz="1600" i="1">
                                <a:latin typeface="Cambria Math" panose="02040503050406030204" pitchFamily="18" charset="0"/>
                              </a:rPr>
                              <m:t>𝐴</m:t>
                            </m:r>
                          </m:e>
                        </m:acc>
                      </m:e>
                      <m:sub>
                        <m:r>
                          <a:rPr lang="ar-AE" sz="1600" i="1">
                            <a:latin typeface="Cambria Math" panose="02040503050406030204" pitchFamily="18" charset="0"/>
                          </a:rPr>
                          <m:t>𝑡</m:t>
                        </m:r>
                      </m:sub>
                    </m:sSub>
                    <m:r>
                      <a:rPr lang="ar-AE" sz="1600">
                        <a:latin typeface="Cambria Math" panose="02040503050406030204" pitchFamily="18" charset="0"/>
                      </a:rPr>
                      <m:t>&lt;0</m:t>
                    </m:r>
                  </m:oMath>
                </a14:m>
                <a:r>
                  <a:rPr lang="ar-AE" sz="1600" dirty="0"/>
                  <a:t>,</a:t>
                </a:r>
                <a:br>
                  <a:rPr lang="ar-AE" sz="1600" dirty="0"/>
                </a:br>
                <a:r>
                  <a:rPr lang="en-US" sz="1600" b="1" dirty="0"/>
                  <a:t>but cap</a:t>
                </a:r>
                <a:r>
                  <a:rPr lang="en-US" sz="1600" dirty="0"/>
                  <a:t> the change so it can’t move more than about </a:t>
                </a:r>
                <a14:m>
                  <m:oMath xmlns:m="http://schemas.openxmlformats.org/officeDocument/2006/math">
                    <m:r>
                      <a:rPr lang="en-US" sz="1800">
                        <a:latin typeface="Cambria Math" panose="02040503050406030204" pitchFamily="18" charset="0"/>
                      </a:rPr>
                      <m:t>±</m:t>
                    </m:r>
                    <m:r>
                      <a:rPr lang="en-US" sz="1800" i="1">
                        <a:latin typeface="Cambria Math" panose="02040503050406030204" pitchFamily="18" charset="0"/>
                      </a:rPr>
                      <m:t>𝜖</m:t>
                    </m:r>
                  </m:oMath>
                </a14:m>
                <a:r>
                  <a:rPr lang="en-US" sz="1600" dirty="0"/>
                  <a:t> worth</a:t>
                </a:r>
                <a:endParaRPr lang="en-US" sz="1600" baseline="-25000" dirty="0"/>
              </a:p>
            </p:txBody>
          </p:sp>
        </mc:Choice>
        <mc:Fallback>
          <p:sp>
            <p:nvSpPr>
              <p:cNvPr id="2" name="Content Placeholder 2">
                <a:extLst>
                  <a:ext uri="{FF2B5EF4-FFF2-40B4-BE49-F238E27FC236}">
                    <a16:creationId xmlns:a16="http://schemas.microsoft.com/office/drawing/2014/main" id="{4586BB98-2A76-9E0F-4D21-C204CAB9D796}"/>
                  </a:ext>
                </a:extLst>
              </p:cNvPr>
              <p:cNvSpPr txBox="1">
                <a:spLocks noRot="1" noChangeAspect="1" noMove="1" noResize="1" noEditPoints="1" noAdjustHandles="1" noChangeArrowheads="1" noChangeShapeType="1" noTextEdit="1"/>
              </p:cNvSpPr>
              <p:nvPr/>
            </p:nvSpPr>
            <p:spPr>
              <a:xfrm>
                <a:off x="173115" y="1683759"/>
                <a:ext cx="6355048" cy="5174241"/>
              </a:xfrm>
              <a:prstGeom prst="rect">
                <a:avLst/>
              </a:prstGeom>
              <a:blipFill>
                <a:blip r:embed="rId3"/>
                <a:stretch>
                  <a:fillRect l="-598" t="-1225"/>
                </a:stretch>
              </a:blipFill>
            </p:spPr>
            <p:txBody>
              <a:bodyPr/>
              <a:lstStyle/>
              <a:p>
                <a:r>
                  <a:rPr lang="en-US">
                    <a:noFill/>
                  </a:rPr>
                  <a:t> </a:t>
                </a:r>
              </a:p>
            </p:txBody>
          </p:sp>
        </mc:Fallback>
      </mc:AlternateContent>
      <p:pic>
        <p:nvPicPr>
          <p:cNvPr id="4" name="Picture 3" descr="A screenshot of a chat&#10;&#10;Description automatically generated">
            <a:extLst>
              <a:ext uri="{FF2B5EF4-FFF2-40B4-BE49-F238E27FC236}">
                <a16:creationId xmlns:a16="http://schemas.microsoft.com/office/drawing/2014/main" id="{BEFD7FEB-5FCC-CB1C-7F86-EF6F473B16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5082" y="2115625"/>
            <a:ext cx="5451103" cy="2004199"/>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02EDA0B-42DC-823C-8B22-B9626666B87D}"/>
                  </a:ext>
                </a:extLst>
              </p:cNvPr>
              <p:cNvSpPr txBox="1"/>
              <p:nvPr/>
            </p:nvSpPr>
            <p:spPr>
              <a:xfrm>
                <a:off x="6548087" y="4635093"/>
                <a:ext cx="5647972" cy="1603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600" b="1" dirty="0"/>
                  <a:t>Intuition with examples</a:t>
                </a:r>
              </a:p>
              <a:p>
                <a14:m>
                  <m:oMath xmlns:m="http://schemas.openxmlformats.org/officeDocument/2006/math">
                    <m:sSub>
                      <m:sSubPr>
                        <m:ctrlPr>
                          <a:rPr lang="ar-AE" sz="1600" i="1">
                            <a:latin typeface="Cambria Math" panose="02040503050406030204" pitchFamily="18" charset="0"/>
                          </a:rPr>
                        </m:ctrlPr>
                      </m:sSubPr>
                      <m:e>
                        <m:acc>
                          <m:accPr>
                            <m:chr m:val="̂"/>
                            <m:ctrlPr>
                              <a:rPr lang="ar-AE" sz="1600" i="1">
                                <a:latin typeface="Cambria Math" panose="02040503050406030204" pitchFamily="18" charset="0"/>
                              </a:rPr>
                            </m:ctrlPr>
                          </m:accPr>
                          <m:e>
                            <m:r>
                              <a:rPr lang="ar-AE" sz="1600" i="1">
                                <a:latin typeface="Cambria Math" panose="02040503050406030204" pitchFamily="18" charset="0"/>
                              </a:rPr>
                              <m:t>𝐴</m:t>
                            </m:r>
                          </m:e>
                        </m:acc>
                      </m:e>
                      <m:sub>
                        <m:r>
                          <a:rPr lang="ar-AE" sz="1600" i="1">
                            <a:latin typeface="Cambria Math" panose="02040503050406030204" pitchFamily="18" charset="0"/>
                          </a:rPr>
                          <m:t>𝑡</m:t>
                        </m:r>
                      </m:sub>
                    </m:sSub>
                    <m:r>
                      <a:rPr lang="ar-AE" sz="1600">
                        <a:latin typeface="Cambria Math" panose="02040503050406030204" pitchFamily="18" charset="0"/>
                      </a:rPr>
                      <m:t>&gt;0</m:t>
                    </m:r>
                  </m:oMath>
                </a14:m>
                <a:r>
                  <a:rPr lang="ar-AE"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𝑟</m:t>
                        </m:r>
                      </m:e>
                      <m:sub>
                        <m:r>
                          <a:rPr lang="ar-AE" sz="1600" i="1">
                            <a:latin typeface="Cambria Math" panose="02040503050406030204" pitchFamily="18" charset="0"/>
                          </a:rPr>
                          <m:t>𝑡</m:t>
                        </m:r>
                      </m:sub>
                    </m:sSub>
                    <m:r>
                      <a:rPr lang="ar-AE" sz="1600">
                        <a:latin typeface="Cambria Math" panose="02040503050406030204" pitchFamily="18" charset="0"/>
                      </a:rPr>
                      <m:t>=1.2</m:t>
                    </m:r>
                  </m:oMath>
                </a14:m>
                <a:r>
                  <a:rPr lang="ar-AE" sz="1600" dirty="0"/>
                  <a:t>→ “</a:t>
                </a:r>
                <a:r>
                  <a:rPr lang="en-US" sz="1600" dirty="0"/>
                  <a:t>nice, </a:t>
                </a:r>
                <a:r>
                  <a:rPr lang="en-US" sz="1600" b="1" dirty="0"/>
                  <a:t>slightly</a:t>
                </a:r>
                <a:r>
                  <a:rPr lang="en-US" sz="1600" dirty="0"/>
                  <a:t> prefer this action.”</a:t>
                </a:r>
              </a:p>
              <a:p>
                <a14:m>
                  <m:oMath xmlns:m="http://schemas.openxmlformats.org/officeDocument/2006/math">
                    <m:sSub>
                      <m:sSubPr>
                        <m:ctrlPr>
                          <a:rPr lang="ar-AE" sz="1600" i="1">
                            <a:latin typeface="Cambria Math" panose="02040503050406030204" pitchFamily="18" charset="0"/>
                          </a:rPr>
                        </m:ctrlPr>
                      </m:sSubPr>
                      <m:e>
                        <m:acc>
                          <m:accPr>
                            <m:chr m:val="̂"/>
                            <m:ctrlPr>
                              <a:rPr lang="ar-AE" sz="1600" i="1">
                                <a:latin typeface="Cambria Math" panose="02040503050406030204" pitchFamily="18" charset="0"/>
                              </a:rPr>
                            </m:ctrlPr>
                          </m:accPr>
                          <m:e>
                            <m:r>
                              <a:rPr lang="ar-AE" sz="1600" i="1">
                                <a:latin typeface="Cambria Math" panose="02040503050406030204" pitchFamily="18" charset="0"/>
                              </a:rPr>
                              <m:t>𝐴</m:t>
                            </m:r>
                          </m:e>
                        </m:acc>
                      </m:e>
                      <m:sub>
                        <m:r>
                          <a:rPr lang="ar-AE" sz="1600" i="1">
                            <a:latin typeface="Cambria Math" panose="02040503050406030204" pitchFamily="18" charset="0"/>
                          </a:rPr>
                          <m:t>𝑡</m:t>
                        </m:r>
                      </m:sub>
                    </m:sSub>
                    <m:r>
                      <a:rPr lang="ar-AE" sz="1600">
                        <a:latin typeface="Cambria Math" panose="02040503050406030204" pitchFamily="18" charset="0"/>
                      </a:rPr>
                      <m:t>&gt;0</m:t>
                    </m:r>
                  </m:oMath>
                </a14:m>
                <a:r>
                  <a:rPr lang="ar-AE"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𝑟</m:t>
                        </m:r>
                      </m:e>
                      <m:sub>
                        <m:r>
                          <a:rPr lang="ar-AE" sz="1600" i="1">
                            <a:latin typeface="Cambria Math" panose="02040503050406030204" pitchFamily="18" charset="0"/>
                          </a:rPr>
                          <m:t>𝑡</m:t>
                        </m:r>
                      </m:sub>
                    </m:sSub>
                    <m:r>
                      <a:rPr lang="ar-AE" sz="1600">
                        <a:latin typeface="Cambria Math" panose="02040503050406030204" pitchFamily="18" charset="0"/>
                      </a:rPr>
                      <m:t>=2.5</m:t>
                    </m:r>
                  </m:oMath>
                </a14:m>
                <a:r>
                  <a:rPr lang="ar-AE" sz="1600" dirty="0"/>
                  <a:t>→ “</a:t>
                </a:r>
                <a:r>
                  <a:rPr lang="en-US" sz="1600" dirty="0"/>
                  <a:t>whoa, you’re overreacting; </a:t>
                </a:r>
                <a:r>
                  <a:rPr lang="en-US" sz="1600" b="1" dirty="0"/>
                  <a:t>cap</a:t>
                </a:r>
                <a:r>
                  <a:rPr lang="en-US" sz="1600" dirty="0"/>
                  <a:t> the benefit.”</a:t>
                </a:r>
              </a:p>
              <a:p>
                <a14:m>
                  <m:oMath xmlns:m="http://schemas.openxmlformats.org/officeDocument/2006/math">
                    <m:sSub>
                      <m:sSubPr>
                        <m:ctrlPr>
                          <a:rPr lang="ar-AE" sz="1600" i="1">
                            <a:latin typeface="Cambria Math" panose="02040503050406030204" pitchFamily="18" charset="0"/>
                          </a:rPr>
                        </m:ctrlPr>
                      </m:sSubPr>
                      <m:e>
                        <m:acc>
                          <m:accPr>
                            <m:chr m:val="̂"/>
                            <m:ctrlPr>
                              <a:rPr lang="ar-AE" sz="1600" i="1">
                                <a:latin typeface="Cambria Math" panose="02040503050406030204" pitchFamily="18" charset="0"/>
                              </a:rPr>
                            </m:ctrlPr>
                          </m:accPr>
                          <m:e>
                            <m:r>
                              <a:rPr lang="ar-AE" sz="1600" i="1">
                                <a:latin typeface="Cambria Math" panose="02040503050406030204" pitchFamily="18" charset="0"/>
                              </a:rPr>
                              <m:t>𝐴</m:t>
                            </m:r>
                          </m:e>
                        </m:acc>
                      </m:e>
                      <m:sub>
                        <m:r>
                          <a:rPr lang="ar-AE" sz="1600" i="1">
                            <a:latin typeface="Cambria Math" panose="02040503050406030204" pitchFamily="18" charset="0"/>
                          </a:rPr>
                          <m:t>𝑡</m:t>
                        </m:r>
                      </m:sub>
                    </m:sSub>
                    <m:r>
                      <a:rPr lang="ar-AE" sz="1600">
                        <a:latin typeface="Cambria Math" panose="02040503050406030204" pitchFamily="18" charset="0"/>
                      </a:rPr>
                      <m:t>&lt;0</m:t>
                    </m:r>
                  </m:oMath>
                </a14:m>
                <a:r>
                  <a:rPr lang="ar-AE"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𝑟</m:t>
                        </m:r>
                      </m:e>
                      <m:sub>
                        <m:r>
                          <a:rPr lang="ar-AE" sz="1600" i="1">
                            <a:latin typeface="Cambria Math" panose="02040503050406030204" pitchFamily="18" charset="0"/>
                          </a:rPr>
                          <m:t>𝑡</m:t>
                        </m:r>
                      </m:sub>
                    </m:sSub>
                    <m:r>
                      <a:rPr lang="ar-AE" sz="1600">
                        <a:latin typeface="Cambria Math" panose="02040503050406030204" pitchFamily="18" charset="0"/>
                      </a:rPr>
                      <m:t>=</m:t>
                    </m:r>
                    <m:r>
                      <a:rPr lang="en-US" sz="1600" b="0" i="0" smtClean="0">
                        <a:latin typeface="Cambria Math" panose="02040503050406030204" pitchFamily="18" charset="0"/>
                      </a:rPr>
                      <m:t>−</m:t>
                    </m:r>
                    <m:r>
                      <a:rPr lang="ar-AE" sz="1600">
                        <a:latin typeface="Cambria Math" panose="02040503050406030204" pitchFamily="18" charset="0"/>
                      </a:rPr>
                      <m:t>0.</m:t>
                    </m:r>
                    <m:r>
                      <a:rPr lang="en-US" sz="1600" b="0" i="0" smtClean="0">
                        <a:latin typeface="Cambria Math" panose="02040503050406030204" pitchFamily="18" charset="0"/>
                      </a:rPr>
                      <m:t>4</m:t>
                    </m:r>
                  </m:oMath>
                </a14:m>
                <a:r>
                  <a:rPr lang="ar-AE" sz="1600" dirty="0"/>
                  <a:t>→ “</a:t>
                </a:r>
                <a:r>
                  <a:rPr lang="en-US" sz="1600" dirty="0"/>
                  <a:t>ok, make it a bit rarer.”</a:t>
                </a:r>
              </a:p>
              <a:p>
                <a14:m>
                  <m:oMath xmlns:m="http://schemas.openxmlformats.org/officeDocument/2006/math">
                    <m:sSub>
                      <m:sSubPr>
                        <m:ctrlPr>
                          <a:rPr lang="ar-AE" sz="1600" i="1">
                            <a:latin typeface="Cambria Math" panose="02040503050406030204" pitchFamily="18" charset="0"/>
                          </a:rPr>
                        </m:ctrlPr>
                      </m:sSubPr>
                      <m:e>
                        <m:acc>
                          <m:accPr>
                            <m:chr m:val="̂"/>
                            <m:ctrlPr>
                              <a:rPr lang="ar-AE" sz="1600" i="1">
                                <a:latin typeface="Cambria Math" panose="02040503050406030204" pitchFamily="18" charset="0"/>
                              </a:rPr>
                            </m:ctrlPr>
                          </m:accPr>
                          <m:e>
                            <m:r>
                              <a:rPr lang="ar-AE" sz="1600" i="1">
                                <a:latin typeface="Cambria Math" panose="02040503050406030204" pitchFamily="18" charset="0"/>
                              </a:rPr>
                              <m:t>𝐴</m:t>
                            </m:r>
                          </m:e>
                        </m:acc>
                      </m:e>
                      <m:sub>
                        <m:r>
                          <a:rPr lang="ar-AE" sz="1600" i="1">
                            <a:latin typeface="Cambria Math" panose="02040503050406030204" pitchFamily="18" charset="0"/>
                          </a:rPr>
                          <m:t>𝑡</m:t>
                        </m:r>
                      </m:sub>
                    </m:sSub>
                    <m:r>
                      <a:rPr lang="ar-AE" sz="1600">
                        <a:latin typeface="Cambria Math" panose="02040503050406030204" pitchFamily="18" charset="0"/>
                      </a:rPr>
                      <m:t>&lt;0</m:t>
                    </m:r>
                  </m:oMath>
                </a14:m>
                <a:r>
                  <a:rPr lang="ar-AE"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𝑟</m:t>
                        </m:r>
                      </m:e>
                      <m:sub>
                        <m:r>
                          <a:rPr lang="ar-AE" sz="1600" i="1">
                            <a:latin typeface="Cambria Math" panose="02040503050406030204" pitchFamily="18" charset="0"/>
                          </a:rPr>
                          <m:t>𝑡</m:t>
                        </m:r>
                      </m:sub>
                    </m:sSub>
                    <m:r>
                      <a:rPr lang="ar-AE" sz="1600">
                        <a:latin typeface="Cambria Math" panose="02040503050406030204" pitchFamily="18" charset="0"/>
                      </a:rPr>
                      <m:t>=</m:t>
                    </m:r>
                    <m:r>
                      <a:rPr lang="en-US" sz="1600" b="0" i="0" smtClean="0">
                        <a:latin typeface="Cambria Math" panose="02040503050406030204" pitchFamily="18" charset="0"/>
                      </a:rPr>
                      <m:t>−</m:t>
                    </m:r>
                    <m:r>
                      <a:rPr lang="ar-AE" sz="1600">
                        <a:latin typeface="Cambria Math" panose="02040503050406030204" pitchFamily="18" charset="0"/>
                      </a:rPr>
                      <m:t>0.</m:t>
                    </m:r>
                    <m:r>
                      <a:rPr lang="en-US" sz="1600" b="0" i="0" smtClean="0">
                        <a:latin typeface="Cambria Math" panose="02040503050406030204" pitchFamily="18" charset="0"/>
                      </a:rPr>
                      <m:t>8</m:t>
                    </m:r>
                  </m:oMath>
                </a14:m>
                <a:r>
                  <a:rPr lang="ar-AE" sz="1600" dirty="0"/>
                  <a:t>→ “</a:t>
                </a:r>
                <a:r>
                  <a:rPr lang="en-US" sz="1600" dirty="0"/>
                  <a:t>too harsh; </a:t>
                </a:r>
                <a:r>
                  <a:rPr lang="en-US" sz="1600" b="1" dirty="0"/>
                  <a:t>cap</a:t>
                </a:r>
                <a:r>
                  <a:rPr lang="en-US" sz="1600" dirty="0"/>
                  <a:t> the penalty.”</a:t>
                </a:r>
              </a:p>
              <a:p>
                <a:pPr marL="0" marR="0" indent="0" algn="l" defTabSz="9144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000000"/>
                  </a:solidFill>
                  <a:effectLst/>
                  <a:uFillTx/>
                  <a:sym typeface="Corbel"/>
                </a:endParaRPr>
              </a:p>
            </p:txBody>
          </p:sp>
        </mc:Choice>
        <mc:Fallback xmlns="">
          <p:sp>
            <p:nvSpPr>
              <p:cNvPr id="14" name="TextBox 13">
                <a:extLst>
                  <a:ext uri="{FF2B5EF4-FFF2-40B4-BE49-F238E27FC236}">
                    <a16:creationId xmlns:a16="http://schemas.microsoft.com/office/drawing/2014/main" id="{C02EDA0B-42DC-823C-8B22-B9626666B87D}"/>
                  </a:ext>
                </a:extLst>
              </p:cNvPr>
              <p:cNvSpPr txBox="1">
                <a:spLocks noRot="1" noChangeAspect="1" noMove="1" noResize="1" noEditPoints="1" noAdjustHandles="1" noChangeArrowheads="1" noChangeShapeType="1" noTextEdit="1"/>
              </p:cNvSpPr>
              <p:nvPr/>
            </p:nvSpPr>
            <p:spPr>
              <a:xfrm>
                <a:off x="6548087" y="4635093"/>
                <a:ext cx="5647972" cy="1603257"/>
              </a:xfrm>
              <a:prstGeom prst="rect">
                <a:avLst/>
              </a:prstGeom>
              <a:blipFill>
                <a:blip r:embed="rId5"/>
                <a:stretch>
                  <a:fillRect l="-1402" t="-1141"/>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21587442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8921601"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400" b="0" dirty="0">
                <a:solidFill>
                  <a:schemeClr val="tx1"/>
                </a:solidFill>
              </a:rPr>
              <a:t>Applications of RL with PPO in industry</a:t>
            </a:r>
          </a:p>
        </p:txBody>
      </p:sp>
      <p:sp>
        <p:nvSpPr>
          <p:cNvPr id="2" name="Content Placeholder 2">
            <a:extLst>
              <a:ext uri="{FF2B5EF4-FFF2-40B4-BE49-F238E27FC236}">
                <a16:creationId xmlns:a16="http://schemas.microsoft.com/office/drawing/2014/main" id="{970E4ECD-87E4-B9C5-0840-124E50BB0940}"/>
              </a:ext>
            </a:extLst>
          </p:cNvPr>
          <p:cNvSpPr txBox="1">
            <a:spLocks/>
          </p:cNvSpPr>
          <p:nvPr/>
        </p:nvSpPr>
        <p:spPr>
          <a:xfrm>
            <a:off x="1469306" y="1683760"/>
            <a:ext cx="6687558" cy="5039158"/>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r>
              <a:rPr lang="en-US" sz="1600" b="1" dirty="0"/>
              <a:t>Optimizing Robotic Arm Control for Assembly Tasks </a:t>
            </a:r>
            <a:endParaRPr lang="en-US" sz="1600" dirty="0"/>
          </a:p>
          <a:p>
            <a:pPr lvl="1"/>
            <a:r>
              <a:rPr lang="en-US" sz="1600" dirty="0"/>
              <a:t>Imagine a manufacturing line where robotic arms assemble intricate products, like smartphones or electronics. These robots need to perform precise movements in a continuous space to pick up components, align them correctly, and fasten them together.</a:t>
            </a:r>
          </a:p>
          <a:p>
            <a:pPr lvl="1"/>
            <a:r>
              <a:rPr lang="en-US" sz="1600" b="1" dirty="0"/>
              <a:t>Electronics assembly: </a:t>
            </a:r>
            <a:r>
              <a:rPr lang="en-US" sz="1600" dirty="0"/>
              <a:t>Companies like Siemens and Foxconn are exploring using RL to optimize robotic assembly in electronics manufacturing.</a:t>
            </a:r>
          </a:p>
          <a:p>
            <a:pPr lvl="1"/>
            <a:r>
              <a:rPr lang="en-US" sz="1600" b="1" dirty="0"/>
              <a:t>Automotive manufacturing: </a:t>
            </a:r>
            <a:r>
              <a:rPr lang="en-US" sz="1600" dirty="0"/>
              <a:t>RL is being used to improve the precision and efficiency of robotic arms for tasks like welding and painting in car factories.</a:t>
            </a:r>
          </a:p>
          <a:p>
            <a:r>
              <a:rPr lang="en-US" sz="1600" b="1" dirty="0"/>
              <a:t>When does training happen?</a:t>
            </a:r>
            <a:endParaRPr lang="en-US" sz="1600" dirty="0"/>
          </a:p>
          <a:p>
            <a:pPr lvl="1"/>
            <a:r>
              <a:rPr lang="en-US" sz="1600" b="1" dirty="0"/>
              <a:t>Offline Training:</a:t>
            </a:r>
            <a:r>
              <a:rPr lang="en-US" sz="1600" dirty="0"/>
              <a:t> Most of the training (simulation and potentially pre-training) happens offline before deployment.</a:t>
            </a:r>
          </a:p>
          <a:p>
            <a:pPr lvl="1"/>
            <a:r>
              <a:rPr lang="en-US" sz="1600" b="1" dirty="0"/>
              <a:t>Fine-tuning and Adaptation:</a:t>
            </a:r>
            <a:r>
              <a:rPr lang="en-US" sz="1600" dirty="0"/>
              <a:t> Real-world fine-tuning and any ongoing learning occur after the robot is deployed.</a:t>
            </a:r>
          </a:p>
          <a:p>
            <a:endParaRPr lang="en-US" sz="1600" dirty="0"/>
          </a:p>
        </p:txBody>
      </p:sp>
      <p:pic>
        <p:nvPicPr>
          <p:cNvPr id="6" name="Picture 5">
            <a:extLst>
              <a:ext uri="{FF2B5EF4-FFF2-40B4-BE49-F238E27FC236}">
                <a16:creationId xmlns:a16="http://schemas.microsoft.com/office/drawing/2014/main" id="{00475B72-ACCD-9FED-3FCB-27E37AEF1518}"/>
              </a:ext>
            </a:extLst>
          </p:cNvPr>
          <p:cNvPicPr>
            <a:picLocks noChangeAspect="1"/>
          </p:cNvPicPr>
          <p:nvPr/>
        </p:nvPicPr>
        <p:blipFill>
          <a:blip r:embed="rId3"/>
          <a:stretch>
            <a:fillRect/>
          </a:stretch>
        </p:blipFill>
        <p:spPr>
          <a:xfrm>
            <a:off x="8521556" y="1866033"/>
            <a:ext cx="3501647" cy="2300721"/>
          </a:xfrm>
          <a:prstGeom prst="rect">
            <a:avLst/>
          </a:prstGeom>
        </p:spPr>
      </p:pic>
      <p:pic>
        <p:nvPicPr>
          <p:cNvPr id="7" name="Picture 6">
            <a:extLst>
              <a:ext uri="{FF2B5EF4-FFF2-40B4-BE49-F238E27FC236}">
                <a16:creationId xmlns:a16="http://schemas.microsoft.com/office/drawing/2014/main" id="{56C93176-2CBD-688F-553D-853D99D9BE8A}"/>
              </a:ext>
            </a:extLst>
          </p:cNvPr>
          <p:cNvPicPr>
            <a:picLocks noChangeAspect="1"/>
          </p:cNvPicPr>
          <p:nvPr/>
        </p:nvPicPr>
        <p:blipFill>
          <a:blip r:embed="rId4"/>
          <a:stretch>
            <a:fillRect/>
          </a:stretch>
        </p:blipFill>
        <p:spPr>
          <a:xfrm>
            <a:off x="8521556" y="4413105"/>
            <a:ext cx="3500769" cy="2081213"/>
          </a:xfrm>
          <a:prstGeom prst="rect">
            <a:avLst/>
          </a:prstGeom>
        </p:spPr>
      </p:pic>
    </p:spTree>
    <p:extLst>
      <p:ext uri="{BB962C8B-B14F-4D97-AF65-F5344CB8AC3E}">
        <p14:creationId xmlns:p14="http://schemas.microsoft.com/office/powerpoint/2010/main" val="17783873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717048" cy="2667000"/>
          </a:xfrm>
        </p:spPr>
        <p:txBody>
          <a:bodyPr>
            <a:normAutofit/>
          </a:bodyPr>
          <a:lstStyle/>
          <a:p>
            <a:r>
              <a:rPr lang="en-US" sz="3100" dirty="0"/>
              <a:t>Understanding the StableBaselines3 Library</a:t>
            </a:r>
            <a:r>
              <a:rPr lang="en-US" sz="4400" dirty="0"/>
              <a:t>:</a:t>
            </a:r>
            <a:br>
              <a:rPr lang="en-US" sz="4400" dirty="0"/>
            </a:br>
            <a:br>
              <a:rPr lang="en-US" sz="4400" dirty="0"/>
            </a:br>
            <a:r>
              <a:rPr lang="en-US" sz="2400" dirty="0"/>
              <a:t>Functionality and Applications in Reinforcement Learning</a:t>
            </a:r>
            <a:endParaRPr lang="en-US" sz="3600"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4553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Unified and Reliable RL Algorithms</a:t>
            </a:r>
          </a:p>
        </p:txBody>
      </p:sp>
      <p:graphicFrame>
        <p:nvGraphicFramePr>
          <p:cNvPr id="32" name="Content Placeholder 2">
            <a:extLst>
              <a:ext uri="{FF2B5EF4-FFF2-40B4-BE49-F238E27FC236}">
                <a16:creationId xmlns:a16="http://schemas.microsoft.com/office/drawing/2014/main" id="{69BE5432-A1F0-2973-300F-EF8F6FF67D75}"/>
              </a:ext>
            </a:extLst>
          </p:cNvPr>
          <p:cNvGraphicFramePr>
            <a:graphicFrameLocks noGrp="1"/>
          </p:cNvGraphicFramePr>
          <p:nvPr>
            <p:ph idx="4294967295"/>
            <p:extLst>
              <p:ext uri="{D42A27DB-BD31-4B8C-83A1-F6EECF244321}">
                <p14:modId xmlns:p14="http://schemas.microsoft.com/office/powerpoint/2010/main" val="1688915575"/>
              </p:ext>
            </p:extLst>
          </p:nvPr>
        </p:nvGraphicFramePr>
        <p:xfrm>
          <a:off x="1635636" y="169430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User-Friendly and Production-Ready</a:t>
            </a:r>
            <a:endParaRPr dirty="0"/>
          </a:p>
        </p:txBody>
      </p:sp>
      <p:graphicFrame>
        <p:nvGraphicFramePr>
          <p:cNvPr id="5" name="Content Placeholder 2">
            <a:extLst>
              <a:ext uri="{FF2B5EF4-FFF2-40B4-BE49-F238E27FC236}">
                <a16:creationId xmlns:a16="http://schemas.microsoft.com/office/drawing/2014/main" id="{7DC1306E-EFC0-DAEF-7E91-B69F802DB99C}"/>
              </a:ext>
            </a:extLst>
          </p:cNvPr>
          <p:cNvGraphicFramePr>
            <a:graphicFrameLocks noGrp="1"/>
          </p:cNvGraphicFramePr>
          <p:nvPr>
            <p:ph idx="4294967295"/>
            <p:extLst>
              <p:ext uri="{D42A27DB-BD31-4B8C-83A1-F6EECF244321}">
                <p14:modId xmlns:p14="http://schemas.microsoft.com/office/powerpoint/2010/main" val="2771791832"/>
              </p:ext>
            </p:extLst>
          </p:nvPr>
        </p:nvGraphicFramePr>
        <p:xfrm>
          <a:off x="1517650" y="1629697"/>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Built on a Clean, Modern Stack</a:t>
            </a:r>
            <a:endParaRPr dirty="0"/>
          </a:p>
        </p:txBody>
      </p:sp>
      <p:graphicFrame>
        <p:nvGraphicFramePr>
          <p:cNvPr id="5" name="Content Placeholder 2">
            <a:extLst>
              <a:ext uri="{FF2B5EF4-FFF2-40B4-BE49-F238E27FC236}">
                <a16:creationId xmlns:a16="http://schemas.microsoft.com/office/drawing/2014/main" id="{22F00E5B-BCD0-7A0E-35CD-619D06E65BC2}"/>
              </a:ext>
            </a:extLst>
          </p:cNvPr>
          <p:cNvGraphicFramePr>
            <a:graphicFrameLocks noGrp="1"/>
          </p:cNvGraphicFramePr>
          <p:nvPr>
            <p:ph idx="4294967295"/>
            <p:extLst>
              <p:ext uri="{D42A27DB-BD31-4B8C-83A1-F6EECF244321}">
                <p14:modId xmlns:p14="http://schemas.microsoft.com/office/powerpoint/2010/main" val="2746174015"/>
              </p:ext>
            </p:extLst>
          </p:nvPr>
        </p:nvGraphicFramePr>
        <p:xfrm>
          <a:off x="1517650" y="176734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Getting Started with StableBaselines3</a:t>
            </a:r>
          </a:p>
        </p:txBody>
      </p:sp>
      <p:sp>
        <p:nvSpPr>
          <p:cNvPr id="5" name="Rectangle 4">
            <a:extLst>
              <a:ext uri="{FF2B5EF4-FFF2-40B4-BE49-F238E27FC236}">
                <a16:creationId xmlns:a16="http://schemas.microsoft.com/office/drawing/2014/main" id="{4CFC25AF-0A78-DF10-7C89-DA1A6D412718}"/>
              </a:ext>
            </a:extLst>
          </p:cNvPr>
          <p:cNvSpPr/>
          <p:nvPr/>
        </p:nvSpPr>
        <p:spPr>
          <a:xfrm>
            <a:off x="1517650" y="1520127"/>
            <a:ext cx="10661650" cy="5337873"/>
          </a:xfrm>
          <a:prstGeom prst="rect">
            <a:avLst/>
          </a:prstGeom>
        </p:spPr>
        <p:txBody>
          <a:bodyPr/>
          <a:lstStyle/>
          <a:p>
            <a:pPr marL="342900" lvl="0" indent="-342900">
              <a:buFont typeface="+mj-lt"/>
              <a:buAutoNum type="arabicPeriod"/>
            </a:pPr>
            <a:r>
              <a:rPr lang="en-US" sz="2000" dirty="0"/>
              <a:t>Installation: </a:t>
            </a:r>
            <a:r>
              <a:rPr lang="en-US" sz="2000" dirty="0" err="1"/>
              <a:t>uv</a:t>
            </a:r>
            <a:r>
              <a:rPr lang="en-US" sz="2000" dirty="0"/>
              <a:t> add “stable-baselines3[extra]”</a:t>
            </a:r>
          </a:p>
          <a:p>
            <a:pPr marL="342900" lvl="0" indent="-342900">
              <a:buFont typeface="+mj-lt"/>
              <a:buAutoNum type="arabicPeriod"/>
            </a:pPr>
            <a:endParaRPr lang="en-US" sz="2000" dirty="0"/>
          </a:p>
          <a:p>
            <a:pPr marL="342900" lvl="0" indent="-342900">
              <a:buFont typeface="+mj-lt"/>
              <a:buAutoNum type="arabicPeriod"/>
            </a:pPr>
            <a:r>
              <a:rPr lang="en-US" sz="2000" dirty="0"/>
              <a:t>It works best with Python 3.12 – So you can create a Week6 folder and have a </a:t>
            </a:r>
            <a:r>
              <a:rPr lang="en-US" sz="2000" dirty="0" err="1"/>
              <a:t>uv</a:t>
            </a:r>
            <a:r>
              <a:rPr lang="en-US" sz="2000" dirty="0"/>
              <a:t> </a:t>
            </a:r>
            <a:r>
              <a:rPr lang="en-US" sz="2000" dirty="0" err="1"/>
              <a:t>venv</a:t>
            </a:r>
            <a:r>
              <a:rPr lang="en-US" sz="2000" dirty="0"/>
              <a:t> in that with Python 3.12 in it.</a:t>
            </a:r>
          </a:p>
          <a:p>
            <a:pPr marL="342900" lvl="0" indent="-342900">
              <a:buFont typeface="+mj-lt"/>
              <a:buAutoNum type="arabicPeriod"/>
            </a:pPr>
            <a:endParaRPr lang="en-US" sz="2000" dirty="0"/>
          </a:p>
          <a:p>
            <a:pPr marL="342900" lvl="0" indent="-342900">
              <a:buFont typeface="+mj-lt"/>
              <a:buAutoNum type="arabicPeriod"/>
            </a:pPr>
            <a:r>
              <a:rPr lang="en-US" sz="2000" dirty="0"/>
              <a:t>Dependencies: Gymnasium, PyTorch</a:t>
            </a:r>
          </a:p>
          <a:p>
            <a:pPr lvl="0"/>
            <a:endParaRPr lang="en-US" sz="2000" dirty="0"/>
          </a:p>
          <a:p>
            <a:pPr lvl="0"/>
            <a:r>
              <a:rPr lang="en-US" sz="2000" dirty="0"/>
              <a:t>Basic coding Setup example:</a:t>
            </a:r>
          </a:p>
          <a:p>
            <a:pPr lvl="0"/>
            <a:endParaRPr lang="en-US" sz="2000" dirty="0"/>
          </a:p>
          <a:p>
            <a:pPr lvl="1"/>
            <a:r>
              <a:rPr lang="en-US" sz="2000" i="1" dirty="0"/>
              <a:t>from stable_baselines3 import PPO</a:t>
            </a:r>
          </a:p>
          <a:p>
            <a:pPr lvl="1"/>
            <a:r>
              <a:rPr lang="en-US" sz="2000" i="1" dirty="0"/>
              <a:t>from gymnasium import make</a:t>
            </a:r>
          </a:p>
          <a:p>
            <a:pPr lvl="1"/>
            <a:r>
              <a:rPr lang="en-US" sz="2000" i="1" dirty="0"/>
              <a:t>env = make('CartPole-v1')</a:t>
            </a:r>
          </a:p>
          <a:p>
            <a:pPr lvl="1"/>
            <a:r>
              <a:rPr lang="en-US" sz="2000" i="1" dirty="0"/>
              <a:t>model = PPO('</a:t>
            </a:r>
            <a:r>
              <a:rPr lang="en-US" sz="2000" i="1" dirty="0" err="1"/>
              <a:t>MlpPolicy</a:t>
            </a:r>
            <a:r>
              <a:rPr lang="en-US" sz="2000" i="1" dirty="0"/>
              <a:t>', env, verbose=1)</a:t>
            </a:r>
          </a:p>
          <a:p>
            <a:pPr lvl="1"/>
            <a:r>
              <a:rPr lang="en-US" sz="2000" i="1" dirty="0" err="1"/>
              <a:t>model.learn</a:t>
            </a:r>
            <a:r>
              <a:rPr lang="en-US" sz="2000" i="1" dirty="0"/>
              <a:t>(</a:t>
            </a:r>
            <a:r>
              <a:rPr lang="en-US" sz="2000" i="1" dirty="0" err="1"/>
              <a:t>total_timesteps</a:t>
            </a:r>
            <a:r>
              <a:rPr lang="en-US" sz="2000" i="1" dirty="0"/>
              <a:t>=10000)</a:t>
            </a:r>
          </a:p>
          <a:p>
            <a:pPr lvl="1"/>
            <a:endParaRPr lang="en-US" sz="2000" i="1" dirty="0"/>
          </a:p>
          <a:p>
            <a:pPr lvl="1"/>
            <a:endParaRPr lang="en-US" sz="2000" i="1" dirty="0"/>
          </a:p>
          <a:p>
            <a:pPr lvl="1"/>
            <a:r>
              <a:rPr lang="en-US" sz="2000" dirty="0"/>
              <a:t>Links: </a:t>
            </a:r>
            <a:r>
              <a:rPr lang="en-US" sz="2000" dirty="0">
                <a:hlinkClick r:id="rId3"/>
              </a:rPr>
              <a:t>Stablebaselines3</a:t>
            </a:r>
            <a:r>
              <a:rPr lang="en-US" sz="2000" dirty="0"/>
              <a:t> , </a:t>
            </a:r>
            <a:r>
              <a:rPr lang="en-US" sz="2000" dirty="0">
                <a:hlinkClick r:id="rId4"/>
              </a:rPr>
              <a:t>SB3-PPO</a:t>
            </a:r>
            <a:r>
              <a:rPr lang="en-US" sz="2000" dirty="0"/>
              <a:t> , </a:t>
            </a:r>
            <a:r>
              <a:rPr lang="en-US" sz="2000" dirty="0">
                <a:hlinkClick r:id="rId5"/>
              </a:rPr>
              <a:t>Custom-Policies</a:t>
            </a:r>
            <a:r>
              <a:rPr lang="en-US" sz="2000" dirty="0"/>
              <a:t> , </a:t>
            </a:r>
            <a:r>
              <a:rPr lang="en-US" sz="2000" dirty="0">
                <a:hlinkClick r:id="rId6"/>
              </a:rPr>
              <a:t>Getting-Started</a:t>
            </a:r>
            <a:endParaRPr lang="en-US" sz="2000" dirty="0"/>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r>
              <a:rPr lang="en-US" sz="4200"/>
              <a:t>Model Evaluation and Visualization</a:t>
            </a:r>
          </a:p>
        </p:txBody>
      </p:sp>
      <p:graphicFrame>
        <p:nvGraphicFramePr>
          <p:cNvPr id="22" name="Content Placeholder 2">
            <a:extLst>
              <a:ext uri="{FF2B5EF4-FFF2-40B4-BE49-F238E27FC236}">
                <a16:creationId xmlns:a16="http://schemas.microsoft.com/office/drawing/2014/main" id="{2F6A5BAC-D19D-2CD1-516B-76E0A059E59D}"/>
              </a:ext>
            </a:extLst>
          </p:cNvPr>
          <p:cNvGraphicFramePr>
            <a:graphicFrameLocks noGrp="1"/>
          </p:cNvGraphicFramePr>
          <p:nvPr>
            <p:ph idx="4294967295"/>
          </p:nvPr>
        </p:nvGraphicFramePr>
        <p:xfrm>
          <a:off x="1517650" y="2457400"/>
          <a:ext cx="7785100" cy="3209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243759" cy="2667000"/>
          </a:xfrm>
        </p:spPr>
        <p:txBody>
          <a:bodyPr/>
          <a:lstStyle/>
          <a:p>
            <a:pPr lvl="1"/>
            <a:r>
              <a:rPr lang="en-US" sz="2400" b="0" dirty="0">
                <a:solidFill>
                  <a:schemeClr val="tx1"/>
                </a:solidFill>
              </a:rPr>
              <a:t>Let us train </a:t>
            </a:r>
            <a:r>
              <a:rPr lang="en-US" sz="2400" dirty="0">
                <a:solidFill>
                  <a:schemeClr val="tx1"/>
                </a:solidFill>
              </a:rPr>
              <a:t>a</a:t>
            </a:r>
            <a:r>
              <a:rPr lang="en-US" sz="2400" b="0" dirty="0">
                <a:solidFill>
                  <a:schemeClr val="tx1"/>
                </a:solidFill>
              </a:rPr>
              <a:t> “bipedal-walker” using SB3</a:t>
            </a:r>
            <a:endParaRPr lang="en-US" sz="2400" dirty="0">
              <a:solidFill>
                <a:schemeClr val="tx1"/>
              </a:solidFill>
            </a:endParaRP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46</a:t>
            </a:fld>
            <a:endParaRPr lang="en-US"/>
          </a:p>
        </p:txBody>
      </p:sp>
    </p:spTree>
    <p:extLst>
      <p:ext uri="{BB962C8B-B14F-4D97-AF65-F5344CB8AC3E}">
        <p14:creationId xmlns:p14="http://schemas.microsoft.com/office/powerpoint/2010/main" val="288003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243759" cy="2667000"/>
          </a:xfrm>
        </p:spPr>
        <p:txBody>
          <a:bodyPr/>
          <a:lstStyle/>
          <a:p>
            <a:pPr lvl="1"/>
            <a:r>
              <a:rPr lang="en-US" sz="2400" b="0" dirty="0">
                <a:solidFill>
                  <a:schemeClr val="tx1"/>
                </a:solidFill>
              </a:rPr>
              <a:t>Building your own environment using gymnasium</a:t>
            </a:r>
            <a:endParaRPr lang="en-US" sz="2400" dirty="0">
              <a:solidFill>
                <a:schemeClr val="tx1"/>
              </a:solidFill>
            </a:endParaRP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47</a:t>
            </a:fld>
            <a:endParaRPr lang="en-US"/>
          </a:p>
        </p:txBody>
      </p:sp>
    </p:spTree>
    <p:extLst>
      <p:ext uri="{BB962C8B-B14F-4D97-AF65-F5344CB8AC3E}">
        <p14:creationId xmlns:p14="http://schemas.microsoft.com/office/powerpoint/2010/main" val="997889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Why would you build your own environment?</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735282"/>
            <a:ext cx="5929019" cy="4821381"/>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2000" dirty="0"/>
          </a:p>
          <a:p>
            <a:r>
              <a:rPr lang="en-US" sz="1600" b="1" dirty="0"/>
              <a:t>Unique Problem:</a:t>
            </a:r>
            <a:r>
              <a:rPr lang="en-US" sz="1600" dirty="0"/>
              <a:t> You might be working on a problem that has no readily available environment</a:t>
            </a:r>
          </a:p>
          <a:p>
            <a:pPr>
              <a:buFont typeface="Arial" panose="020B0604020202020204" pitchFamily="34" charset="0"/>
              <a:buChar char="•"/>
            </a:pPr>
            <a:r>
              <a:rPr lang="en-US" sz="1600" b="1" dirty="0"/>
              <a:t>Fine-grained Control:</a:t>
            </a:r>
            <a:r>
              <a:rPr lang="en-US" sz="1600" dirty="0"/>
              <a:t> Building your own environment gives you complete control over every aspect: </a:t>
            </a:r>
          </a:p>
          <a:p>
            <a:pPr lvl="1"/>
            <a:r>
              <a:rPr lang="en-US" sz="1600" b="1" dirty="0"/>
              <a:t>State Space:</a:t>
            </a:r>
            <a:r>
              <a:rPr lang="en-US" sz="1600" dirty="0"/>
              <a:t> Define exactly what information the agent observes.</a:t>
            </a:r>
          </a:p>
          <a:p>
            <a:pPr lvl="1"/>
            <a:r>
              <a:rPr lang="en-US" sz="1600" b="1" dirty="0"/>
              <a:t>Action Space:</a:t>
            </a:r>
            <a:r>
              <a:rPr lang="en-US" sz="1600" dirty="0"/>
              <a:t> Design the actions the agent can take, whether discrete (e.g., move left/right) or continuous (e.g., apply a specific force).</a:t>
            </a:r>
          </a:p>
          <a:p>
            <a:pPr lvl="1"/>
            <a:r>
              <a:rPr lang="en-US" sz="1600" b="1" dirty="0"/>
              <a:t>Reward Function:</a:t>
            </a:r>
            <a:r>
              <a:rPr lang="en-US" sz="1600" dirty="0"/>
              <a:t> Craft a reward function that truly aligns with your desired agent behavior.</a:t>
            </a:r>
          </a:p>
          <a:p>
            <a:pPr lvl="1"/>
            <a:r>
              <a:rPr lang="en-US" sz="1600" b="1" dirty="0"/>
              <a:t>Dynamics:</a:t>
            </a:r>
            <a:r>
              <a:rPr lang="en-US" sz="1600" dirty="0"/>
              <a:t> Determine how the environment changes in response to the agent's actions.</a:t>
            </a:r>
          </a:p>
          <a:p>
            <a:pPr lvl="1"/>
            <a:endParaRPr lang="en-US" sz="1600" dirty="0"/>
          </a:p>
          <a:p>
            <a:pPr lvl="1"/>
            <a:endParaRPr lang="en-US" sz="1600" dirty="0"/>
          </a:p>
          <a:p>
            <a:pPr lvl="1"/>
            <a:endParaRPr lang="en-US" sz="2000" dirty="0"/>
          </a:p>
          <a:p>
            <a:endParaRPr lang="en-US" sz="2000" dirty="0"/>
          </a:p>
        </p:txBody>
      </p:sp>
      <p:pic>
        <p:nvPicPr>
          <p:cNvPr id="3075" name="Picture 3" descr="Reinforcement Learning ...">
            <a:extLst>
              <a:ext uri="{FF2B5EF4-FFF2-40B4-BE49-F238E27FC236}">
                <a16:creationId xmlns:a16="http://schemas.microsoft.com/office/drawing/2014/main" id="{62BDF54E-7924-AD45-0B1B-1D5B2EED2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1539" y="2670896"/>
            <a:ext cx="4176125" cy="2036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58868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Real world dynamics</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675409" y="1735282"/>
            <a:ext cx="7509895" cy="5049982"/>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r>
              <a:rPr lang="en-US" sz="1600" b="1" dirty="0"/>
              <a:t>Learning by Doing: </a:t>
            </a:r>
            <a:r>
              <a:rPr lang="en-US" sz="1600" dirty="0"/>
              <a:t>Implementing an environment from scratch forces you to deeply understand the underlying principles of RL and how environments interact with agents.</a:t>
            </a:r>
          </a:p>
          <a:p>
            <a:r>
              <a:rPr lang="en-US" sz="1600" b="1" dirty="0"/>
              <a:t>Simulating Real-World Scenarios:</a:t>
            </a:r>
          </a:p>
          <a:p>
            <a:pPr lvl="1"/>
            <a:r>
              <a:rPr lang="en-US" sz="1600" b="1" dirty="0"/>
              <a:t>Safe and Cost-Effective: </a:t>
            </a:r>
          </a:p>
          <a:p>
            <a:pPr lvl="2"/>
            <a:r>
              <a:rPr lang="en-US" sz="1600" dirty="0"/>
              <a:t>RL environments allow you to simulate real-world scenarios that might be dangerous, expensive, or time-consuming to test in reality. </a:t>
            </a:r>
          </a:p>
          <a:p>
            <a:pPr lvl="1"/>
            <a:r>
              <a:rPr lang="en-US" sz="1600" b="1" dirty="0"/>
              <a:t>Data Augmentation: </a:t>
            </a:r>
            <a:r>
              <a:rPr lang="en-US" sz="1600" dirty="0"/>
              <a:t>You can generate large amounts of synthetic data from your environment to supplement real-world data, improving the robustness of your RL agent.   </a:t>
            </a:r>
          </a:p>
          <a:p>
            <a:pPr lvl="1"/>
            <a:r>
              <a:rPr lang="en-US" sz="1600" b="1" dirty="0"/>
              <a:t>Research and Development:</a:t>
            </a:r>
          </a:p>
          <a:p>
            <a:pPr lvl="2"/>
            <a:r>
              <a:rPr lang="en-US" sz="1600" u="sng" dirty="0"/>
              <a:t>Novel Environments: </a:t>
            </a:r>
            <a:r>
              <a:rPr lang="en-US" sz="1600" dirty="0"/>
              <a:t>Creating new environments can drive research in RL by introducing new challenges and benchmarks for the community.</a:t>
            </a:r>
          </a:p>
          <a:p>
            <a:pPr lvl="2"/>
            <a:r>
              <a:rPr lang="en-US" sz="1600" u="sng" dirty="0"/>
              <a:t>Algorithm Testing: </a:t>
            </a:r>
            <a:r>
              <a:rPr lang="en-US" sz="1600" dirty="0"/>
              <a:t>You can use your custom environment to test the performance and limitations of different RL algorithms.</a:t>
            </a:r>
          </a:p>
          <a:p>
            <a:pPr lvl="1"/>
            <a:endParaRPr lang="en-US" sz="1600" dirty="0"/>
          </a:p>
          <a:p>
            <a:pPr lvl="1"/>
            <a:endParaRPr lang="en-US" sz="1600" dirty="0"/>
          </a:p>
          <a:p>
            <a:pPr lvl="1"/>
            <a:endParaRPr lang="en-US" sz="2000" dirty="0"/>
          </a:p>
          <a:p>
            <a:endParaRPr lang="en-US" sz="2000" dirty="0"/>
          </a:p>
        </p:txBody>
      </p:sp>
      <p:pic>
        <p:nvPicPr>
          <p:cNvPr id="3077" name="Picture 5" descr="Deep Reinforcement Learning in Autonomous Car Path Planning and Control: A  Survey">
            <a:extLst>
              <a:ext uri="{FF2B5EF4-FFF2-40B4-BE49-F238E27FC236}">
                <a16:creationId xmlns:a16="http://schemas.microsoft.com/office/drawing/2014/main" id="{99D91A4C-3838-C130-13E3-69992AB48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5304" y="2632008"/>
            <a:ext cx="3744614" cy="264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039986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500" b="0" dirty="0">
                <a:solidFill>
                  <a:schemeClr val="tx1"/>
                </a:solidFill>
              </a:rPr>
              <a:t>Gymnasium's ‘ENV’ Class provides us with the tools:</a:t>
            </a:r>
          </a:p>
          <a:p>
            <a:r>
              <a:rPr lang="en-US" sz="2500" b="0" dirty="0">
                <a:solidFill>
                  <a:schemeClr val="tx1"/>
                </a:solidFill>
              </a:rPr>
              <a:t>Methods we can use</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77564" y="1212685"/>
            <a:ext cx="10435145" cy="5476350"/>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1400" dirty="0"/>
          </a:p>
          <a:p>
            <a:r>
              <a:rPr lang="en-US" sz="1400" b="1" dirty="0"/>
              <a:t>reset: </a:t>
            </a:r>
            <a:r>
              <a:rPr lang="en-US" sz="1400" dirty="0"/>
              <a:t>This function resets the environment to its initial state and returns the observation of the environment corresponding to the initial state.</a:t>
            </a:r>
          </a:p>
          <a:p>
            <a:r>
              <a:rPr lang="en-US" sz="1400" b="1" dirty="0"/>
              <a:t>step : </a:t>
            </a:r>
            <a:r>
              <a:rPr lang="en-US" sz="1400" dirty="0"/>
              <a:t>This function takes an action as an input and applies it to the environment, which leads to the environment transitioning to a new state. The step function returns four things:</a:t>
            </a:r>
          </a:p>
          <a:p>
            <a:pPr lvl="1"/>
            <a:r>
              <a:rPr lang="en-US" sz="1400" b="1" dirty="0"/>
              <a:t>observation: </a:t>
            </a:r>
            <a:r>
              <a:rPr lang="en-US" sz="1400" dirty="0"/>
              <a:t>The observation of the state of the environment.</a:t>
            </a:r>
          </a:p>
          <a:p>
            <a:pPr lvl="1"/>
            <a:r>
              <a:rPr lang="en-US" sz="1400" b="1" dirty="0"/>
              <a:t>reward: </a:t>
            </a:r>
            <a:r>
              <a:rPr lang="en-US" sz="1400" dirty="0"/>
              <a:t>The reward that you can get from the environment after executing the action that was given as the input to the step function.</a:t>
            </a:r>
          </a:p>
          <a:p>
            <a:pPr lvl="1"/>
            <a:r>
              <a:rPr lang="en-US" sz="1400" b="1" dirty="0"/>
              <a:t>done: </a:t>
            </a:r>
            <a:r>
              <a:rPr lang="en-US" sz="1400" dirty="0"/>
              <a:t>Whether the episode has been terminated. If true, you may need to end the simulation or reset the environment to restart the episode.</a:t>
            </a:r>
          </a:p>
          <a:p>
            <a:pPr lvl="1"/>
            <a:r>
              <a:rPr lang="en-US" sz="1400" b="1" dirty="0"/>
              <a:t>info: </a:t>
            </a:r>
            <a:r>
              <a:rPr lang="en-US" sz="1400" dirty="0"/>
              <a:t>This provides additional information depending on the environment, such as number of lives left, or general information that may be conducive in debugging. </a:t>
            </a:r>
          </a:p>
          <a:p>
            <a:r>
              <a:rPr lang="en-US" sz="1400" b="1" dirty="0"/>
              <a:t>spaces:</a:t>
            </a:r>
          </a:p>
          <a:p>
            <a:pPr lvl="1"/>
            <a:r>
              <a:rPr lang="en-US" sz="1400" b="1" dirty="0" err="1"/>
              <a:t>spaces.Discrete</a:t>
            </a:r>
            <a:r>
              <a:rPr lang="en-US" sz="1400" b="1" dirty="0"/>
              <a:t>(n): </a:t>
            </a:r>
            <a:r>
              <a:rPr lang="en-US" sz="1400" dirty="0"/>
              <a:t>For a state that is a single number from \(0,...,n-1\).</a:t>
            </a:r>
          </a:p>
          <a:p>
            <a:pPr lvl="1"/>
            <a:r>
              <a:rPr lang="en-US" sz="1400" b="1" dirty="0" err="1"/>
              <a:t>spaces.Box</a:t>
            </a:r>
            <a:r>
              <a:rPr lang="en-US" sz="1400" b="1" dirty="0"/>
              <a:t>(low, high, shape, </a:t>
            </a:r>
            <a:r>
              <a:rPr lang="en-US" sz="1400" b="1" dirty="0" err="1"/>
              <a:t>dtype</a:t>
            </a:r>
            <a:r>
              <a:rPr lang="en-US" sz="1400" b="1" dirty="0"/>
              <a:t>):  </a:t>
            </a:r>
            <a:r>
              <a:rPr lang="en-US" sz="1400" dirty="0"/>
              <a:t>For a state that is a continuous n-dimensional array, like a position and </a:t>
            </a:r>
            <a:r>
              <a:rPr lang="en-US" sz="1400" dirty="0" err="1"/>
              <a:t>velocity.spaces</a:t>
            </a:r>
            <a:r>
              <a:rPr lang="en-US" sz="1400" dirty="0"/>
              <a:t>.</a:t>
            </a:r>
          </a:p>
          <a:p>
            <a:pPr lvl="1"/>
            <a:r>
              <a:rPr lang="en-US" sz="1400" b="1" dirty="0" err="1"/>
              <a:t>Dict</a:t>
            </a:r>
            <a:r>
              <a:rPr lang="en-US" sz="1400" b="1" dirty="0"/>
              <a:t>({"key1": space1, "key2": space2}): </a:t>
            </a:r>
            <a:r>
              <a:rPr lang="en-US" sz="1400" dirty="0"/>
              <a:t>For a state composed of different, named components.</a:t>
            </a:r>
          </a:p>
          <a:p>
            <a:pPr marL="0" indent="0">
              <a:buNone/>
            </a:pPr>
            <a:endParaRPr lang="en-US" sz="1400" dirty="0"/>
          </a:p>
          <a:p>
            <a:endParaRPr lang="en-US" sz="1400" dirty="0"/>
          </a:p>
        </p:txBody>
      </p:sp>
    </p:spTree>
    <p:extLst>
      <p:ext uri="{BB962C8B-B14F-4D97-AF65-F5344CB8AC3E}">
        <p14:creationId xmlns:p14="http://schemas.microsoft.com/office/powerpoint/2010/main" val="36176440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500" b="0" dirty="0">
                <a:solidFill>
                  <a:schemeClr val="tx1"/>
                </a:solidFill>
              </a:rPr>
              <a:t>Stepwise details</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8" y="1194615"/>
            <a:ext cx="10573756" cy="5663386"/>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1600" dirty="0"/>
          </a:p>
          <a:p>
            <a:r>
              <a:rPr lang="en-US" sz="1600" b="1" dirty="0"/>
              <a:t>Create Environment Class: </a:t>
            </a:r>
            <a:r>
              <a:rPr lang="en-US" sz="1600" dirty="0"/>
              <a:t>Define a new Python class that inherits from “</a:t>
            </a:r>
            <a:r>
              <a:rPr lang="en-US" sz="1600" dirty="0" err="1"/>
              <a:t>gymnasium.Env</a:t>
            </a:r>
            <a:r>
              <a:rPr lang="en-US" sz="1600" dirty="0"/>
              <a:t>”</a:t>
            </a:r>
          </a:p>
          <a:p>
            <a:r>
              <a:rPr lang="en-US" sz="1600" b="1" dirty="0"/>
              <a:t>Initialize attributes: </a:t>
            </a:r>
          </a:p>
          <a:p>
            <a:pPr lvl="1"/>
            <a:r>
              <a:rPr lang="en-US" sz="1600" u="sng" dirty="0" err="1"/>
              <a:t>observation_space</a:t>
            </a:r>
            <a:r>
              <a:rPr lang="en-US" sz="1600" u="sng" dirty="0"/>
              <a:t>: </a:t>
            </a:r>
            <a:r>
              <a:rPr lang="en-US" sz="1600" dirty="0"/>
              <a:t>Define the format of the state information the agent receives (e.g., using “</a:t>
            </a:r>
            <a:r>
              <a:rPr lang="en-US" sz="1600" dirty="0" err="1"/>
              <a:t>gym.spaces.Box</a:t>
            </a:r>
            <a:r>
              <a:rPr lang="en-US" sz="1600" dirty="0"/>
              <a:t>” for continuous values or “</a:t>
            </a:r>
            <a:r>
              <a:rPr lang="en-US" sz="1600" dirty="0" err="1"/>
              <a:t>gym.spaces.Discrete</a:t>
            </a:r>
            <a:r>
              <a:rPr lang="en-US" sz="1600" dirty="0"/>
              <a:t>” for discrete options). </a:t>
            </a:r>
          </a:p>
          <a:p>
            <a:pPr lvl="1"/>
            <a:r>
              <a:rPr lang="en-US" sz="1600" u="sng" dirty="0" err="1"/>
              <a:t>action_space</a:t>
            </a:r>
            <a:r>
              <a:rPr lang="en-US" sz="1600" u="sng" dirty="0"/>
              <a:t>: </a:t>
            </a:r>
            <a:r>
              <a:rPr lang="en-US" sz="1600" dirty="0"/>
              <a:t>Specify the possible actions the agent can take (e.g., using </a:t>
            </a:r>
            <a:r>
              <a:rPr lang="en-US" sz="1600" dirty="0" err="1"/>
              <a:t>gym.spaces.Discrete</a:t>
            </a:r>
            <a:r>
              <a:rPr lang="en-US" sz="1600" dirty="0"/>
              <a:t> for a set of actions).</a:t>
            </a:r>
          </a:p>
          <a:p>
            <a:r>
              <a:rPr lang="en-US" sz="1600" b="1" dirty="0"/>
              <a:t>Implement reset function: </a:t>
            </a:r>
            <a:r>
              <a:rPr lang="en-US" sz="1600" dirty="0"/>
              <a:t>This function is called at the start of each episode to set the environment to its initial state and return the initial observation.</a:t>
            </a:r>
          </a:p>
          <a:p>
            <a:r>
              <a:rPr lang="en-US" sz="1600" b="1" dirty="0"/>
              <a:t>Implement “step” function: </a:t>
            </a:r>
          </a:p>
          <a:p>
            <a:pPr lvl="1"/>
            <a:r>
              <a:rPr lang="en-US" sz="1600" dirty="0"/>
              <a:t>Takes an action from the agent as input. </a:t>
            </a:r>
          </a:p>
          <a:p>
            <a:pPr lvl="1"/>
            <a:r>
              <a:rPr lang="en-US" sz="1600" dirty="0"/>
              <a:t>Updates the environment state based on the action. </a:t>
            </a:r>
          </a:p>
          <a:p>
            <a:pPr lvl="1"/>
            <a:r>
              <a:rPr lang="en-US" sz="1600" dirty="0"/>
              <a:t>Calculates and returns the new observation, reward, done flag (indicating episode termination), and any additional information.</a:t>
            </a:r>
          </a:p>
          <a:p>
            <a:r>
              <a:rPr lang="en-US" sz="1600" b="1" dirty="0"/>
              <a:t>Optional: Implement render function: </a:t>
            </a:r>
            <a:r>
              <a:rPr lang="en-US" sz="1600" dirty="0"/>
              <a:t>Visualizes the current state of the environment (can be a simple text output or a graphical display).</a:t>
            </a:r>
          </a:p>
          <a:p>
            <a:endParaRPr lang="en-US" sz="1600" dirty="0"/>
          </a:p>
          <a:p>
            <a:endParaRPr lang="en-US" sz="1600" dirty="0"/>
          </a:p>
        </p:txBody>
      </p:sp>
    </p:spTree>
    <p:extLst>
      <p:ext uri="{BB962C8B-B14F-4D97-AF65-F5344CB8AC3E}">
        <p14:creationId xmlns:p14="http://schemas.microsoft.com/office/powerpoint/2010/main" val="15554976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pPr algn="l" fontAlgn="ctr"/>
            <a:r>
              <a:rPr lang="en-US" sz="2800" b="0" i="0" dirty="0">
                <a:solidFill>
                  <a:srgbClr val="001D35"/>
                </a:solidFill>
                <a:effectLst/>
                <a:latin typeface="Google Sans"/>
              </a:rPr>
              <a:t>Key points to remember</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885" y="1682988"/>
            <a:ext cx="10435145" cy="4177486"/>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a:buFont typeface="+mj-lt"/>
              <a:buAutoNum type="arabicPeriod"/>
            </a:pPr>
            <a:endParaRPr lang="en-US" sz="1800" dirty="0"/>
          </a:p>
          <a:p>
            <a:pPr marL="0" indent="0" algn="l">
              <a:buNone/>
            </a:pPr>
            <a:r>
              <a:rPr lang="en-US" sz="1800" b="0" i="0" dirty="0">
                <a:solidFill>
                  <a:srgbClr val="001D35"/>
                </a:solidFill>
                <a:effectLst/>
                <a:latin typeface="Google Sans"/>
              </a:rPr>
              <a:t>Flexibility:</a:t>
            </a:r>
          </a:p>
          <a:p>
            <a:pPr lvl="1" fontAlgn="ctr">
              <a:buFont typeface="Arial" panose="020B0604020202020204" pitchFamily="34" charset="0"/>
              <a:buChar char="•"/>
            </a:pPr>
            <a:r>
              <a:rPr lang="en-US" sz="1800" b="0" i="0" dirty="0">
                <a:solidFill>
                  <a:srgbClr val="001D35"/>
                </a:solidFill>
                <a:effectLst/>
                <a:latin typeface="Google Sans"/>
              </a:rPr>
              <a:t>Design your environment to match the specific problem you want to solve in reinforcement learning.</a:t>
            </a:r>
          </a:p>
          <a:p>
            <a:pPr marL="0" indent="0" algn="l">
              <a:buNone/>
            </a:pPr>
            <a:r>
              <a:rPr lang="en-US" sz="1800" b="0" i="0" dirty="0">
                <a:solidFill>
                  <a:srgbClr val="001D35"/>
                </a:solidFill>
                <a:effectLst/>
                <a:latin typeface="Google Sans"/>
              </a:rPr>
              <a:t>Clear state representation:</a:t>
            </a:r>
          </a:p>
          <a:p>
            <a:pPr lvl="1" fontAlgn="ctr">
              <a:buFont typeface="Arial" panose="020B0604020202020204" pitchFamily="34" charset="0"/>
              <a:buChar char="•"/>
            </a:pPr>
            <a:r>
              <a:rPr lang="en-US" sz="1800" b="0" i="0" dirty="0">
                <a:solidFill>
                  <a:srgbClr val="001D35"/>
                </a:solidFill>
                <a:effectLst/>
                <a:latin typeface="Google Sans"/>
              </a:rPr>
              <a:t>Ensure the observation space accurately reflects the information an agent needs to make decisions. </a:t>
            </a:r>
          </a:p>
          <a:p>
            <a:pPr marL="0" indent="0" algn="l">
              <a:buNone/>
            </a:pPr>
            <a:r>
              <a:rPr lang="en-US" sz="1800" b="0" i="0" dirty="0">
                <a:solidFill>
                  <a:srgbClr val="001D35"/>
                </a:solidFill>
                <a:effectLst/>
                <a:latin typeface="Google Sans"/>
              </a:rPr>
              <a:t>Reward function design:</a:t>
            </a:r>
          </a:p>
          <a:p>
            <a:pPr lvl="1" fontAlgn="ctr">
              <a:buFont typeface="Arial" panose="020B0604020202020204" pitchFamily="34" charset="0"/>
              <a:buChar char="•"/>
            </a:pPr>
            <a:r>
              <a:rPr lang="en-US" sz="1800" b="0" i="0" dirty="0">
                <a:solidFill>
                  <a:srgbClr val="001D35"/>
                </a:solidFill>
                <a:effectLst/>
                <a:latin typeface="Google Sans"/>
              </a:rPr>
              <a:t>Carefully craft the reward structure to guide the agent towards the desired behavior. </a:t>
            </a:r>
          </a:p>
          <a:p>
            <a:pPr marL="0" indent="0" algn="l">
              <a:buNone/>
            </a:pPr>
            <a:r>
              <a:rPr lang="en-US" sz="1800" b="0" i="0" dirty="0">
                <a:solidFill>
                  <a:srgbClr val="001D35"/>
                </a:solidFill>
                <a:effectLst/>
                <a:latin typeface="Google Sans"/>
              </a:rPr>
              <a:t>Testing and debugging:</a:t>
            </a:r>
          </a:p>
          <a:p>
            <a:pPr lvl="1">
              <a:buFont typeface="Arial" panose="020B0604020202020204" pitchFamily="34" charset="0"/>
              <a:buChar char="•"/>
            </a:pPr>
            <a:r>
              <a:rPr lang="en-US" sz="1800" b="0" i="0" dirty="0">
                <a:solidFill>
                  <a:srgbClr val="001D35"/>
                </a:solidFill>
                <a:effectLst/>
                <a:latin typeface="Google Sans"/>
              </a:rPr>
              <a:t>Thoroughly test your custom environment to ensure it functions as expected</a:t>
            </a:r>
          </a:p>
          <a:p>
            <a:pPr marL="0" indent="0">
              <a:buNone/>
            </a:pPr>
            <a:r>
              <a:rPr lang="en-US" sz="1800" dirty="0"/>
              <a:t>			Video Link: </a:t>
            </a:r>
            <a:r>
              <a:rPr lang="en-US" sz="1800" dirty="0">
                <a:hlinkClick r:id="rId3"/>
              </a:rPr>
              <a:t>Build your own Environment</a:t>
            </a:r>
            <a:endParaRPr lang="en-US" sz="1800" dirty="0"/>
          </a:p>
        </p:txBody>
      </p:sp>
    </p:spTree>
    <p:extLst>
      <p:ext uri="{BB962C8B-B14F-4D97-AF65-F5344CB8AC3E}">
        <p14:creationId xmlns:p14="http://schemas.microsoft.com/office/powerpoint/2010/main" val="23942751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145192" cy="2667000"/>
          </a:xfrm>
        </p:spPr>
        <p:txBody>
          <a:bodyPr/>
          <a:lstStyle/>
          <a:p>
            <a:pPr lvl="1"/>
            <a:r>
              <a:rPr lang="en-US" sz="2800" dirty="0">
                <a:solidFill>
                  <a:schemeClr val="tx1"/>
                </a:solidFill>
              </a:rPr>
              <a:t>Let us code and build our own environment:</a:t>
            </a:r>
            <a:br>
              <a:rPr lang="en-US" sz="2800" dirty="0">
                <a:solidFill>
                  <a:schemeClr val="tx1"/>
                </a:solidFill>
              </a:rPr>
            </a:br>
            <a:r>
              <a:rPr lang="en-US" sz="2400" dirty="0">
                <a:solidFill>
                  <a:schemeClr val="tx1"/>
                </a:solidFill>
              </a:rPr>
              <a:t>We shall use the same old Mineral Explorer</a:t>
            </a:r>
            <a:endParaRPr lang="en-US" sz="2800" dirty="0">
              <a:solidFill>
                <a:schemeClr val="tx1"/>
              </a:solidFill>
            </a:endParaRP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53</a:t>
            </a:fld>
            <a:endParaRPr lang="en-US"/>
          </a:p>
        </p:txBody>
      </p:sp>
    </p:spTree>
    <p:extLst>
      <p:ext uri="{BB962C8B-B14F-4D97-AF65-F5344CB8AC3E}">
        <p14:creationId xmlns:p14="http://schemas.microsoft.com/office/powerpoint/2010/main" val="235775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3" y="1905000"/>
            <a:ext cx="9243759" cy="2667000"/>
          </a:xfrm>
        </p:spPr>
        <p:txBody>
          <a:bodyPr/>
          <a:lstStyle/>
          <a:p>
            <a:pPr lvl="1"/>
            <a:br>
              <a:rPr lang="en-US" sz="2400" b="0" dirty="0">
                <a:solidFill>
                  <a:schemeClr val="tx1"/>
                </a:solidFill>
              </a:rPr>
            </a:br>
            <a:r>
              <a:rPr lang="en-US" sz="2800" b="0" dirty="0">
                <a:solidFill>
                  <a:schemeClr val="tx1"/>
                </a:solidFill>
              </a:rPr>
              <a:t>HW 2</a:t>
            </a:r>
            <a:endParaRPr lang="en-US" sz="2400" dirty="0">
              <a:solidFill>
                <a:schemeClr val="tx1"/>
              </a:solidFill>
            </a:endParaRP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54</a:t>
            </a:fld>
            <a:endParaRPr lang="en-US"/>
          </a:p>
        </p:txBody>
      </p:sp>
    </p:spTree>
    <p:extLst>
      <p:ext uri="{BB962C8B-B14F-4D97-AF65-F5344CB8AC3E}">
        <p14:creationId xmlns:p14="http://schemas.microsoft.com/office/powerpoint/2010/main" val="2392246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Part 1: MQTT</a:t>
            </a: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7" y="1808018"/>
            <a:ext cx="10435146" cy="4540827"/>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342900" indent="-342900">
              <a:buAutoNum type="arabicPeriod"/>
            </a:pPr>
            <a:r>
              <a:rPr lang="en-US" sz="1600" dirty="0"/>
              <a:t>Write separate python scripts, for publishing data and to receive that data using MQTT.</a:t>
            </a:r>
          </a:p>
          <a:p>
            <a:pPr marL="342900" indent="-342900">
              <a:buAutoNum type="arabicPeriod"/>
            </a:pPr>
            <a:r>
              <a:rPr lang="en-US" sz="1600" dirty="0"/>
              <a:t>You will write 2 separate publish scripts </a:t>
            </a:r>
          </a:p>
          <a:p>
            <a:pPr marL="699516" lvl="1" indent="-342900"/>
            <a:r>
              <a:rPr lang="en-US" sz="1600" dirty="0"/>
              <a:t>one for temperature and humidity with numbers for temperature ranging between 50 to 52 F and numbers for humidity between 60 and 80 percentage.</a:t>
            </a:r>
          </a:p>
          <a:p>
            <a:pPr marL="699516" lvl="1" indent="-342900"/>
            <a:r>
              <a:rPr lang="en-US" sz="1600" dirty="0"/>
              <a:t>the other publish file will be for rainfall with numbers ranging between 0 and 2 inches.</a:t>
            </a:r>
          </a:p>
          <a:p>
            <a:pPr marL="699516" lvl="1" indent="-342900"/>
            <a:endParaRPr lang="en-US" sz="1600" dirty="0"/>
          </a:p>
          <a:p>
            <a:pPr marL="342900" indent="-342900">
              <a:buFont typeface="+mj-lt"/>
              <a:buAutoNum type="arabicPeriod"/>
            </a:pPr>
            <a:r>
              <a:rPr lang="en-US" sz="1600" dirty="0"/>
              <a:t>You will also write 2 separate subscriber scripts with</a:t>
            </a:r>
          </a:p>
          <a:p>
            <a:pPr marL="699516" lvl="1" indent="-342900"/>
            <a:r>
              <a:rPr lang="en-US" sz="1600" dirty="0"/>
              <a:t>One subscriber subscribing to all the weather data </a:t>
            </a:r>
          </a:p>
          <a:p>
            <a:pPr marL="699516" lvl="1" indent="-342900"/>
            <a:r>
              <a:rPr lang="en-US" sz="1600" dirty="0"/>
              <a:t>This script will start getting the data with </a:t>
            </a:r>
            <a:r>
              <a:rPr lang="en-US" sz="1600" dirty="0" err="1"/>
              <a:t>client.loop_start</a:t>
            </a:r>
            <a:r>
              <a:rPr lang="en-US" sz="1600" dirty="0"/>
              <a:t>() and when 50 data points are reached, it will stop subscribing using </a:t>
            </a:r>
            <a:r>
              <a:rPr lang="en-US" sz="1600" dirty="0" err="1"/>
              <a:t>client.loop_stop</a:t>
            </a:r>
            <a:r>
              <a:rPr lang="en-US" sz="1600" dirty="0"/>
              <a:t>()</a:t>
            </a:r>
          </a:p>
          <a:p>
            <a:pPr marL="699516" lvl="1" indent="-342900"/>
            <a:r>
              <a:rPr lang="en-US" sz="1600" dirty="0"/>
              <a:t>The other subscriber will receive the temperate and humidity data and will </a:t>
            </a:r>
            <a:r>
              <a:rPr lang="en-US" sz="1600" dirty="0" err="1"/>
              <a:t>loop_forever</a:t>
            </a:r>
            <a:r>
              <a:rPr lang="en-US" sz="1600" dirty="0"/>
              <a:t>.</a:t>
            </a:r>
          </a:p>
          <a:p>
            <a:pPr marL="342900" indent="-342900">
              <a:buFont typeface="+mj-lt"/>
              <a:buAutoNum type="arabicPeriod"/>
            </a:pPr>
            <a:endParaRPr lang="en-US" sz="1600" dirty="0"/>
          </a:p>
        </p:txBody>
      </p:sp>
    </p:spTree>
    <p:extLst>
      <p:ext uri="{BB962C8B-B14F-4D97-AF65-F5344CB8AC3E}">
        <p14:creationId xmlns:p14="http://schemas.microsoft.com/office/powerpoint/2010/main" val="397026438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2D0A0-16ED-0BDA-3DAF-C57D5D3253B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715342C6-D522-DB8E-AB41-4A3E7A9ECB16}"/>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Part 2: Build the DQN Model for the MountainCar-v0</a:t>
            </a:r>
          </a:p>
        </p:txBody>
      </p:sp>
      <p:sp>
        <p:nvSpPr>
          <p:cNvPr id="5" name="Content Placeholder 2">
            <a:extLst>
              <a:ext uri="{FF2B5EF4-FFF2-40B4-BE49-F238E27FC236}">
                <a16:creationId xmlns:a16="http://schemas.microsoft.com/office/drawing/2014/main" id="{E2E996EE-879C-7E47-37BC-D739B0F01A34}"/>
              </a:ext>
            </a:extLst>
          </p:cNvPr>
          <p:cNvSpPr txBox="1">
            <a:spLocks/>
          </p:cNvSpPr>
          <p:nvPr/>
        </p:nvSpPr>
        <p:spPr>
          <a:xfrm>
            <a:off x="1469307" y="1808018"/>
            <a:ext cx="10435146" cy="4540827"/>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342900" indent="-342900">
              <a:buAutoNum type="arabicPeriod"/>
            </a:pPr>
            <a:r>
              <a:rPr lang="en-US" sz="1600" dirty="0"/>
              <a:t>From the Farama Gymnasium library choose the version  MountainCar-v0"</a:t>
            </a:r>
            <a:r>
              <a:rPr lang="en-US" sz="1600" b="1" dirty="0"/>
              <a:t>. </a:t>
            </a:r>
            <a:r>
              <a:rPr lang="en-US" sz="1600" dirty="0"/>
              <a:t>This is the version with continuous spaces and discrete actions.</a:t>
            </a:r>
            <a:endParaRPr lang="en-US" sz="1600" baseline="30000" dirty="0"/>
          </a:p>
          <a:p>
            <a:pPr marL="342900" indent="-342900">
              <a:buFont typeface="+mj-lt"/>
              <a:buAutoNum type="arabicPeriod"/>
            </a:pPr>
            <a:r>
              <a:rPr lang="en-US" sz="1600" dirty="0"/>
              <a:t>Build the solution from scratch using the DQN algorithm.</a:t>
            </a:r>
          </a:p>
          <a:p>
            <a:pPr marL="342900" indent="-342900">
              <a:buFont typeface="+mj-lt"/>
              <a:buAutoNum type="arabicPeriod"/>
            </a:pPr>
            <a:r>
              <a:rPr lang="en-US" sz="1600" dirty="0"/>
              <a:t>Check the goals, rewards and other details in the documentation on the webpage of Farama Gymnasium - </a:t>
            </a:r>
            <a:r>
              <a:rPr lang="en-US" sz="1600" dirty="0">
                <a:hlinkClick r:id="rId3"/>
              </a:rPr>
              <a:t>https://gymnasium.farama.org/environments/classic_control/mountain_car/</a:t>
            </a:r>
            <a:endParaRPr lang="en-US" sz="1600" dirty="0"/>
          </a:p>
          <a:p>
            <a:pPr marL="342900" indent="-342900">
              <a:buFont typeface="+mj-lt"/>
              <a:buAutoNum type="arabicPeriod"/>
            </a:pPr>
            <a:r>
              <a:rPr lang="en-US" sz="1600" dirty="0"/>
              <a:t>You will write a separate function for the NN training and build a simple architecture for that.</a:t>
            </a:r>
          </a:p>
          <a:p>
            <a:pPr marL="342900" indent="-342900">
              <a:buFont typeface="+mj-lt"/>
              <a:buAutoNum type="arabicPeriod"/>
            </a:pPr>
            <a:r>
              <a:rPr lang="en-US" sz="1600" dirty="0"/>
              <a:t>You will write the training loop such that the Neural Network that you build is separate function and is called from the main training loop.</a:t>
            </a:r>
          </a:p>
          <a:p>
            <a:pPr marL="342900" indent="-342900">
              <a:buFont typeface="+mj-lt"/>
              <a:buAutoNum type="arabicPeriod"/>
            </a:pPr>
            <a:r>
              <a:rPr lang="en-US" sz="1600" dirty="0"/>
              <a:t>Once the model achieves its goals (based on details given in the gymnasium documentation) save the model.</a:t>
            </a:r>
          </a:p>
          <a:p>
            <a:pPr marL="342900" indent="-342900">
              <a:buFont typeface="+mj-lt"/>
              <a:buAutoNum type="arabicPeriod"/>
            </a:pPr>
            <a:r>
              <a:rPr lang="en-US" sz="1600" dirty="0"/>
              <a:t>Use the saved model (the Policy) to run 5 complete episodes with flawless goal achievement.</a:t>
            </a:r>
          </a:p>
          <a:p>
            <a:pPr marL="342900" indent="-342900">
              <a:buFont typeface="+mj-lt"/>
              <a:buAutoNum type="arabicPeriod"/>
            </a:pPr>
            <a:endParaRPr lang="en-US" sz="1600" dirty="0"/>
          </a:p>
          <a:p>
            <a:pPr marL="342900" indent="-342900">
              <a:buFont typeface="+mj-lt"/>
              <a:buAutoNum type="arabicPeriod"/>
            </a:pPr>
            <a:endParaRPr lang="en-US" sz="1600" dirty="0"/>
          </a:p>
        </p:txBody>
      </p:sp>
    </p:spTree>
    <p:extLst>
      <p:ext uri="{BB962C8B-B14F-4D97-AF65-F5344CB8AC3E}">
        <p14:creationId xmlns:p14="http://schemas.microsoft.com/office/powerpoint/2010/main" val="32214909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B4935-E0F7-6AE0-E38A-B1225BA3B907}"/>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F94A2D52-EB0C-5286-C734-5E4FAC1910EA}"/>
              </a:ext>
            </a:extLst>
          </p:cNvPr>
          <p:cNvSpPr txBox="1">
            <a:spLocks/>
          </p:cNvSpPr>
          <p:nvPr/>
        </p:nvSpPr>
        <p:spPr bwMode="auto">
          <a:xfrm>
            <a:off x="1469307" y="619650"/>
            <a:ext cx="9486239"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r>
              <a:rPr lang="en-US" sz="2800" b="0" dirty="0">
                <a:solidFill>
                  <a:schemeClr val="tx1"/>
                </a:solidFill>
              </a:rPr>
              <a:t>Due data and grading</a:t>
            </a:r>
          </a:p>
        </p:txBody>
      </p:sp>
      <p:sp>
        <p:nvSpPr>
          <p:cNvPr id="5" name="Content Placeholder 2">
            <a:extLst>
              <a:ext uri="{FF2B5EF4-FFF2-40B4-BE49-F238E27FC236}">
                <a16:creationId xmlns:a16="http://schemas.microsoft.com/office/drawing/2014/main" id="{38EA9D60-AD45-01D1-12F0-C922A1224FD8}"/>
              </a:ext>
            </a:extLst>
          </p:cNvPr>
          <p:cNvSpPr txBox="1">
            <a:spLocks/>
          </p:cNvSpPr>
          <p:nvPr/>
        </p:nvSpPr>
        <p:spPr>
          <a:xfrm>
            <a:off x="1469307" y="1661714"/>
            <a:ext cx="10435146" cy="5049982"/>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342900" indent="-342900">
              <a:buFont typeface="+mj-lt"/>
              <a:buAutoNum type="arabicPeriod"/>
            </a:pPr>
            <a:r>
              <a:rPr lang="en-US" sz="1600" dirty="0"/>
              <a:t>HW 2 will be due by October 3</a:t>
            </a:r>
            <a:r>
              <a:rPr lang="en-US" sz="1600" baseline="30000" dirty="0"/>
              <a:t>rd</a:t>
            </a:r>
            <a:r>
              <a:rPr lang="en-US" sz="1600" dirty="0"/>
              <a:t> midnight.</a:t>
            </a:r>
          </a:p>
          <a:p>
            <a:pPr marL="342900" indent="-342900">
              <a:buFont typeface="+mj-lt"/>
              <a:buAutoNum type="arabicPeriod"/>
            </a:pPr>
            <a:r>
              <a:rPr lang="en-US" sz="1600" dirty="0"/>
              <a:t>Grading criteria (weightage 40-60)</a:t>
            </a:r>
          </a:p>
          <a:p>
            <a:pPr marL="699516" lvl="1" indent="-342900"/>
            <a:r>
              <a:rPr lang="en-US" sz="1600" dirty="0"/>
              <a:t>All code is implemented as per instructions and runs error free</a:t>
            </a:r>
          </a:p>
          <a:p>
            <a:pPr marL="699516" lvl="1" indent="-342900"/>
            <a:r>
              <a:rPr lang="en-US" sz="1600" dirty="0"/>
              <a:t>Questions given below are answered for each part</a:t>
            </a:r>
          </a:p>
          <a:p>
            <a:pPr marL="699516" lvl="1" indent="-342900"/>
            <a:r>
              <a:rPr lang="en-US" sz="1600" dirty="0"/>
              <a:t>Code is well commented </a:t>
            </a:r>
          </a:p>
          <a:p>
            <a:pPr marL="342900" indent="-342900">
              <a:buFont typeface="+mj-lt"/>
              <a:buAutoNum type="arabicPeriod"/>
            </a:pPr>
            <a:r>
              <a:rPr lang="en-US" sz="1600" dirty="0"/>
              <a:t>Part 1 Questions:</a:t>
            </a:r>
          </a:p>
          <a:p>
            <a:pPr marL="699516" lvl="1" indent="-342900"/>
            <a:r>
              <a:rPr lang="en-US" sz="1600" dirty="0"/>
              <a:t>What was you biggest takeaway from the MQTT exercise</a:t>
            </a:r>
          </a:p>
          <a:p>
            <a:pPr marL="699516" lvl="1" indent="-342900"/>
            <a:r>
              <a:rPr lang="en-US" sz="1600" dirty="0"/>
              <a:t>What is different between looping forever and looping with start – stop? 4. Part 2 Questions:</a:t>
            </a:r>
          </a:p>
          <a:p>
            <a:pPr marL="342900" indent="-342900">
              <a:buFont typeface="+mj-lt"/>
              <a:buAutoNum type="arabicPeriod"/>
            </a:pPr>
            <a:r>
              <a:rPr lang="en-US" sz="1600" dirty="0"/>
              <a:t>Part 2 Questions:</a:t>
            </a:r>
          </a:p>
          <a:p>
            <a:pPr marL="699516" lvl="1" indent="-342900"/>
            <a:r>
              <a:rPr lang="en-US" sz="1600" dirty="0"/>
              <a:t>Explain how DQN works in the application that you built? Answer should be specific to what you developed.</a:t>
            </a:r>
          </a:p>
          <a:p>
            <a:pPr marL="699516" lvl="1" indent="-342900"/>
            <a:r>
              <a:rPr lang="en-US" sz="1600" dirty="0"/>
              <a:t>Give me an example of a RL environment that you would like to design for training an agent to operate in it. Something from things you are learning in engineering / MIS.</a:t>
            </a:r>
          </a:p>
          <a:p>
            <a:pPr marL="699516" lvl="1" indent="-342900"/>
            <a:endParaRPr lang="en-US" sz="1600" dirty="0"/>
          </a:p>
          <a:p>
            <a:pPr marL="0" indent="0">
              <a:buNone/>
            </a:pPr>
            <a:endParaRPr lang="en-US" sz="1600" dirty="0"/>
          </a:p>
          <a:p>
            <a:pPr marL="342900" indent="-342900">
              <a:buFont typeface="+mj-lt"/>
              <a:buAutoNum type="arabicPeriod"/>
            </a:pPr>
            <a:endParaRPr lang="en-US" sz="1600" dirty="0"/>
          </a:p>
        </p:txBody>
      </p:sp>
    </p:spTree>
    <p:extLst>
      <p:ext uri="{BB962C8B-B14F-4D97-AF65-F5344CB8AC3E}">
        <p14:creationId xmlns:p14="http://schemas.microsoft.com/office/powerpoint/2010/main" val="1908209427"/>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2" y="1905000"/>
            <a:ext cx="9634457" cy="2667000"/>
          </a:xfrm>
        </p:spPr>
        <p:txBody>
          <a:bodyPr>
            <a:normAutofit/>
          </a:bodyPr>
          <a:lstStyle/>
          <a:p>
            <a:r>
              <a:rPr lang="en-US" sz="3600" dirty="0"/>
              <a:t>Introduction to Sound or Audio as Data</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97155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A65FC-0548-05FF-E6EF-5DD039B2A32C}"/>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761B632-021F-22D3-8AC2-73B8E1D50BC5}"/>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endParaRPr lang="en-US" sz="2800" b="0" dirty="0">
              <a:solidFill>
                <a:schemeClr val="tx1"/>
              </a:solidFill>
            </a:endParaRPr>
          </a:p>
        </p:txBody>
      </p:sp>
      <p:sp>
        <p:nvSpPr>
          <p:cNvPr id="5" name="Content Placeholder 2">
            <a:extLst>
              <a:ext uri="{FF2B5EF4-FFF2-40B4-BE49-F238E27FC236}">
                <a16:creationId xmlns:a16="http://schemas.microsoft.com/office/drawing/2014/main" id="{ABF7F04C-D847-F43D-64F5-2B1670EA9263}"/>
              </a:ext>
            </a:extLst>
          </p:cNvPr>
          <p:cNvSpPr txBox="1">
            <a:spLocks/>
          </p:cNvSpPr>
          <p:nvPr/>
        </p:nvSpPr>
        <p:spPr>
          <a:xfrm>
            <a:off x="1469308" y="1930291"/>
            <a:ext cx="8461952" cy="3921870"/>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pPr marL="0" indent="0">
              <a:buNone/>
            </a:pPr>
            <a:r>
              <a:rPr lang="en-US" sz="1800" dirty="0"/>
              <a:t>Easy way is to compare it with image as data -</a:t>
            </a:r>
          </a:p>
          <a:p>
            <a:pPr marL="285750" indent="-285750"/>
            <a:r>
              <a:rPr lang="en-US" sz="1800" dirty="0"/>
              <a:t>An image is a grid of:</a:t>
            </a:r>
          </a:p>
          <a:p>
            <a:pPr marL="642366" lvl="1" indent="-285750"/>
            <a:r>
              <a:rPr lang="en-US" sz="1800" dirty="0"/>
              <a:t>tiny dots called </a:t>
            </a:r>
            <a:r>
              <a:rPr lang="en-US" sz="1800" b="1" dirty="0"/>
              <a:t>pixels</a:t>
            </a:r>
            <a:r>
              <a:rPr lang="en-US" sz="1800" dirty="0"/>
              <a:t>, </a:t>
            </a:r>
          </a:p>
          <a:p>
            <a:pPr marL="642366" lvl="1" indent="-285750"/>
            <a:r>
              <a:rPr lang="en-US" sz="1800" dirty="0"/>
              <a:t>and each pixel has a number representing its color</a:t>
            </a:r>
          </a:p>
          <a:p>
            <a:pPr marL="642366" lvl="1" indent="-285750"/>
            <a:endParaRPr lang="en-US" sz="1800" dirty="0"/>
          </a:p>
          <a:p>
            <a:pPr marL="285750" indent="-285750"/>
            <a:r>
              <a:rPr lang="en-US" sz="1800" b="1" dirty="0"/>
              <a:t>Sound as data</a:t>
            </a:r>
            <a:r>
              <a:rPr lang="en-US" sz="1800" dirty="0"/>
              <a:t> is:</a:t>
            </a:r>
          </a:p>
          <a:p>
            <a:pPr marL="642366" lvl="1" indent="-285750"/>
            <a:r>
              <a:rPr lang="en-US" sz="1800" dirty="0"/>
              <a:t>simply a long, ordered sequence of numbers, </a:t>
            </a:r>
          </a:p>
          <a:p>
            <a:pPr marL="642366" lvl="1" indent="-285750"/>
            <a:r>
              <a:rPr lang="en-US" sz="1800" dirty="0"/>
              <a:t>each number represents how much the air pressure is vibrating (the loudness) at a specific instant in time.</a:t>
            </a:r>
          </a:p>
        </p:txBody>
      </p:sp>
      <p:sp>
        <p:nvSpPr>
          <p:cNvPr id="2" name="Title 1">
            <a:extLst>
              <a:ext uri="{FF2B5EF4-FFF2-40B4-BE49-F238E27FC236}">
                <a16:creationId xmlns:a16="http://schemas.microsoft.com/office/drawing/2014/main" id="{B90F137A-46DF-2F3E-6122-DA345838C68F}"/>
              </a:ext>
            </a:extLst>
          </p:cNvPr>
          <p:cNvSpPr>
            <a:spLocks noGrp="1"/>
          </p:cNvSpPr>
          <p:nvPr>
            <p:ph type="title"/>
          </p:nvPr>
        </p:nvSpPr>
        <p:spPr/>
        <p:txBody>
          <a:bodyPr>
            <a:normAutofit/>
          </a:bodyPr>
          <a:lstStyle/>
          <a:p>
            <a:r>
              <a:rPr lang="en-US" sz="2800" dirty="0">
                <a:solidFill>
                  <a:schemeClr val="tx1"/>
                </a:solidFill>
              </a:rPr>
              <a:t>Sound as data – how should we understand it </a:t>
            </a:r>
            <a:endParaRPr lang="en-US" sz="2800" dirty="0"/>
          </a:p>
        </p:txBody>
      </p:sp>
    </p:spTree>
    <p:extLst>
      <p:ext uri="{BB962C8B-B14F-4D97-AF65-F5344CB8AC3E}">
        <p14:creationId xmlns:p14="http://schemas.microsoft.com/office/powerpoint/2010/main" val="9961986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EF343-F77D-E655-DE9F-15F2906D3C2E}"/>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64AD7308-9C7D-496A-018D-19EC97921672}"/>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endParaRPr lang="en-US" sz="3200" b="0" dirty="0">
              <a:solidFill>
                <a:schemeClr val="tx1"/>
              </a:solidFill>
            </a:endParaRPr>
          </a:p>
        </p:txBody>
      </p:sp>
      <p:sp>
        <p:nvSpPr>
          <p:cNvPr id="6" name="TextBox 5">
            <a:extLst>
              <a:ext uri="{FF2B5EF4-FFF2-40B4-BE49-F238E27FC236}">
                <a16:creationId xmlns:a16="http://schemas.microsoft.com/office/drawing/2014/main" id="{B5C96ED2-C62D-0CE4-A5A3-3AC241E1F295}"/>
              </a:ext>
            </a:extLst>
          </p:cNvPr>
          <p:cNvSpPr txBox="1"/>
          <p:nvPr/>
        </p:nvSpPr>
        <p:spPr>
          <a:xfrm>
            <a:off x="592282" y="1619058"/>
            <a:ext cx="8341406" cy="5047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buFont typeface="Arial" panose="020B0604020202020204" pitchFamily="34" charset="0"/>
              <a:buChar char="•"/>
            </a:pPr>
            <a:r>
              <a:rPr lang="en-US" sz="1600" dirty="0"/>
              <a:t>Audio, which is another form of unstructured data, is essentially </a:t>
            </a:r>
            <a:r>
              <a:rPr lang="en-US" sz="1600" b="1" dirty="0"/>
              <a:t>sound represented in a way that can be recorded, stored, transmitted, and reproduced</a:t>
            </a:r>
            <a:r>
              <a:rPr lang="en-US" sz="1600" dirty="0"/>
              <a:t>. </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dirty="0"/>
              <a:t>It's the vibration of air molecules that our ears perceive as sound but captured and converted into a form that machines can understand.</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b="1" dirty="0"/>
              <a:t>Analog Representation:</a:t>
            </a:r>
            <a:r>
              <a:rPr lang="en-US" sz="1600" dirty="0"/>
              <a:t> This is the natural form of audio, where the sound waves are directly represented as continuous variations in a physical medium. </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b="1" dirty="0"/>
              <a:t>Digital Representation: </a:t>
            </a:r>
          </a:p>
          <a:p>
            <a:pPr lvl="2" indent="0"/>
            <a:r>
              <a:rPr lang="en-US" sz="1600" b="1" dirty="0"/>
              <a:t>	- </a:t>
            </a:r>
            <a:r>
              <a:rPr lang="en-US" sz="1600" dirty="0"/>
              <a:t>This is how audio is stored and processed in computers and modern devices. 	- The continuous sound wave is converted into a series of discrete numbers (samples) 	   through a process called sampling. </a:t>
            </a:r>
          </a:p>
          <a:p>
            <a:pPr lvl="2" indent="0"/>
            <a:r>
              <a:rPr lang="en-US" sz="1600" dirty="0"/>
              <a:t>	- Each sample represents the amplitude of the sound wave at a specific point in time.</a:t>
            </a:r>
          </a:p>
          <a:p>
            <a:pPr marL="342900" indent="-34290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Imagine a bird singing.</a:t>
            </a:r>
          </a:p>
          <a:p>
            <a:pPr lvl="1"/>
            <a:r>
              <a:rPr lang="en-US" b="1" dirty="0"/>
              <a:t>- </a:t>
            </a:r>
            <a:r>
              <a:rPr lang="en-US" sz="1600" dirty="0"/>
              <a:t>The bird's song itself is the audio.</a:t>
            </a:r>
          </a:p>
          <a:p>
            <a:pPr lvl="1"/>
            <a:r>
              <a:rPr lang="en-US" sz="1600" dirty="0"/>
              <a:t>- </a:t>
            </a:r>
            <a:r>
              <a:rPr lang="en-US" sz="1600" b="1" dirty="0"/>
              <a:t>Analog representation: </a:t>
            </a:r>
            <a:r>
              <a:rPr lang="en-US" sz="1600" dirty="0"/>
              <a:t>Recording the song on Vinyl.</a:t>
            </a:r>
          </a:p>
          <a:p>
            <a:pPr lvl="1"/>
            <a:r>
              <a:rPr lang="en-US" sz="1600" dirty="0"/>
              <a:t>- </a:t>
            </a:r>
            <a:r>
              <a:rPr lang="en-US" sz="1600" b="1" dirty="0"/>
              <a:t>Digital representation: </a:t>
            </a:r>
            <a:r>
              <a:rPr lang="en-US" sz="1600" dirty="0"/>
              <a:t>Recording the song on your smartphone as an MP3 file.</a:t>
            </a:r>
          </a:p>
          <a:p>
            <a:pPr marL="342900" indent="-342900">
              <a:buFont typeface="Arial" panose="020B0604020202020204" pitchFamily="34" charset="0"/>
              <a:buChar char="•"/>
            </a:pPr>
            <a:endParaRPr lang="en-US" sz="1600" dirty="0"/>
          </a:p>
        </p:txBody>
      </p:sp>
      <p:pic>
        <p:nvPicPr>
          <p:cNvPr id="5" name="Picture 4">
            <a:extLst>
              <a:ext uri="{FF2B5EF4-FFF2-40B4-BE49-F238E27FC236}">
                <a16:creationId xmlns:a16="http://schemas.microsoft.com/office/drawing/2014/main" id="{9B4E6596-8970-6DE2-D4E7-525274E5E599}"/>
              </a:ext>
            </a:extLst>
          </p:cNvPr>
          <p:cNvPicPr>
            <a:picLocks noChangeAspect="1"/>
          </p:cNvPicPr>
          <p:nvPr/>
        </p:nvPicPr>
        <p:blipFill>
          <a:blip r:embed="rId3"/>
          <a:stretch>
            <a:fillRect/>
          </a:stretch>
        </p:blipFill>
        <p:spPr>
          <a:xfrm>
            <a:off x="9168258" y="1675126"/>
            <a:ext cx="2986782" cy="1094106"/>
          </a:xfrm>
          <a:prstGeom prst="rect">
            <a:avLst/>
          </a:prstGeom>
        </p:spPr>
      </p:pic>
      <p:pic>
        <p:nvPicPr>
          <p:cNvPr id="7" name="Picture 6">
            <a:extLst>
              <a:ext uri="{FF2B5EF4-FFF2-40B4-BE49-F238E27FC236}">
                <a16:creationId xmlns:a16="http://schemas.microsoft.com/office/drawing/2014/main" id="{2F558E30-5334-C378-FA24-53BA0169C3D5}"/>
              </a:ext>
            </a:extLst>
          </p:cNvPr>
          <p:cNvPicPr>
            <a:picLocks noChangeAspect="1"/>
          </p:cNvPicPr>
          <p:nvPr/>
        </p:nvPicPr>
        <p:blipFill>
          <a:blip r:embed="rId4"/>
          <a:stretch>
            <a:fillRect/>
          </a:stretch>
        </p:blipFill>
        <p:spPr>
          <a:xfrm>
            <a:off x="9247908" y="3270557"/>
            <a:ext cx="3000320" cy="1000107"/>
          </a:xfrm>
          <a:prstGeom prst="rect">
            <a:avLst/>
          </a:prstGeom>
        </p:spPr>
      </p:pic>
      <p:pic>
        <p:nvPicPr>
          <p:cNvPr id="8" name="Picture 7">
            <a:extLst>
              <a:ext uri="{FF2B5EF4-FFF2-40B4-BE49-F238E27FC236}">
                <a16:creationId xmlns:a16="http://schemas.microsoft.com/office/drawing/2014/main" id="{A1301B3E-BA7B-9CB6-8CF5-18925F295D0B}"/>
              </a:ext>
            </a:extLst>
          </p:cNvPr>
          <p:cNvPicPr>
            <a:picLocks noChangeAspect="1"/>
          </p:cNvPicPr>
          <p:nvPr/>
        </p:nvPicPr>
        <p:blipFill>
          <a:blip r:embed="rId5"/>
          <a:stretch>
            <a:fillRect/>
          </a:stretch>
        </p:blipFill>
        <p:spPr>
          <a:xfrm>
            <a:off x="9557325" y="5002816"/>
            <a:ext cx="2597715" cy="1232733"/>
          </a:xfrm>
          <a:prstGeom prst="rect">
            <a:avLst/>
          </a:prstGeom>
        </p:spPr>
      </p:pic>
      <p:sp>
        <p:nvSpPr>
          <p:cNvPr id="9" name="Title 8">
            <a:extLst>
              <a:ext uri="{FF2B5EF4-FFF2-40B4-BE49-F238E27FC236}">
                <a16:creationId xmlns:a16="http://schemas.microsoft.com/office/drawing/2014/main" id="{FF973DD3-3352-76A3-B171-6BFB704C465D}"/>
              </a:ext>
            </a:extLst>
          </p:cNvPr>
          <p:cNvSpPr>
            <a:spLocks noGrp="1"/>
          </p:cNvSpPr>
          <p:nvPr>
            <p:ph type="title"/>
          </p:nvPr>
        </p:nvSpPr>
        <p:spPr/>
        <p:txBody>
          <a:bodyPr>
            <a:normAutofit/>
          </a:bodyPr>
          <a:lstStyle/>
          <a:p>
            <a:r>
              <a:rPr lang="en-US" sz="3200" b="0" dirty="0">
                <a:solidFill>
                  <a:schemeClr val="tx1"/>
                </a:solidFill>
              </a:rPr>
              <a:t>What is audio?</a:t>
            </a:r>
            <a:endParaRPr lang="en-US" dirty="0"/>
          </a:p>
        </p:txBody>
      </p:sp>
    </p:spTree>
    <p:extLst>
      <p:ext uri="{BB962C8B-B14F-4D97-AF65-F5344CB8AC3E}">
        <p14:creationId xmlns:p14="http://schemas.microsoft.com/office/powerpoint/2010/main" val="300933148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2A373-CD8B-EBB2-C594-4134999979E2}"/>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D247B67-EA18-8D1D-F0A8-B90996D7AD06}"/>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endParaRPr lang="en-US" sz="3200" b="0" dirty="0">
              <a:solidFill>
                <a:schemeClr val="tx1"/>
              </a:solidFill>
            </a:endParaRPr>
          </a:p>
        </p:txBody>
      </p:sp>
      <p:sp>
        <p:nvSpPr>
          <p:cNvPr id="6" name="TextBox 5">
            <a:extLst>
              <a:ext uri="{FF2B5EF4-FFF2-40B4-BE49-F238E27FC236}">
                <a16:creationId xmlns:a16="http://schemas.microsoft.com/office/drawing/2014/main" id="{9F5E83EA-DA49-E760-42C3-CD3FB16A2ABA}"/>
              </a:ext>
            </a:extLst>
          </p:cNvPr>
          <p:cNvSpPr txBox="1"/>
          <p:nvPr/>
        </p:nvSpPr>
        <p:spPr>
          <a:xfrm>
            <a:off x="592282" y="1488564"/>
            <a:ext cx="8873836" cy="437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90000"/>
              </a:lnSpc>
              <a:spcBef>
                <a:spcPts val="1800"/>
              </a:spcBef>
              <a:buSzPct val="100000"/>
            </a:pPr>
            <a:r>
              <a:rPr lang="en-US" sz="1400" dirty="0"/>
              <a:t>Think of a continuous audio signal as a smooth curve. </a:t>
            </a:r>
          </a:p>
          <a:p>
            <a:pPr marL="285750" lvl="8" indent="-285750">
              <a:buFont typeface="Arial" panose="020B0604020202020204" pitchFamily="34" charset="0"/>
              <a:buChar char="•"/>
            </a:pPr>
            <a:r>
              <a:rPr lang="en-US" sz="1400" dirty="0"/>
              <a:t>Sampling is the process of taking discrete measurements of this curve at regular intervals. </a:t>
            </a:r>
          </a:p>
          <a:p>
            <a:pPr marL="285750" lvl="8" indent="-285750">
              <a:buFont typeface="Arial" panose="020B0604020202020204" pitchFamily="34" charset="0"/>
              <a:buChar char="•"/>
            </a:pPr>
            <a:r>
              <a:rPr lang="en-US" sz="1400" dirty="0"/>
              <a:t>It's like taking snapshots of the curve at specific points in time.</a:t>
            </a:r>
          </a:p>
          <a:p>
            <a:pPr marL="285750" lvl="8" indent="-285750">
              <a:buFont typeface="Arial" panose="020B0604020202020204" pitchFamily="34" charset="0"/>
              <a:buChar char="•"/>
            </a:pPr>
            <a:endParaRPr lang="en-US" sz="1400" dirty="0"/>
          </a:p>
          <a:p>
            <a:r>
              <a:rPr lang="en-US" sz="1400" dirty="0"/>
              <a:t>Why is Sampling Done?</a:t>
            </a:r>
          </a:p>
          <a:p>
            <a:pPr marL="285750" indent="-285750">
              <a:buFont typeface="Arial" panose="020B0604020202020204" pitchFamily="34" charset="0"/>
              <a:buChar char="•"/>
            </a:pPr>
            <a:r>
              <a:rPr lang="en-US" sz="1400" b="1" dirty="0"/>
              <a:t>Digital Representation: </a:t>
            </a:r>
            <a:r>
              <a:rPr lang="en-US" sz="1400" dirty="0"/>
              <a:t>Computers can only process digital data. Sampling converts the continuous analog audio signal into a digital format.</a:t>
            </a:r>
          </a:p>
          <a:p>
            <a:pPr marL="285750" indent="-285750">
              <a:buFont typeface="Arial" panose="020B0604020202020204" pitchFamily="34" charset="0"/>
              <a:buChar char="•"/>
            </a:pPr>
            <a:r>
              <a:rPr lang="en-US" sz="1400" b="1" dirty="0"/>
              <a:t>Storage and Transmission: </a:t>
            </a:r>
            <a:r>
              <a:rPr lang="en-US" sz="1400" dirty="0"/>
              <a:t>Sampled audio data can be easily stored and transmitted in digital form.</a:t>
            </a:r>
          </a:p>
          <a:p>
            <a:pPr marL="285750" indent="-285750">
              <a:buFont typeface="Arial" panose="020B0604020202020204" pitchFamily="34" charset="0"/>
              <a:buChar char="•"/>
            </a:pPr>
            <a:r>
              <a:rPr lang="en-US" sz="1400" b="1" dirty="0"/>
              <a:t>Feature Extraction: </a:t>
            </a:r>
            <a:r>
              <a:rPr lang="en-US" sz="1400" dirty="0"/>
              <a:t>Many feature extraction techniques, especially in classical machine learning, require discrete time-domain or frequency-domain representations.</a:t>
            </a:r>
          </a:p>
          <a:p>
            <a:endParaRPr lang="en-US" sz="1400" b="1" dirty="0"/>
          </a:p>
          <a:p>
            <a:r>
              <a:rPr lang="en-US" sz="1400" dirty="0"/>
              <a:t>How is Sampling Done?</a:t>
            </a:r>
          </a:p>
          <a:p>
            <a:pPr marL="285750" indent="-285750">
              <a:buFont typeface="Arial" panose="020B0604020202020204" pitchFamily="34" charset="0"/>
              <a:buChar char="•"/>
            </a:pPr>
            <a:r>
              <a:rPr lang="en-US" sz="1400" dirty="0"/>
              <a:t>The sampling rate determines the number of samples taken per second. </a:t>
            </a:r>
          </a:p>
          <a:p>
            <a:pPr marL="285750" indent="-285750">
              <a:buFont typeface="Arial" panose="020B0604020202020204" pitchFamily="34" charset="0"/>
              <a:buChar char="•"/>
            </a:pPr>
            <a:r>
              <a:rPr lang="en-US" sz="1400" dirty="0"/>
              <a:t>A higher sampling rate captures more detail of the original signal but also requires more storage space.</a:t>
            </a:r>
          </a:p>
          <a:p>
            <a:pPr marL="285750" indent="-285750">
              <a:buFont typeface="Arial" panose="020B0604020202020204" pitchFamily="34" charset="0"/>
              <a:buChar char="•"/>
            </a:pPr>
            <a:endParaRPr lang="en-US" sz="1400" dirty="0"/>
          </a:p>
          <a:p>
            <a:r>
              <a:rPr lang="en-US" sz="1400" b="1" dirty="0"/>
              <a:t>Choosing the Right Sampling Rate:</a:t>
            </a:r>
            <a:endParaRPr lang="en-US" sz="1400" dirty="0"/>
          </a:p>
          <a:p>
            <a:pPr marL="285750" indent="-285750">
              <a:buFont typeface="Arial" panose="020B0604020202020204" pitchFamily="34" charset="0"/>
              <a:buChar char="•"/>
            </a:pPr>
            <a:r>
              <a:rPr lang="en-US" sz="1400" dirty="0"/>
              <a:t>The Nyquist-Shannon sampling theorem states that a signal must be sampled at a rate at least twice its highest frequency component to avoid losing information. </a:t>
            </a:r>
          </a:p>
          <a:p>
            <a:pPr marL="285750" indent="-285750">
              <a:buFont typeface="Arial" panose="020B0604020202020204" pitchFamily="34" charset="0"/>
              <a:buChar char="•"/>
            </a:pPr>
            <a:r>
              <a:rPr lang="en-US" sz="1400" dirty="0"/>
              <a:t>For example, to accurately capture a signal with a maximum frequency of 20 kHz, you would need a sampling rate of at least 40 kHz.</a:t>
            </a:r>
          </a:p>
        </p:txBody>
      </p:sp>
      <p:pic>
        <p:nvPicPr>
          <p:cNvPr id="8" name="Picture 7">
            <a:extLst>
              <a:ext uri="{FF2B5EF4-FFF2-40B4-BE49-F238E27FC236}">
                <a16:creationId xmlns:a16="http://schemas.microsoft.com/office/drawing/2014/main" id="{8F16D648-F10C-7E41-DCF0-1D6F09F6F568}"/>
              </a:ext>
            </a:extLst>
          </p:cNvPr>
          <p:cNvPicPr>
            <a:picLocks noChangeAspect="1"/>
          </p:cNvPicPr>
          <p:nvPr/>
        </p:nvPicPr>
        <p:blipFill>
          <a:blip r:embed="rId3"/>
          <a:stretch>
            <a:fillRect/>
          </a:stretch>
        </p:blipFill>
        <p:spPr>
          <a:xfrm>
            <a:off x="9466118" y="4370895"/>
            <a:ext cx="2534595" cy="1202780"/>
          </a:xfrm>
          <a:prstGeom prst="rect">
            <a:avLst/>
          </a:prstGeom>
        </p:spPr>
      </p:pic>
      <p:sp>
        <p:nvSpPr>
          <p:cNvPr id="3" name="Title 2">
            <a:extLst>
              <a:ext uri="{FF2B5EF4-FFF2-40B4-BE49-F238E27FC236}">
                <a16:creationId xmlns:a16="http://schemas.microsoft.com/office/drawing/2014/main" id="{4DCD36A5-C06D-8BA6-054F-9E8DFECB677B}"/>
              </a:ext>
            </a:extLst>
          </p:cNvPr>
          <p:cNvSpPr>
            <a:spLocks noGrp="1"/>
          </p:cNvSpPr>
          <p:nvPr>
            <p:ph type="title"/>
          </p:nvPr>
        </p:nvSpPr>
        <p:spPr/>
        <p:txBody>
          <a:bodyPr>
            <a:normAutofit/>
          </a:bodyPr>
          <a:lstStyle/>
          <a:p>
            <a:r>
              <a:rPr lang="en-US" sz="2800" b="0" dirty="0">
                <a:solidFill>
                  <a:schemeClr val="tx1"/>
                </a:solidFill>
              </a:rPr>
              <a:t>Brief explanation of sampling</a:t>
            </a:r>
            <a:endParaRPr lang="en-US" sz="2800" dirty="0"/>
          </a:p>
        </p:txBody>
      </p:sp>
      <p:pic>
        <p:nvPicPr>
          <p:cNvPr id="2" name="Picture 1">
            <a:extLst>
              <a:ext uri="{FF2B5EF4-FFF2-40B4-BE49-F238E27FC236}">
                <a16:creationId xmlns:a16="http://schemas.microsoft.com/office/drawing/2014/main" id="{57B803A0-02AF-D646-905C-5B06A65849BE}"/>
              </a:ext>
            </a:extLst>
          </p:cNvPr>
          <p:cNvPicPr>
            <a:picLocks noChangeAspect="1"/>
          </p:cNvPicPr>
          <p:nvPr/>
        </p:nvPicPr>
        <p:blipFill>
          <a:blip r:embed="rId4"/>
          <a:stretch>
            <a:fillRect/>
          </a:stretch>
        </p:blipFill>
        <p:spPr>
          <a:xfrm>
            <a:off x="9471024" y="1534605"/>
            <a:ext cx="2381250" cy="1905000"/>
          </a:xfrm>
          <a:prstGeom prst="rect">
            <a:avLst/>
          </a:prstGeom>
        </p:spPr>
      </p:pic>
    </p:spTree>
    <p:extLst>
      <p:ext uri="{BB962C8B-B14F-4D97-AF65-F5344CB8AC3E}">
        <p14:creationId xmlns:p14="http://schemas.microsoft.com/office/powerpoint/2010/main" val="295408742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11" end="1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790683F-7D80-3049-99E6-18B690058A2A}"/>
              </a:ext>
            </a:extLst>
          </p:cNvPr>
          <p:cNvSpPr txBox="1">
            <a:spLocks/>
          </p:cNvSpPr>
          <p:nvPr/>
        </p:nvSpPr>
        <p:spPr bwMode="auto">
          <a:xfrm>
            <a:off x="1469308" y="619650"/>
            <a:ext cx="8510294" cy="762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4400" b="1" i="0">
                <a:solidFill>
                  <a:schemeClr val="bg1"/>
                </a:solidFill>
                <a:latin typeface="Trade Gothic LT Std Bold Condensed No. 20" charset="0"/>
                <a:ea typeface="Trade Gothic LT Std Bold Condensed No. 20" charset="0"/>
                <a:cs typeface="Trade Gothic LT Std Bold Condensed No. 20" charset="0"/>
              </a:defRPr>
            </a:lvl1pPr>
            <a:lvl2pPr algn="l" rtl="0" eaLnBrk="1" fontAlgn="base" hangingPunct="1">
              <a:spcBef>
                <a:spcPct val="0"/>
              </a:spcBef>
              <a:spcAft>
                <a:spcPct val="0"/>
              </a:spcAft>
              <a:defRPr sz="4400" b="1">
                <a:solidFill>
                  <a:schemeClr val="tx2"/>
                </a:solidFill>
                <a:latin typeface="Tahoma" pitchFamily="34" charset="0"/>
              </a:defRPr>
            </a:lvl2pPr>
            <a:lvl3pPr algn="l" rtl="0" eaLnBrk="1" fontAlgn="base" hangingPunct="1">
              <a:spcBef>
                <a:spcPct val="0"/>
              </a:spcBef>
              <a:spcAft>
                <a:spcPct val="0"/>
              </a:spcAft>
              <a:defRPr sz="4400" b="1">
                <a:solidFill>
                  <a:schemeClr val="tx2"/>
                </a:solidFill>
                <a:latin typeface="Tahoma" pitchFamily="34" charset="0"/>
              </a:defRPr>
            </a:lvl3pPr>
            <a:lvl4pPr algn="l" rtl="0" eaLnBrk="1" fontAlgn="base" hangingPunct="1">
              <a:spcBef>
                <a:spcPct val="0"/>
              </a:spcBef>
              <a:spcAft>
                <a:spcPct val="0"/>
              </a:spcAft>
              <a:defRPr sz="4400" b="1">
                <a:solidFill>
                  <a:schemeClr val="tx2"/>
                </a:solidFill>
                <a:latin typeface="Tahoma" pitchFamily="34" charset="0"/>
              </a:defRPr>
            </a:lvl4pPr>
            <a:lvl5pPr algn="l" rtl="0" eaLnBrk="1" fontAlgn="base" hangingPunct="1">
              <a:spcBef>
                <a:spcPct val="0"/>
              </a:spcBef>
              <a:spcAft>
                <a:spcPct val="0"/>
              </a:spcAft>
              <a:defRPr sz="4400" b="1">
                <a:solidFill>
                  <a:schemeClr val="tx2"/>
                </a:solidFill>
                <a:latin typeface="Tahoma" pitchFamily="34" charset="0"/>
              </a:defRPr>
            </a:lvl5pPr>
            <a:lvl6pPr marL="457200" algn="l" rtl="0" eaLnBrk="1" fontAlgn="base" hangingPunct="1">
              <a:spcBef>
                <a:spcPct val="0"/>
              </a:spcBef>
              <a:spcAft>
                <a:spcPct val="0"/>
              </a:spcAft>
              <a:defRPr sz="4400" b="1">
                <a:solidFill>
                  <a:schemeClr val="tx2"/>
                </a:solidFill>
                <a:latin typeface="Tahoma" pitchFamily="34" charset="0"/>
              </a:defRPr>
            </a:lvl6pPr>
            <a:lvl7pPr marL="914400" algn="l" rtl="0" eaLnBrk="1" fontAlgn="base" hangingPunct="1">
              <a:spcBef>
                <a:spcPct val="0"/>
              </a:spcBef>
              <a:spcAft>
                <a:spcPct val="0"/>
              </a:spcAft>
              <a:defRPr sz="4400" b="1">
                <a:solidFill>
                  <a:schemeClr val="tx2"/>
                </a:solidFill>
                <a:latin typeface="Tahoma" pitchFamily="34" charset="0"/>
              </a:defRPr>
            </a:lvl7pPr>
            <a:lvl8pPr marL="1371600" algn="l" rtl="0" eaLnBrk="1" fontAlgn="base" hangingPunct="1">
              <a:spcBef>
                <a:spcPct val="0"/>
              </a:spcBef>
              <a:spcAft>
                <a:spcPct val="0"/>
              </a:spcAft>
              <a:defRPr sz="4400" b="1">
                <a:solidFill>
                  <a:schemeClr val="tx2"/>
                </a:solidFill>
                <a:latin typeface="Tahoma" pitchFamily="34" charset="0"/>
              </a:defRPr>
            </a:lvl8pPr>
            <a:lvl9pPr marL="1828800" algn="l" rtl="0" eaLnBrk="1" fontAlgn="base" hangingPunct="1">
              <a:spcBef>
                <a:spcPct val="0"/>
              </a:spcBef>
              <a:spcAft>
                <a:spcPct val="0"/>
              </a:spcAft>
              <a:defRPr sz="4400" b="1">
                <a:solidFill>
                  <a:schemeClr val="tx2"/>
                </a:solidFill>
                <a:latin typeface="Tahoma" pitchFamily="34" charset="0"/>
              </a:defRPr>
            </a:lvl9pPr>
          </a:lstStyle>
          <a:p>
            <a:endParaRPr lang="en-US" sz="2800" b="0" dirty="0">
              <a:solidFill>
                <a:schemeClr val="tx1"/>
              </a:solidFill>
            </a:endParaRPr>
          </a:p>
        </p:txBody>
      </p:sp>
      <p:sp>
        <p:nvSpPr>
          <p:cNvPr id="5" name="Content Placeholder 2">
            <a:extLst>
              <a:ext uri="{FF2B5EF4-FFF2-40B4-BE49-F238E27FC236}">
                <a16:creationId xmlns:a16="http://schemas.microsoft.com/office/drawing/2014/main" id="{CE4F893B-FAFA-EF4F-8E17-A0C4F7C3C8C4}"/>
              </a:ext>
            </a:extLst>
          </p:cNvPr>
          <p:cNvSpPr txBox="1">
            <a:spLocks/>
          </p:cNvSpPr>
          <p:nvPr/>
        </p:nvSpPr>
        <p:spPr>
          <a:xfrm>
            <a:off x="1469307" y="1860076"/>
            <a:ext cx="9700919" cy="4825324"/>
          </a:xfrm>
          <a:prstGeom prst="rect">
            <a:avLst/>
          </a:prstGeom>
        </p:spPr>
        <p:txBody>
          <a:bodyPr>
            <a:noAutofit/>
          </a:bodyPr>
          <a:lstStyle>
            <a:lvl1pPr marL="274320" marR="0" indent="-27432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1pPr>
            <a:lvl2pPr marL="630936" marR="0" indent="-329184"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2pPr>
            <a:lvl3pPr marL="880872" marR="0" indent="-3048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3pPr>
            <a:lvl4pPr marL="1147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4pPr>
            <a:lvl5pPr marL="13761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5pPr>
            <a:lvl6pPr marL="16047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6pPr>
            <a:lvl7pPr marL="18333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7pPr>
            <a:lvl8pPr marL="20619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8pPr>
            <a:lvl9pPr marL="2290572" marR="0" indent="-342900" algn="l" defTabSz="914400" rtl="0" latinLnBrk="0">
              <a:lnSpc>
                <a:spcPct val="90000"/>
              </a:lnSpc>
              <a:spcBef>
                <a:spcPts val="1800"/>
              </a:spcBef>
              <a:spcAft>
                <a:spcPts val="0"/>
              </a:spcAft>
              <a:buClrTx/>
              <a:buSzPct val="100000"/>
              <a:buFont typeface="Arial"/>
              <a:buChar char="▪"/>
              <a:tabLst/>
              <a:defRPr sz="2400" b="0" i="0" u="none" strike="noStrike" cap="none" spc="0" baseline="0">
                <a:ln>
                  <a:noFill/>
                </a:ln>
                <a:solidFill>
                  <a:srgbClr val="000000"/>
                </a:solidFill>
                <a:uFillTx/>
                <a:latin typeface="+mn-lt"/>
                <a:ea typeface="+mn-ea"/>
                <a:cs typeface="+mn-cs"/>
                <a:sym typeface="Corbel"/>
              </a:defRPr>
            </a:lvl9pPr>
          </a:lstStyle>
          <a:p>
            <a:r>
              <a:rPr lang="en-US" sz="1400" b="1" dirty="0"/>
              <a:t>Speech Recognition: </a:t>
            </a:r>
            <a:r>
              <a:rPr lang="en-US" sz="1400" dirty="0"/>
              <a:t>Relate this to how voice assistants like Siri or Google Assistant work. The audio is analyzed to understand the spoken words.</a:t>
            </a:r>
          </a:p>
          <a:p>
            <a:r>
              <a:rPr lang="en-US" sz="1400" b="1" dirty="0"/>
              <a:t>Music Genre Classification: </a:t>
            </a:r>
            <a:r>
              <a:rPr lang="en-US" sz="1400" dirty="0"/>
              <a:t>Think of how Spotify or Apple Music recommends songs. They analyze audio features to categorize music.</a:t>
            </a:r>
          </a:p>
          <a:p>
            <a:r>
              <a:rPr lang="en-US" sz="1400" b="1" dirty="0"/>
              <a:t>Sound Event Detection: </a:t>
            </a:r>
            <a:r>
              <a:rPr lang="en-US" sz="1400" dirty="0"/>
              <a:t>This is like how a smart home system recognizes the sound of a doorbell or a smoke alarm.</a:t>
            </a:r>
          </a:p>
          <a:p>
            <a:r>
              <a:rPr lang="en-US" sz="1400" b="1" dirty="0"/>
              <a:t>Sound classification: </a:t>
            </a:r>
            <a:r>
              <a:rPr lang="en-US" sz="1400" dirty="0"/>
              <a:t>Recognizing everyday urban sounds, identifying birds in nature from their tweets, studying bio-diversity in nature, etc</a:t>
            </a:r>
            <a:r>
              <a:rPr lang="en-US" sz="1400" b="1" dirty="0"/>
              <a:t>.</a:t>
            </a:r>
          </a:p>
          <a:p>
            <a:r>
              <a:rPr lang="en-US" sz="1400" b="1" dirty="0"/>
              <a:t>Automatic Lyrics Alignment: </a:t>
            </a:r>
            <a:r>
              <a:rPr lang="en-US" sz="1400" dirty="0"/>
              <a:t>Implement a system that aligns lyrics with the sung audio in songs, useful for karaoke applications or music learning.</a:t>
            </a:r>
          </a:p>
          <a:p>
            <a:r>
              <a:rPr lang="en-US" sz="1400" b="1" dirty="0"/>
              <a:t>Bio-acoustic Monitoring:</a:t>
            </a:r>
            <a:r>
              <a:rPr lang="en-US" sz="1400" dirty="0"/>
              <a:t> Use audio deep learning for ecological studies, such as identifying bird calls or monitoring rainforest sounds to assess biodiversity.</a:t>
            </a:r>
          </a:p>
          <a:p>
            <a:r>
              <a:rPr lang="en-US" sz="1400" b="1" dirty="0"/>
              <a:t>Audio-based Health Diagnostics:</a:t>
            </a:r>
            <a:r>
              <a:rPr lang="en-US" sz="1400" dirty="0"/>
              <a:t> Develop tools for diagnosing health conditions through sound, such as analyzing cough sounds to detect respiratory diseases.</a:t>
            </a:r>
          </a:p>
          <a:p>
            <a:endParaRPr lang="en-US" sz="1800" dirty="0"/>
          </a:p>
        </p:txBody>
      </p:sp>
      <p:sp>
        <p:nvSpPr>
          <p:cNvPr id="2" name="Title 1">
            <a:extLst>
              <a:ext uri="{FF2B5EF4-FFF2-40B4-BE49-F238E27FC236}">
                <a16:creationId xmlns:a16="http://schemas.microsoft.com/office/drawing/2014/main" id="{C2CBC94D-17DA-B6A9-5193-669F0A67008F}"/>
              </a:ext>
            </a:extLst>
          </p:cNvPr>
          <p:cNvSpPr>
            <a:spLocks noGrp="1"/>
          </p:cNvSpPr>
          <p:nvPr>
            <p:ph type="title"/>
          </p:nvPr>
        </p:nvSpPr>
        <p:spPr/>
        <p:txBody>
          <a:bodyPr>
            <a:normAutofit/>
          </a:bodyPr>
          <a:lstStyle/>
          <a:p>
            <a:r>
              <a:rPr lang="en-US" sz="3200" b="0" dirty="0">
                <a:solidFill>
                  <a:schemeClr val="tx1"/>
                </a:solidFill>
              </a:rPr>
              <a:t>Application with audio as data</a:t>
            </a:r>
            <a:endParaRPr lang="en-US" dirty="0"/>
          </a:p>
        </p:txBody>
      </p:sp>
    </p:spTree>
    <p:extLst>
      <p:ext uri="{BB962C8B-B14F-4D97-AF65-F5344CB8AC3E}">
        <p14:creationId xmlns:p14="http://schemas.microsoft.com/office/powerpoint/2010/main" val="281795359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1224" y="1905000"/>
            <a:ext cx="9136854" cy="2667000"/>
          </a:xfrm>
        </p:spPr>
        <p:txBody>
          <a:bodyPr/>
          <a:lstStyle/>
          <a:p>
            <a:r>
              <a:rPr lang="en-US" sz="4000" dirty="0"/>
              <a:t>Audia signal characteristics</a:t>
            </a:r>
          </a:p>
        </p:txBody>
      </p:sp>
      <p:sp>
        <p:nvSpPr>
          <p:cNvPr id="4" name="Text Placeholder 3">
            <a:extLst>
              <a:ext uri="{FF2B5EF4-FFF2-40B4-BE49-F238E27FC236}">
                <a16:creationId xmlns:a16="http://schemas.microsoft.com/office/drawing/2014/main" id="{D7027A07-C954-0D8A-E1B6-890BA2ED12F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82793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 name="Title 1"/>
          <p:cNvSpPr txBox="1">
            <a:spLocks noGrp="1"/>
          </p:cNvSpPr>
          <p:nvPr>
            <p:ph type="title"/>
          </p:nvPr>
        </p:nvSpPr>
        <p:spPr>
          <a:prstGeom prst="rect">
            <a:avLst/>
          </a:prstGeom>
        </p:spPr>
        <p:txBody>
          <a:bodyPr/>
          <a:lstStyle/>
          <a:p>
            <a:pPr defTabSz="767481">
              <a:defRPr sz="2688"/>
            </a:pPr>
            <a:endParaRPr dirty="0"/>
          </a:p>
          <a:p>
            <a:pPr defTabSz="767481">
              <a:defRPr sz="2688"/>
            </a:pPr>
            <a:r>
              <a:rPr lang="en-US" dirty="0"/>
              <a:t>Frequency and amplitude</a:t>
            </a:r>
            <a:endParaRPr dirty="0"/>
          </a:p>
        </p:txBody>
      </p:sp>
      <p:pic>
        <p:nvPicPr>
          <p:cNvPr id="2" name="Picture 1">
            <a:extLst>
              <a:ext uri="{FF2B5EF4-FFF2-40B4-BE49-F238E27FC236}">
                <a16:creationId xmlns:a16="http://schemas.microsoft.com/office/drawing/2014/main" id="{5D60D200-9541-A67C-BE0F-809AF8B8D1F0}"/>
              </a:ext>
            </a:extLst>
          </p:cNvPr>
          <p:cNvPicPr>
            <a:picLocks noChangeAspect="1"/>
          </p:cNvPicPr>
          <p:nvPr/>
        </p:nvPicPr>
        <p:blipFill>
          <a:blip r:embed="rId3"/>
          <a:stretch>
            <a:fillRect/>
          </a:stretch>
        </p:blipFill>
        <p:spPr>
          <a:xfrm>
            <a:off x="1517649" y="1905000"/>
            <a:ext cx="5317067" cy="3987800"/>
          </a:xfrm>
          <a:prstGeom prst="rect">
            <a:avLst/>
          </a:prstGeom>
        </p:spPr>
      </p:pic>
      <p:sp>
        <p:nvSpPr>
          <p:cNvPr id="6" name="TextBox 5">
            <a:extLst>
              <a:ext uri="{FF2B5EF4-FFF2-40B4-BE49-F238E27FC236}">
                <a16:creationId xmlns:a16="http://schemas.microsoft.com/office/drawing/2014/main" id="{FE9FFFD3-1138-3821-7271-9C569B2EDB06}"/>
              </a:ext>
            </a:extLst>
          </p:cNvPr>
          <p:cNvSpPr txBox="1"/>
          <p:nvPr/>
        </p:nvSpPr>
        <p:spPr>
          <a:xfrm>
            <a:off x="7162800" y="2421572"/>
            <a:ext cx="4173794"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buFont typeface="Arial" panose="020B0604020202020204" pitchFamily="34" charset="0"/>
              <a:buChar char="•"/>
            </a:pPr>
            <a:r>
              <a:rPr lang="en-US" i="1" dirty="0">
                <a:effectLst/>
                <a:latin typeface="Helvetica" pitchFamily="2" charset="0"/>
              </a:rPr>
              <a:t>higher frequency -&gt; higher pitch sound</a:t>
            </a:r>
          </a:p>
          <a:p>
            <a:pPr marL="285750" indent="-285750">
              <a:buFont typeface="Arial" panose="020B0604020202020204" pitchFamily="34" charset="0"/>
              <a:buChar char="•"/>
            </a:pPr>
            <a:endParaRPr lang="en-US" i="1" dirty="0">
              <a:latin typeface="Helvetica" pitchFamily="2" charset="0"/>
            </a:endParaRPr>
          </a:p>
          <a:p>
            <a:pPr marL="285750" indent="-285750">
              <a:buFont typeface="Arial" panose="020B0604020202020204" pitchFamily="34" charset="0"/>
              <a:buChar char="•"/>
            </a:pPr>
            <a:r>
              <a:rPr lang="en-US" i="1" dirty="0"/>
              <a:t>Measured in </a:t>
            </a:r>
            <a:r>
              <a:rPr lang="en-US" b="1" i="1" dirty="0"/>
              <a:t>Hertz (Hz)</a:t>
            </a:r>
            <a:r>
              <a:rPr lang="en-US" i="1" dirty="0"/>
              <a:t> (cycles per second).</a:t>
            </a:r>
            <a:endParaRPr lang="en-US" i="1" dirty="0">
              <a:effectLst/>
              <a:latin typeface="Helvetica" pitchFamily="2" charset="0"/>
            </a:endParaRPr>
          </a:p>
        </p:txBody>
      </p:sp>
      <p:sp>
        <p:nvSpPr>
          <p:cNvPr id="8" name="TextBox 7">
            <a:extLst>
              <a:ext uri="{FF2B5EF4-FFF2-40B4-BE49-F238E27FC236}">
                <a16:creationId xmlns:a16="http://schemas.microsoft.com/office/drawing/2014/main" id="{E040CA1A-215F-26BD-2257-DAA95DA931F2}"/>
              </a:ext>
            </a:extLst>
          </p:cNvPr>
          <p:cNvSpPr txBox="1"/>
          <p:nvPr/>
        </p:nvSpPr>
        <p:spPr>
          <a:xfrm>
            <a:off x="7162800" y="4118356"/>
            <a:ext cx="3786716"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buFont typeface="Arial" panose="020B0604020202020204" pitchFamily="34" charset="0"/>
              <a:buChar char="•"/>
            </a:pPr>
            <a:r>
              <a:rPr lang="en-US" i="1" dirty="0">
                <a:effectLst/>
                <a:latin typeface="Helvetica" pitchFamily="2" charset="0"/>
              </a:rPr>
              <a:t>larger amplitude -&gt; louder</a:t>
            </a:r>
          </a:p>
          <a:p>
            <a:pPr marL="285750" indent="-285750">
              <a:buFont typeface="Arial" panose="020B0604020202020204" pitchFamily="34" charset="0"/>
              <a:buChar char="•"/>
            </a:pPr>
            <a:endParaRPr lang="en-US" i="1" dirty="0">
              <a:latin typeface="Helvetica" pitchFamily="2" charset="0"/>
            </a:endParaRPr>
          </a:p>
          <a:p>
            <a:pPr marL="285750" indent="-285750">
              <a:buFont typeface="Arial" panose="020B0604020202020204" pitchFamily="34" charset="0"/>
              <a:buChar char="•"/>
            </a:pPr>
            <a:r>
              <a:rPr lang="en-US" i="1" dirty="0"/>
              <a:t>Measured using metrics like </a:t>
            </a:r>
            <a:r>
              <a:rPr lang="en-US" b="1" i="1" dirty="0"/>
              <a:t>Root Mean Square (RMS) energy</a:t>
            </a:r>
            <a:endParaRPr lang="en-US" i="1" dirty="0">
              <a:effectLst/>
              <a:latin typeface="Helvetica" pitchFamily="2" charset="0"/>
            </a:endParaRPr>
          </a:p>
        </p:txBody>
      </p:sp>
      <p:sp>
        <p:nvSpPr>
          <p:cNvPr id="3" name="TextBox 2">
            <a:extLst>
              <a:ext uri="{FF2B5EF4-FFF2-40B4-BE49-F238E27FC236}">
                <a16:creationId xmlns:a16="http://schemas.microsoft.com/office/drawing/2014/main" id="{409BBCB8-A2A6-A97C-4641-14CF66C5F30A}"/>
              </a:ext>
            </a:extLst>
          </p:cNvPr>
          <p:cNvSpPr txBox="1"/>
          <p:nvPr/>
        </p:nvSpPr>
        <p:spPr>
          <a:xfrm>
            <a:off x="1366307" y="5908815"/>
            <a:ext cx="10331451"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en-US" sz="1800" b="1" i="0" u="none" strike="noStrike" cap="none" spc="0" normalizeH="0" baseline="0" dirty="0">
                <a:ln>
                  <a:noFill/>
                </a:ln>
                <a:solidFill>
                  <a:srgbClr val="000000"/>
                </a:solidFill>
                <a:effectLst/>
                <a:uFillTx/>
                <a:latin typeface="+mn-lt"/>
                <a:ea typeface="+mn-ea"/>
                <a:cs typeface="+mn-cs"/>
                <a:sym typeface="Corbel"/>
              </a:rPr>
              <a:t>In analytics</a:t>
            </a:r>
            <a:r>
              <a:rPr kumimoji="0" lang="en-US" sz="1800" b="0" i="0" u="none" strike="noStrike" cap="none" spc="0" normalizeH="0" baseline="0" dirty="0">
                <a:ln>
                  <a:noFill/>
                </a:ln>
                <a:solidFill>
                  <a:srgbClr val="000000"/>
                </a:solidFill>
                <a:effectLst/>
                <a:uFillTx/>
                <a:latin typeface="+mn-lt"/>
                <a:ea typeface="+mn-ea"/>
                <a:cs typeface="+mn-cs"/>
                <a:sym typeface="Corbel"/>
              </a:rPr>
              <a:t>:</a:t>
            </a:r>
            <a:r>
              <a:rPr lang="en-US" dirty="0"/>
              <a:t> Complex sounds (like speech or music), we use a mathematical tool called a </a:t>
            </a:r>
            <a:r>
              <a:rPr lang="en-US" b="1" dirty="0"/>
              <a:t>Fourier Transform</a:t>
            </a:r>
            <a:r>
              <a:rPr lang="en-US" dirty="0"/>
              <a:t> to break the sound down and see exactly </a:t>
            </a:r>
            <a:r>
              <a:rPr lang="en-US" i="1" dirty="0"/>
              <a:t>which</a:t>
            </a:r>
            <a:r>
              <a:rPr lang="en-US" dirty="0"/>
              <a:t> frequencies are present at any given time – </a:t>
            </a:r>
            <a:r>
              <a:rPr lang="en-US" b="1" dirty="0"/>
              <a:t>spectrogram.</a:t>
            </a:r>
            <a:endParaRPr kumimoji="0" lang="en-US" sz="1800" b="1" i="0" u="none" strike="noStrike" cap="none" spc="0" normalizeH="0" baseline="0" dirty="0">
              <a:ln>
                <a:noFill/>
              </a:ln>
              <a:solidFill>
                <a:srgbClr val="000000"/>
              </a:solidFill>
              <a:effectLst/>
              <a:uFillTx/>
              <a:sym typeface="Corbel"/>
            </a:endParaRPr>
          </a:p>
        </p:txBody>
      </p:sp>
    </p:spTree>
    <p:extLst>
      <p:ext uri="{BB962C8B-B14F-4D97-AF65-F5344CB8AC3E}">
        <p14:creationId xmlns:p14="http://schemas.microsoft.com/office/powerpoint/2010/main" val="3540076406"/>
      </p:ext>
    </p:extLst>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 name="Title 1"/>
          <p:cNvSpPr txBox="1">
            <a:spLocks noGrp="1"/>
          </p:cNvSpPr>
          <p:nvPr>
            <p:ph type="title"/>
          </p:nvPr>
        </p:nvSpPr>
        <p:spPr>
          <a:prstGeom prst="rect">
            <a:avLst/>
          </a:prstGeom>
        </p:spPr>
        <p:txBody>
          <a:bodyPr/>
          <a:lstStyle/>
          <a:p>
            <a:pPr defTabSz="767481">
              <a:defRPr sz="2688"/>
            </a:pPr>
            <a:endParaRPr dirty="0"/>
          </a:p>
          <a:p>
            <a:pPr defTabSz="767481">
              <a:defRPr sz="2688"/>
            </a:pPr>
            <a:r>
              <a:rPr lang="en-US" dirty="0"/>
              <a:t>Sound Power and Intensity</a:t>
            </a:r>
            <a:endParaRPr dirty="0"/>
          </a:p>
        </p:txBody>
      </p:sp>
      <p:sp>
        <p:nvSpPr>
          <p:cNvPr id="1515" name="Rectangle 2"/>
          <p:cNvSpPr txBox="1"/>
          <p:nvPr/>
        </p:nvSpPr>
        <p:spPr>
          <a:xfrm>
            <a:off x="1517650" y="1384206"/>
            <a:ext cx="10050541" cy="42473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683" rIns="45683">
            <a:spAutoFit/>
          </a:bodyPr>
          <a:lstStyle/>
          <a:p>
            <a:r>
              <a:rPr lang="en-US" b="1" i="1" dirty="0">
                <a:effectLst/>
                <a:latin typeface="Helvetica" pitchFamily="2" charset="0"/>
              </a:rPr>
              <a:t>Power</a:t>
            </a:r>
          </a:p>
          <a:p>
            <a:endParaRPr lang="en-US" i="1" dirty="0">
              <a:latin typeface="Helvetica" pitchFamily="2" charset="0"/>
            </a:endParaRPr>
          </a:p>
          <a:p>
            <a:pPr marL="285750" indent="-285750">
              <a:buFont typeface="Arial" panose="020B0604020202020204" pitchFamily="34" charset="0"/>
              <a:buChar char="•"/>
            </a:pPr>
            <a:r>
              <a:rPr lang="en-US" i="1" dirty="0">
                <a:effectLst/>
                <a:latin typeface="Helvetica" pitchFamily="2" charset="0"/>
              </a:rPr>
              <a:t>Rate at which energy is transferred</a:t>
            </a:r>
            <a:endParaRPr lang="en-US" dirty="0">
              <a:effectLst/>
              <a:latin typeface="Helvetica" pitchFamily="2" charset="0"/>
            </a:endParaRPr>
          </a:p>
          <a:p>
            <a:pPr marL="285750" indent="-285750">
              <a:buFont typeface="Arial" panose="020B0604020202020204" pitchFamily="34" charset="0"/>
              <a:buChar char="•"/>
            </a:pPr>
            <a:r>
              <a:rPr lang="en-US" i="1" dirty="0">
                <a:effectLst/>
                <a:latin typeface="Helvetica" pitchFamily="2" charset="0"/>
              </a:rPr>
              <a:t>Energy per unit of time emitted by a sound source in all directions</a:t>
            </a:r>
          </a:p>
          <a:p>
            <a:pPr marL="285750" indent="-285750">
              <a:buFont typeface="Arial" panose="020B0604020202020204" pitchFamily="34" charset="0"/>
              <a:buChar char="•"/>
            </a:pPr>
            <a:r>
              <a:rPr lang="en-US" i="1" dirty="0">
                <a:effectLst/>
                <a:latin typeface="Helvetica" pitchFamily="2" charset="0"/>
              </a:rPr>
              <a:t>Measured in watt (W)</a:t>
            </a:r>
          </a:p>
          <a:p>
            <a:endParaRPr lang="en-US" dirty="0">
              <a:effectLst/>
              <a:latin typeface="Helvetica" pitchFamily="2" charset="0"/>
            </a:endParaRPr>
          </a:p>
          <a:p>
            <a:r>
              <a:rPr lang="en-US" b="1" i="1" dirty="0">
                <a:effectLst/>
                <a:latin typeface="Helvetica" pitchFamily="2" charset="0"/>
              </a:rPr>
              <a:t>Intensity</a:t>
            </a:r>
          </a:p>
          <a:p>
            <a:endParaRPr lang="en-US" i="1" dirty="0">
              <a:latin typeface="Helvetica" pitchFamily="2" charset="0"/>
            </a:endParaRPr>
          </a:p>
          <a:p>
            <a:pPr marL="285750" indent="-285750">
              <a:buFont typeface="Arial" panose="020B0604020202020204" pitchFamily="34" charset="0"/>
              <a:buChar char="•"/>
            </a:pPr>
            <a:r>
              <a:rPr lang="en-US" i="1" dirty="0">
                <a:effectLst/>
                <a:latin typeface="Helvetica" pitchFamily="2" charset="0"/>
              </a:rPr>
              <a:t>Sound power per unit area</a:t>
            </a:r>
            <a:endParaRPr lang="en-US" dirty="0">
              <a:effectLst/>
              <a:latin typeface="Helvetica" pitchFamily="2" charset="0"/>
            </a:endParaRPr>
          </a:p>
          <a:p>
            <a:pPr marL="285750" indent="-285750">
              <a:buFont typeface="Arial" panose="020B0604020202020204" pitchFamily="34" charset="0"/>
              <a:buChar char="•"/>
            </a:pPr>
            <a:r>
              <a:rPr lang="en-US" i="1" dirty="0">
                <a:latin typeface="Helvetica" pitchFamily="2" charset="0"/>
              </a:rPr>
              <a:t>Unit – W/m</a:t>
            </a:r>
            <a:r>
              <a:rPr lang="en-US" i="1" baseline="30000" dirty="0">
                <a:latin typeface="Helvetica" pitchFamily="2" charset="0"/>
              </a:rPr>
              <a:t>2</a:t>
            </a:r>
            <a:endParaRPr lang="en-US" sz="1799" dirty="0"/>
          </a:p>
          <a:p>
            <a:pPr marL="285750" indent="-285750">
              <a:buFont typeface="Arial" panose="020B0604020202020204" pitchFamily="34" charset="0"/>
              <a:buChar char="•"/>
            </a:pPr>
            <a:r>
              <a:rPr lang="en-US" i="1" dirty="0">
                <a:effectLst/>
                <a:latin typeface="Helvetica" pitchFamily="2" charset="0"/>
              </a:rPr>
              <a:t>Threshold of hearing = 10</a:t>
            </a:r>
            <a:r>
              <a:rPr lang="en-US" i="1" baseline="30000" dirty="0">
                <a:effectLst/>
                <a:latin typeface="Helvetica" pitchFamily="2" charset="0"/>
              </a:rPr>
              <a:t>-12 </a:t>
            </a:r>
            <a:r>
              <a:rPr lang="en-US" sz="1799" dirty="0"/>
              <a:t>W/m</a:t>
            </a:r>
            <a:r>
              <a:rPr lang="en-US" sz="1799" baseline="30000" dirty="0"/>
              <a:t>2.    </a:t>
            </a:r>
          </a:p>
          <a:p>
            <a:pPr marL="285750" indent="-285750">
              <a:buFont typeface="Arial" panose="020B0604020202020204" pitchFamily="34" charset="0"/>
              <a:buChar char="•"/>
            </a:pPr>
            <a:r>
              <a:rPr lang="en-US" i="1" dirty="0">
                <a:latin typeface="Helvetica" pitchFamily="2" charset="0"/>
              </a:rPr>
              <a:t>Threshold of pain = 10 W/m</a:t>
            </a:r>
            <a:r>
              <a:rPr lang="en-US" i="1" baseline="30000" dirty="0">
                <a:latin typeface="Helvetica" pitchFamily="2" charset="0"/>
              </a:rPr>
              <a:t>2 </a:t>
            </a:r>
          </a:p>
          <a:p>
            <a:pPr marL="285750" indent="-285750">
              <a:buFont typeface="Arial" panose="020B0604020202020204" pitchFamily="34" charset="0"/>
              <a:buChar char="•"/>
            </a:pPr>
            <a:r>
              <a:rPr lang="en-US" i="1" dirty="0">
                <a:effectLst/>
                <a:latin typeface="Helvetica" pitchFamily="2" charset="0"/>
              </a:rPr>
              <a:t>Logarithmic scale</a:t>
            </a:r>
            <a:endParaRPr lang="en-US" dirty="0">
              <a:effectLst/>
              <a:latin typeface="Helvetica" pitchFamily="2" charset="0"/>
            </a:endParaRPr>
          </a:p>
          <a:p>
            <a:pPr marL="285750" indent="-285750">
              <a:buFont typeface="Arial" panose="020B0604020202020204" pitchFamily="34" charset="0"/>
              <a:buChar char="•"/>
            </a:pPr>
            <a:r>
              <a:rPr lang="en-US" i="1" dirty="0">
                <a:effectLst/>
                <a:latin typeface="Helvetica" pitchFamily="2" charset="0"/>
              </a:rPr>
              <a:t>Measured in decibels (dB)</a:t>
            </a:r>
            <a:endParaRPr lang="en-US" dirty="0">
              <a:effectLst/>
              <a:latin typeface="Helvetica" pitchFamily="2" charset="0"/>
            </a:endParaRPr>
          </a:p>
          <a:p>
            <a:pPr marL="285750" indent="-285750">
              <a:buFont typeface="Arial" panose="020B0604020202020204" pitchFamily="34" charset="0"/>
              <a:buChar char="•"/>
            </a:pPr>
            <a:endParaRPr lang="en-US" i="1" dirty="0">
              <a:latin typeface="Helvetica" pitchFamily="2" charset="0"/>
            </a:endParaRPr>
          </a:p>
        </p:txBody>
      </p:sp>
    </p:spTree>
    <p:extLst>
      <p:ext uri="{BB962C8B-B14F-4D97-AF65-F5344CB8AC3E}">
        <p14:creationId xmlns:p14="http://schemas.microsoft.com/office/powerpoint/2010/main" val="4273844574"/>
      </p:ext>
    </p:extLst>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1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1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15">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15">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15">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15">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1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 name="Title 1"/>
          <p:cNvSpPr txBox="1">
            <a:spLocks noGrp="1"/>
          </p:cNvSpPr>
          <p:nvPr>
            <p:ph type="title"/>
          </p:nvPr>
        </p:nvSpPr>
        <p:spPr>
          <a:prstGeom prst="rect">
            <a:avLst/>
          </a:prstGeom>
        </p:spPr>
        <p:txBody>
          <a:bodyPr/>
          <a:lstStyle/>
          <a:p>
            <a:pPr defTabSz="767481">
              <a:defRPr sz="2688"/>
            </a:pPr>
            <a:endParaRPr dirty="0"/>
          </a:p>
          <a:p>
            <a:pPr defTabSz="767481">
              <a:defRPr sz="2688"/>
            </a:pPr>
            <a:r>
              <a:rPr lang="en-US" dirty="0"/>
              <a:t>Music related</a:t>
            </a:r>
            <a:endParaRPr dirty="0"/>
          </a:p>
        </p:txBody>
      </p:sp>
      <p:sp>
        <p:nvSpPr>
          <p:cNvPr id="1515" name="Rectangle 2"/>
          <p:cNvSpPr txBox="1"/>
          <p:nvPr/>
        </p:nvSpPr>
        <p:spPr>
          <a:xfrm>
            <a:off x="1517650" y="1993806"/>
            <a:ext cx="10050541" cy="3139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683" rIns="45683">
            <a:spAutoFit/>
          </a:bodyPr>
          <a:lstStyle/>
          <a:p>
            <a:endParaRPr lang="en-US" dirty="0">
              <a:effectLst/>
              <a:latin typeface="Helvetica" pitchFamily="2" charset="0"/>
            </a:endParaRPr>
          </a:p>
          <a:p>
            <a:pPr marL="285750" indent="-285750">
              <a:buFont typeface="Arial" panose="020B0604020202020204" pitchFamily="34" charset="0"/>
              <a:buChar char="•"/>
            </a:pPr>
            <a:r>
              <a:rPr lang="en-US" dirty="0">
                <a:latin typeface="Helvetica" pitchFamily="2" charset="0"/>
              </a:rPr>
              <a:t>Beat - rhythm</a:t>
            </a:r>
          </a:p>
          <a:p>
            <a:pPr marL="285750" indent="-285750">
              <a:buFont typeface="Arial" panose="020B0604020202020204" pitchFamily="34" charset="0"/>
              <a:buChar char="•"/>
            </a:pPr>
            <a:endParaRPr lang="en-US" dirty="0">
              <a:effectLst/>
              <a:latin typeface="Helvetica" pitchFamily="2" charset="0"/>
            </a:endParaRPr>
          </a:p>
          <a:p>
            <a:pPr marL="285750" indent="-285750">
              <a:buFont typeface="Arial" panose="020B0604020202020204" pitchFamily="34" charset="0"/>
              <a:buChar char="•"/>
            </a:pPr>
            <a:r>
              <a:rPr lang="en-US" dirty="0">
                <a:latin typeface="Helvetica" pitchFamily="2" charset="0"/>
              </a:rPr>
              <a:t>Timbre – Sound quality and is a mix of different frequencies occurring simultaneously</a:t>
            </a:r>
          </a:p>
          <a:p>
            <a:pPr marL="285750" indent="-285750">
              <a:buFont typeface="Arial" panose="020B0604020202020204" pitchFamily="34" charset="0"/>
              <a:buChar char="•"/>
            </a:pPr>
            <a:endParaRPr lang="en-US" dirty="0">
              <a:effectLst/>
              <a:latin typeface="Helvetica" pitchFamily="2" charset="0"/>
            </a:endParaRPr>
          </a:p>
          <a:p>
            <a:pPr marL="285750" indent="-285750">
              <a:buFont typeface="Arial" panose="020B0604020202020204" pitchFamily="34" charset="0"/>
              <a:buChar char="•"/>
            </a:pPr>
            <a:r>
              <a:rPr lang="en-US" dirty="0">
                <a:latin typeface="Helvetica" pitchFamily="2" charset="0"/>
              </a:rPr>
              <a:t>Pitch – high or low frequency </a:t>
            </a:r>
          </a:p>
          <a:p>
            <a:pPr marL="285750" indent="-285750">
              <a:buFont typeface="Arial" panose="020B0604020202020204" pitchFamily="34" charset="0"/>
              <a:buChar char="•"/>
            </a:pPr>
            <a:endParaRPr lang="en-US" dirty="0">
              <a:effectLst/>
              <a:latin typeface="Helvetica" pitchFamily="2" charset="0"/>
            </a:endParaRPr>
          </a:p>
          <a:p>
            <a:pPr marL="285750" indent="-285750">
              <a:buFont typeface="Arial" panose="020B0604020202020204" pitchFamily="34" charset="0"/>
              <a:buChar char="•"/>
            </a:pPr>
            <a:r>
              <a:rPr lang="en-US" dirty="0">
                <a:latin typeface="Helvetica" pitchFamily="2" charset="0"/>
              </a:rPr>
              <a:t>Harmony – frequencies which are multiples of a fundamental</a:t>
            </a:r>
          </a:p>
          <a:p>
            <a:pPr marL="285750" indent="-285750">
              <a:buFont typeface="Arial" panose="020B0604020202020204" pitchFamily="34" charset="0"/>
              <a:buChar char="•"/>
            </a:pPr>
            <a:endParaRPr lang="en-US" dirty="0">
              <a:effectLst/>
              <a:latin typeface="Helvetica" pitchFamily="2" charset="0"/>
            </a:endParaRPr>
          </a:p>
          <a:p>
            <a:pPr marL="285750" indent="-285750">
              <a:buFont typeface="Arial" panose="020B0604020202020204" pitchFamily="34" charset="0"/>
              <a:buChar char="•"/>
            </a:pPr>
            <a:r>
              <a:rPr lang="en-US" dirty="0">
                <a:latin typeface="Helvetica" pitchFamily="2" charset="0"/>
              </a:rPr>
              <a:t>many more</a:t>
            </a:r>
            <a:endParaRPr lang="en-US" dirty="0">
              <a:effectLst/>
              <a:latin typeface="Helvetica" pitchFamily="2" charset="0"/>
            </a:endParaRPr>
          </a:p>
          <a:p>
            <a:pPr marL="285750" indent="-285750">
              <a:buFont typeface="Arial" panose="020B0604020202020204" pitchFamily="34" charset="0"/>
              <a:buChar char="•"/>
            </a:pPr>
            <a:endParaRPr lang="en-US" i="1" dirty="0">
              <a:latin typeface="Helvetica" pitchFamily="2" charset="0"/>
            </a:endParaRPr>
          </a:p>
        </p:txBody>
      </p:sp>
    </p:spTree>
    <p:extLst>
      <p:ext uri="{BB962C8B-B14F-4D97-AF65-F5344CB8AC3E}">
        <p14:creationId xmlns:p14="http://schemas.microsoft.com/office/powerpoint/2010/main" val="1475151496"/>
      </p:ext>
    </p:extLst>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1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sz="3600">
                <a:solidFill>
                  <a:schemeClr val="tx1"/>
                </a:solidFill>
              </a:rPr>
              <a:t>End of Lesson</a:t>
            </a:r>
          </a:p>
        </p:txBody>
      </p:sp>
      <p:sp>
        <p:nvSpPr>
          <p:cNvPr id="3" name="Text Placeholder 2"/>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52478DE5-A841-204B-8937-05027A94E3CC}"/>
              </a:ext>
            </a:extLst>
          </p:cNvPr>
          <p:cNvSpPr>
            <a:spLocks noGrp="1"/>
          </p:cNvSpPr>
          <p:nvPr>
            <p:ph type="sldNum" sz="quarter" idx="12"/>
          </p:nvPr>
        </p:nvSpPr>
        <p:spPr/>
        <p:txBody>
          <a:bodyPr/>
          <a:lstStyle/>
          <a:p>
            <a:fld id="{25BA54BD-C84D-46CE-8B72-31BFB26ABA43}" type="slidenum">
              <a:rPr lang="en-US" smtClean="0"/>
              <a:t>67</a:t>
            </a:fld>
            <a:endParaRPr lang="en-US"/>
          </a:p>
        </p:txBody>
      </p:sp>
    </p:spTree>
    <p:extLst>
      <p:ext uri="{BB962C8B-B14F-4D97-AF65-F5344CB8AC3E}">
        <p14:creationId xmlns:p14="http://schemas.microsoft.com/office/powerpoint/2010/main" val="101875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halkboard 16x9">
  <a:themeElements>
    <a:clrScheme name="Chalkboard 16x9">
      <a:dk1>
        <a:srgbClr val="000000"/>
      </a:dk1>
      <a:lt1>
        <a:srgbClr val="FFFFFF"/>
      </a:lt1>
      <a:dk2>
        <a:srgbClr val="A7A7A7"/>
      </a:dk2>
      <a:lt2>
        <a:srgbClr val="535353"/>
      </a:lt2>
      <a:accent1>
        <a:srgbClr val="57BCE5"/>
      </a:accent1>
      <a:accent2>
        <a:srgbClr val="F4D968"/>
      </a:accent2>
      <a:accent3>
        <a:srgbClr val="AEBD57"/>
      </a:accent3>
      <a:accent4>
        <a:srgbClr val="DF9041"/>
      </a:accent4>
      <a:accent5>
        <a:srgbClr val="E35F5F"/>
      </a:accent5>
      <a:accent6>
        <a:srgbClr val="828BCE"/>
      </a:accent6>
      <a:hlink>
        <a:srgbClr val="0000FF"/>
      </a:hlink>
      <a:folHlink>
        <a:srgbClr val="FF00FF"/>
      </a:folHlink>
    </a:clrScheme>
    <a:fontScheme name="Chalkboard 16x9">
      <a:majorFont>
        <a:latin typeface="Helvetica"/>
        <a:ea typeface="Helvetica"/>
        <a:cs typeface="Helvetica"/>
      </a:majorFont>
      <a:minorFont>
        <a:latin typeface="Corbel"/>
        <a:ea typeface="Corbel"/>
        <a:cs typeface="Corbel"/>
      </a:minorFont>
    </a:fontScheme>
    <a:fmtScheme name="Chalkboard 16x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dirty="0" smtClean="0">
            <a:ln>
              <a:noFill/>
            </a:ln>
            <a:solidFill>
              <a:srgbClr val="000000"/>
            </a:solidFill>
            <a:effectLst/>
            <a:uFillTx/>
            <a:latin typeface="+mn-lt"/>
            <a:ea typeface="+mn-ea"/>
            <a:cs typeface="+mn-cs"/>
            <a:sym typeface="Corbel"/>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EI_4150_S2019_week6_DL" id="{734F57B3-D3EB-3343-98E7-2791BF881398}" vid="{1D101F51-2534-944E-956D-9513C91D5BBC}"/>
    </a:ext>
  </a:extLst>
</a:theme>
</file>

<file path=ppt/theme/theme2.xml><?xml version="1.0" encoding="utf-8"?>
<a:theme xmlns:a="http://schemas.openxmlformats.org/drawingml/2006/main" name="Chalkboard 16x9">
  <a:themeElements>
    <a:clrScheme name="Chalkboard 16x9">
      <a:dk1>
        <a:srgbClr val="000000"/>
      </a:dk1>
      <a:lt1>
        <a:srgbClr val="FFFFFF"/>
      </a:lt1>
      <a:dk2>
        <a:srgbClr val="A7A7A7"/>
      </a:dk2>
      <a:lt2>
        <a:srgbClr val="535353"/>
      </a:lt2>
      <a:accent1>
        <a:srgbClr val="57BCE5"/>
      </a:accent1>
      <a:accent2>
        <a:srgbClr val="F4D968"/>
      </a:accent2>
      <a:accent3>
        <a:srgbClr val="AEBD57"/>
      </a:accent3>
      <a:accent4>
        <a:srgbClr val="DF9041"/>
      </a:accent4>
      <a:accent5>
        <a:srgbClr val="E35F5F"/>
      </a:accent5>
      <a:accent6>
        <a:srgbClr val="828BCE"/>
      </a:accent6>
      <a:hlink>
        <a:srgbClr val="0000FF"/>
      </a:hlink>
      <a:folHlink>
        <a:srgbClr val="FF00FF"/>
      </a:folHlink>
    </a:clrScheme>
    <a:fontScheme name="Chalkboard 16x9">
      <a:majorFont>
        <a:latin typeface="Helvetica"/>
        <a:ea typeface="Helvetica"/>
        <a:cs typeface="Helvetica"/>
      </a:majorFont>
      <a:minorFont>
        <a:latin typeface="Corbel"/>
        <a:ea typeface="Corbel"/>
        <a:cs typeface="Corbel"/>
      </a:minorFont>
    </a:fontScheme>
    <a:fmtScheme name="Chalkboard 16x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orbe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13896</TotalTime>
  <Words>7107</Words>
  <Application>Microsoft Macintosh PowerPoint</Application>
  <PresentationFormat>Custom</PresentationFormat>
  <Paragraphs>626</Paragraphs>
  <Slides>67</Slides>
  <Notes>66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67</vt:i4>
      </vt:variant>
    </vt:vector>
  </HeadingPairs>
  <TitlesOfParts>
    <vt:vector size="77" baseType="lpstr">
      <vt:lpstr>Arial</vt:lpstr>
      <vt:lpstr>Cambria Math</vt:lpstr>
      <vt:lpstr>Consolas</vt:lpstr>
      <vt:lpstr>Corbel</vt:lpstr>
      <vt:lpstr>Google Sans</vt:lpstr>
      <vt:lpstr>Google Sans Text</vt:lpstr>
      <vt:lpstr>Helvetica</vt:lpstr>
      <vt:lpstr>Symbol</vt:lpstr>
      <vt:lpstr>Wingdings</vt:lpstr>
      <vt:lpstr>Chalkboard 16x9</vt:lpstr>
      <vt:lpstr>INFO 4000 Informatics III  Data Science Specialization - Advanced   Week6 Reinforcement Learning contd…</vt:lpstr>
      <vt:lpstr> Reinforcement learning: Discrete spaces and actions</vt:lpstr>
      <vt:lpstr>Return and Reward in RL</vt:lpstr>
      <vt:lpstr>PowerPoint Presentation</vt:lpstr>
      <vt:lpstr>PowerPoint Presentation</vt:lpstr>
      <vt:lpstr>PowerPoint Presentation</vt:lpstr>
      <vt:lpstr>PowerPoint Presentation</vt:lpstr>
      <vt:lpstr>ε – Greedy policy</vt:lpstr>
      <vt:lpstr>PowerPoint Presentation</vt:lpstr>
      <vt:lpstr>PowerPoint Presentation</vt:lpstr>
      <vt:lpstr>gymnasium: Python library Simulated environments for RL</vt:lpstr>
      <vt:lpstr>PowerPoint Presentation</vt:lpstr>
      <vt:lpstr>PowerPoint Presentation</vt:lpstr>
      <vt:lpstr>gymnasium –  Taxicab Example 2,2a for discrete space &amp; action</vt:lpstr>
      <vt:lpstr>RL for continuous spaces</vt:lpstr>
      <vt:lpstr>PowerPoint Presentation</vt:lpstr>
      <vt:lpstr>PowerPoint Presentation</vt:lpstr>
      <vt:lpstr>PowerPoint Presentation</vt:lpstr>
      <vt:lpstr>Continuous Spaces Reinforcement Learning(RL) – Deep Q-Learning or DQN</vt:lpstr>
      <vt:lpstr>PowerPoint Presentation</vt:lpstr>
      <vt:lpstr>PowerPoint Presentation</vt:lpstr>
      <vt:lpstr>PowerPoint Presentation</vt:lpstr>
      <vt:lpstr>PowerPoint Presentation</vt:lpstr>
      <vt:lpstr>PowerPoint Presentation</vt:lpstr>
      <vt:lpstr> Example 3: How to create Experience Replay buffer</vt:lpstr>
      <vt:lpstr>PowerPoint Presentation</vt:lpstr>
      <vt:lpstr>PowerPoint Presentation</vt:lpstr>
      <vt:lpstr>PowerPoint Presentation</vt:lpstr>
      <vt:lpstr> Example 4: Cartpole</vt:lpstr>
      <vt:lpstr> RL in Environments with: Continuous actions and continuous spaces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the StableBaselines3 Library:  Functionality and Applications in Reinforcement Learning</vt:lpstr>
      <vt:lpstr>Unified and Reliable RL Algorithms</vt:lpstr>
      <vt:lpstr>User-Friendly and Production-Ready</vt:lpstr>
      <vt:lpstr>Built on a Clean, Modern Stack</vt:lpstr>
      <vt:lpstr>Getting Started with StableBaselines3</vt:lpstr>
      <vt:lpstr>Model Evaluation and Visualization</vt:lpstr>
      <vt:lpstr>Let us train a “bipedal-walker” using SB3</vt:lpstr>
      <vt:lpstr>Building your own environment using gymnasium</vt:lpstr>
      <vt:lpstr>PowerPoint Presentation</vt:lpstr>
      <vt:lpstr>PowerPoint Presentation</vt:lpstr>
      <vt:lpstr>PowerPoint Presentation</vt:lpstr>
      <vt:lpstr>PowerPoint Presentation</vt:lpstr>
      <vt:lpstr>PowerPoint Presentation</vt:lpstr>
      <vt:lpstr>Let us code and build our own environment: We shall use the same old Mineral Explorer</vt:lpstr>
      <vt:lpstr> HW 2</vt:lpstr>
      <vt:lpstr>PowerPoint Presentation</vt:lpstr>
      <vt:lpstr>PowerPoint Presentation</vt:lpstr>
      <vt:lpstr>PowerPoint Presentation</vt:lpstr>
      <vt:lpstr>Introduction to Sound or Audio as Data</vt:lpstr>
      <vt:lpstr>Sound as data – how should we understand it </vt:lpstr>
      <vt:lpstr>What is audio?</vt:lpstr>
      <vt:lpstr>Brief explanation of sampling</vt:lpstr>
      <vt:lpstr>Application with audio as data</vt:lpstr>
      <vt:lpstr>Audia signal characteristics</vt:lpstr>
      <vt:lpstr> Frequency and amplitude</vt:lpstr>
      <vt:lpstr> Sound Power and Intensity</vt:lpstr>
      <vt:lpstr> Music related</vt:lpstr>
      <vt:lpstr>End of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 4150 Engineering Informatics Week 11</dc:title>
  <dc:creator>Jagannath Rao</dc:creator>
  <cp:lastModifiedBy>Haygriva J Rao</cp:lastModifiedBy>
  <cp:revision>42</cp:revision>
  <cp:lastPrinted>2025-09-21T16:58:16Z</cp:lastPrinted>
  <dcterms:modified xsi:type="dcterms:W3CDTF">2026-09-25T14:42:59Z</dcterms:modified>
</cp:coreProperties>
</file>